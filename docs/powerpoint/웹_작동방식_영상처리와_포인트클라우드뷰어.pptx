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22E6E8A-9BC2-4E3F-8474-3A6060E3187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웹 작동 방식의 개념 설계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사용자 요청대로 왼쪽에 의미 정보가 주입된 포인트클라우드 뷰어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zh-CN" sz="2000" spc="-1" strike="noStrike">
                <a:latin typeface="Arial"/>
              </a:rPr>
              <a:t>오른쪽에 업로드한 영상을 처리하는 화면을 배치한다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오른쪽 영상 업로드 및 처리</a:t>
            </a:r>
            <a:r>
              <a:rPr b="0" lang="en-US" sz="2000" spc="-1" strike="noStrike">
                <a:latin typeface="Arial"/>
              </a:rPr>
              <a:t>: </a:t>
            </a:r>
            <a:r>
              <a:rPr b="0" lang="zh-CN" sz="2000" spc="-1" strike="noStrike">
                <a:latin typeface="Arial"/>
              </a:rPr>
              <a:t>사용자가 </a:t>
            </a:r>
            <a:r>
              <a:rPr b="0" lang="en-US" sz="2000" spc="-1" strike="noStrike">
                <a:latin typeface="Arial"/>
              </a:rPr>
              <a:t>RGB </a:t>
            </a:r>
            <a:r>
              <a:rPr b="0" lang="zh-CN" sz="2000" spc="-1" strike="noStrike">
                <a:latin typeface="Arial"/>
              </a:rPr>
              <a:t>영상을 업로드하면 서버가 프레임 추출</a:t>
            </a:r>
            <a:r>
              <a:rPr b="0" lang="en-US" sz="2000" spc="-1" strike="noStrike">
                <a:latin typeface="Arial"/>
              </a:rPr>
              <a:t>, 3D </a:t>
            </a:r>
            <a:r>
              <a:rPr b="0" lang="zh-CN" sz="2000" spc="-1" strike="noStrike">
                <a:latin typeface="Arial"/>
              </a:rPr>
              <a:t>재구성</a:t>
            </a:r>
            <a:r>
              <a:rPr b="0" lang="en-US" sz="2000" spc="-1" strike="noStrike">
                <a:latin typeface="Arial"/>
              </a:rPr>
              <a:t>, segmentation, </a:t>
            </a:r>
            <a:r>
              <a:rPr b="0" lang="zh-CN" sz="2000" spc="-1" strike="noStrike">
                <a:latin typeface="Arial"/>
              </a:rPr>
              <a:t>클래스 주입을 수행한다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웹에서는 처리 진행 상태를 보여 주며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zh-CN" sz="2000" spc="-1" strike="noStrike">
                <a:latin typeface="Arial"/>
              </a:rPr>
              <a:t>완료되면 결과 파일을 저장하고 웹 뷰어에서 읽을 수 있도록 연결한다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왼쪽 웹 뷰어</a:t>
            </a:r>
            <a:r>
              <a:rPr b="0" lang="en-US" sz="2000" spc="-1" strike="noStrike">
                <a:latin typeface="Arial"/>
              </a:rPr>
              <a:t>: </a:t>
            </a:r>
            <a:r>
              <a:rPr b="0" lang="zh-CN" sz="2000" spc="-1" strike="noStrike">
                <a:latin typeface="Arial"/>
              </a:rPr>
              <a:t>클래스별로 색칠된 포인트클라우드를 회전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확대하며 탐색하고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zh-CN" sz="2000" spc="-1" strike="noStrike">
                <a:latin typeface="Arial"/>
              </a:rPr>
              <a:t>클래스별 표시 및 선택한 객체의 주입된 정보를 확인한다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객체 </a:t>
            </a:r>
            <a:r>
              <a:rPr b="0" lang="en-US" sz="2000" spc="-1" strike="noStrike">
                <a:latin typeface="Arial"/>
              </a:rPr>
              <a:t>ID</a:t>
            </a:r>
            <a:r>
              <a:rPr b="0" lang="zh-CN" sz="2000" spc="-1" strike="noStrike">
                <a:latin typeface="Arial"/>
              </a:rPr>
              <a:t>를 표시하는 구현에는 점의 클래스 외에 개별 객체를 구분하는 </a:t>
            </a:r>
            <a:r>
              <a:rPr b="0" lang="en-US" sz="2000" spc="-1" strike="noStrike">
                <a:latin typeface="Arial"/>
              </a:rPr>
              <a:t>ID </a:t>
            </a:r>
            <a:r>
              <a:rPr b="0" lang="zh-CN" sz="2000" spc="-1" strike="noStrike">
                <a:latin typeface="Arial"/>
              </a:rPr>
              <a:t>또는 그룹 정보가 필요하다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두 사각형 사이의 왼쪽 방향 화살표는 영상 처리 결과가 뷰어로 전달되는 흐름을 나타낸다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이미지는 내장 </a:t>
            </a:r>
            <a:r>
              <a:rPr b="0" lang="en-US" sz="2000" spc="-1" strike="noStrike">
                <a:latin typeface="Arial"/>
              </a:rPr>
              <a:t>image_gen</a:t>
            </a:r>
            <a:r>
              <a:rPr b="0" lang="zh-CN" sz="2000" spc="-1" strike="noStrike">
                <a:latin typeface="Arial"/>
              </a:rPr>
              <a:t>으로 생성한 </a:t>
            </a:r>
            <a:r>
              <a:rPr b="0" lang="en-US" sz="2000" spc="-1" strike="noStrike">
                <a:latin typeface="Arial"/>
              </a:rPr>
              <a:t>SpaceWatch3D </a:t>
            </a:r>
            <a:r>
              <a:rPr b="0" lang="zh-CN" sz="2000" spc="-1" strike="noStrike">
                <a:latin typeface="Arial"/>
              </a:rPr>
              <a:t>웹 </a:t>
            </a:r>
            <a:r>
              <a:rPr b="0" lang="en-US" sz="2000" spc="-1" strike="noStrike">
                <a:latin typeface="Arial"/>
              </a:rPr>
              <a:t>UI </a:t>
            </a:r>
            <a:r>
              <a:rPr b="0" lang="zh-CN" sz="2000" spc="-1" strike="noStrike">
                <a:latin typeface="Arial"/>
              </a:rPr>
              <a:t>개념 예시이며</a:t>
            </a:r>
            <a:r>
              <a:rPr b="0" lang="en-US" sz="2000" spc="-1" strike="noStrike">
                <a:latin typeface="Arial"/>
              </a:rPr>
              <a:t>, </a:t>
            </a:r>
            <a:r>
              <a:rPr b="0" lang="zh-CN" sz="2000" spc="-1" strike="noStrike">
                <a:latin typeface="Arial"/>
              </a:rPr>
              <a:t>실제 구현</a:t>
            </a:r>
            <a:r>
              <a:rPr b="0" lang="en-US" sz="2000" spc="-1" strike="noStrike">
                <a:latin typeface="Arial"/>
              </a:rPr>
              <a:t>·</a:t>
            </a:r>
            <a:r>
              <a:rPr b="0" lang="zh-CN" sz="2000" spc="-1" strike="noStrike">
                <a:latin typeface="Arial"/>
              </a:rPr>
              <a:t>배포된 서비스 또는 진행 중인 작업을 캡처한 화면이 아니다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zh-CN" sz="2000" spc="-1" strike="noStrike">
                <a:latin typeface="Arial"/>
              </a:rPr>
              <a:t>원문 프롬프트와 이미지 경로는 같은 폴더의 이미지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zh-CN" sz="2000" spc="-1" strike="noStrike">
                <a:latin typeface="Arial"/>
              </a:rPr>
              <a:t>출처와</a:t>
            </a:r>
            <a:r>
              <a:rPr b="0" lang="en-US" sz="2000" spc="-1" strike="noStrike">
                <a:latin typeface="Arial"/>
              </a:rPr>
              <a:t>_</a:t>
            </a:r>
            <a:r>
              <a:rPr b="0" lang="zh-CN" sz="2000" spc="-1" strike="noStrike">
                <a:latin typeface="Arial"/>
              </a:rPr>
              <a:t>프롬프트</a:t>
            </a:r>
            <a:r>
              <a:rPr b="0" lang="en-US" sz="2000" spc="-1" strike="noStrike">
                <a:latin typeface="Arial"/>
              </a:rPr>
              <a:t>.md </a:t>
            </a:r>
            <a:r>
              <a:rPr b="0" lang="zh-CN" sz="2000" spc="-1" strike="noStrike">
                <a:latin typeface="Arial"/>
              </a:rPr>
              <a:t>에 기록했다</a:t>
            </a:r>
            <a:r>
              <a:rPr b="0" lang="en-US" sz="2000" spc="-1" strike="noStrike">
                <a:latin typeface="Arial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_title"/>
          <p:cNvSpPr/>
          <p:nvPr/>
        </p:nvSpPr>
        <p:spPr>
          <a:xfrm>
            <a:off x="514440" y="438120"/>
            <a:ext cx="1714464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405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웹 작동 방식</a:t>
            </a:r>
            <a:r>
              <a:rPr b="1" lang="en-US" sz="405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: </a:t>
            </a:r>
            <a:r>
              <a:rPr b="1" lang="zh-CN" sz="4050" spc="-1" strike="noStrike">
                <a:solidFill>
                  <a:srgbClr val="172f40"/>
                </a:solidFill>
                <a:latin typeface="Noto Sans CJK KR"/>
                <a:ea typeface="Noto Sans CJK KR"/>
              </a:rPr>
              <a:t>영상 처리와 포인트클라우드 뷰어</a:t>
            </a:r>
            <a:endParaRPr b="0" lang="en-US" sz="4050" spc="-1" strike="noStrike">
              <a:latin typeface="Arial"/>
            </a:endParaRPr>
          </a:p>
        </p:txBody>
      </p:sp>
      <p:sp>
        <p:nvSpPr>
          <p:cNvPr id="45" name="web_viewer_panel"/>
          <p:cNvSpPr/>
          <p:nvPr/>
        </p:nvSpPr>
        <p:spPr>
          <a:xfrm>
            <a:off x="514440" y="2038320"/>
            <a:ext cx="8248320" cy="7162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8a8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video_processing_panel"/>
          <p:cNvSpPr/>
          <p:nvPr/>
        </p:nvSpPr>
        <p:spPr>
          <a:xfrm>
            <a:off x="9429840" y="2038320"/>
            <a:ext cx="8248320" cy="7162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76b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viewer_heading"/>
          <p:cNvSpPr/>
          <p:nvPr/>
        </p:nvSpPr>
        <p:spPr>
          <a:xfrm>
            <a:off x="819000" y="2238480"/>
            <a:ext cx="76006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930" spc="-1" strike="noStrike">
                <a:solidFill>
                  <a:srgbClr val="138a87"/>
                </a:solidFill>
                <a:latin typeface="Noto Sans CJK KR"/>
                <a:ea typeface="Noto Sans CJK KR"/>
              </a:rPr>
              <a:t>포인트클라우드 웹 뷰어</a:t>
            </a:r>
            <a:endParaRPr b="0" lang="en-US" sz="2930" spc="-1" strike="noStrike">
              <a:latin typeface="Arial"/>
            </a:endParaRPr>
          </a:p>
        </p:txBody>
      </p:sp>
      <p:sp>
        <p:nvSpPr>
          <p:cNvPr id="48" name="viewer_subtitle"/>
          <p:cNvSpPr/>
          <p:nvPr/>
        </p:nvSpPr>
        <p:spPr>
          <a:xfrm>
            <a:off x="819000" y="2828880"/>
            <a:ext cx="76006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21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의미 정보가 주입된 </a:t>
            </a:r>
            <a:r>
              <a:rPr b="0" lang="en-US" sz="21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3D </a:t>
            </a:r>
            <a:r>
              <a:rPr b="0" lang="zh-CN" sz="21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맵 탐색</a:t>
            </a:r>
            <a:endParaRPr b="0" lang="en-US" sz="2170" spc="-1" strike="noStrike">
              <a:latin typeface="Arial"/>
            </a:endParaRPr>
          </a:p>
        </p:txBody>
      </p:sp>
      <p:sp>
        <p:nvSpPr>
          <p:cNvPr id="49" name="processing_heading"/>
          <p:cNvSpPr/>
          <p:nvPr/>
        </p:nvSpPr>
        <p:spPr>
          <a:xfrm>
            <a:off x="9734400" y="2238480"/>
            <a:ext cx="763884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930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영상 업로드 및 처리</a:t>
            </a:r>
            <a:endParaRPr b="0" lang="en-US" sz="2930" spc="-1" strike="noStrike">
              <a:latin typeface="Arial"/>
            </a:endParaRPr>
          </a:p>
        </p:txBody>
      </p:sp>
      <p:sp>
        <p:nvSpPr>
          <p:cNvPr id="50" name="processing_subtitle"/>
          <p:cNvSpPr/>
          <p:nvPr/>
        </p:nvSpPr>
        <p:spPr>
          <a:xfrm>
            <a:off x="9734400" y="2828880"/>
            <a:ext cx="76388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1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RGB </a:t>
            </a:r>
            <a:r>
              <a:rPr b="0" lang="zh-CN" sz="217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영상 업로드와 처리 진행 상태 확인</a:t>
            </a:r>
            <a:endParaRPr b="0" lang="en-US" sz="2170" spc="-1" strike="noStrike"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968760" y="3352680"/>
            <a:ext cx="7339680" cy="4590720"/>
          </a:xfrm>
          <a:prstGeom prst="rect">
            <a:avLst/>
          </a:prstGeom>
          <a:ln w="0">
            <a:noFill/>
          </a:ln>
        </p:spPr>
      </p:pic>
      <p:sp>
        <p:nvSpPr>
          <p:cNvPr id="52" name="viewer_explanation"/>
          <p:cNvSpPr/>
          <p:nvPr/>
        </p:nvSpPr>
        <p:spPr>
          <a:xfrm>
            <a:off x="819000" y="8143920"/>
            <a:ext cx="760068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3D </a:t>
            </a:r>
            <a:r>
              <a:rPr b="0" lang="zh-CN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맵을 회전</a:t>
            </a:r>
            <a:r>
              <a:rPr b="0" lang="en-US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·</a:t>
            </a:r>
            <a:r>
              <a:rPr b="0" lang="zh-CN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확대하고 클래스별로 표시</a:t>
            </a:r>
            <a:endParaRPr b="0" lang="en-US" sz="2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객체를 선택해 주입된 정보 확인</a:t>
            </a:r>
            <a:endParaRPr b="0" lang="en-US" sz="2320" spc="-1" strike="noStrike">
              <a:latin typeface="Arial"/>
            </a:endParaRPr>
          </a:p>
        </p:txBody>
      </p:sp>
      <p:sp>
        <p:nvSpPr>
          <p:cNvPr id="53" name="processing_explanation"/>
          <p:cNvSpPr/>
          <p:nvPr/>
        </p:nvSpPr>
        <p:spPr>
          <a:xfrm>
            <a:off x="9734400" y="8143920"/>
            <a:ext cx="763884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zh-CN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서버에서 영상을 처리해 시맨틱 맵 생성</a:t>
            </a:r>
            <a:endParaRPr b="0" lang="en-US" sz="23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2320" spc="-1" strike="noStrike">
                <a:solidFill>
                  <a:srgbClr val="42566b"/>
                </a:solidFill>
                <a:latin typeface="Noto Sans CJK KR"/>
                <a:ea typeface="Noto Sans CJK KR"/>
              </a:rPr>
              <a:t>완료된 결과를 웹 뷰어에 반영</a:t>
            </a:r>
            <a:endParaRPr b="0" lang="en-US" sz="2320" spc="-1" strike="noStrike"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8762400" y="6629040"/>
            <a:ext cx="666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376ba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result_link"/>
          <p:cNvSpPr/>
          <p:nvPr/>
        </p:nvSpPr>
        <p:spPr>
          <a:xfrm>
            <a:off x="8762760" y="4114800"/>
            <a:ext cx="6091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729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업로드</a:t>
            </a:r>
            <a:endParaRPr b="0" lang="en-US" sz="1729" spc="-1" strike="noStrike"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2"/>
          <a:srcRect l="0" t="11760" r="-2544" b="0"/>
          <a:stretch/>
        </p:blipFill>
        <p:spPr>
          <a:xfrm>
            <a:off x="9829800" y="3886200"/>
            <a:ext cx="7543440" cy="3429000"/>
          </a:xfrm>
          <a:prstGeom prst="rect">
            <a:avLst/>
          </a:prstGeom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8762400" y="4571280"/>
            <a:ext cx="66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a93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result_link 1"/>
          <p:cNvSpPr/>
          <p:nvPr/>
        </p:nvSpPr>
        <p:spPr>
          <a:xfrm>
            <a:off x="8820720" y="6172200"/>
            <a:ext cx="6091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zh-CN" sz="1729" spc="-1" strike="noStrike">
                <a:solidFill>
                  <a:srgbClr val="376ba6"/>
                </a:solidFill>
                <a:latin typeface="Noto Sans CJK KR"/>
                <a:ea typeface="Noto Sans CJK KR"/>
              </a:rPr>
              <a:t>결과</a:t>
            </a:r>
            <a:endParaRPr b="0" lang="en-US" sz="172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2026-09-18T10:11:29Z</dcterms:created>
  <dc:creator>Walnut Exporter</dc:creator>
  <dc:description/>
  <dc:language>en-US</dc:language>
  <cp:lastModifiedBy/>
  <dcterms:modified xsi:type="dcterms:W3CDTF">2026-09-18T19:21:42Z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