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081BF1D-8BA5-46F4-A0D4-A71E64D4299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SpaceWatch3D </a:t>
            </a:r>
            <a:r>
              <a:rPr b="0" lang="zh-CN" sz="2000" spc="-1" strike="noStrike">
                <a:latin typeface="Arial"/>
              </a:rPr>
              <a:t>계획 파이프라인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입력 </a:t>
            </a:r>
            <a:r>
              <a:rPr b="0" lang="en-US" sz="2000" spc="-1" strike="noStrike">
                <a:latin typeface="Arial"/>
              </a:rPr>
              <a:t>1-a</a:t>
            </a:r>
            <a:r>
              <a:rPr b="0" lang="zh-CN" sz="2000" spc="-1" strike="noStrike">
                <a:latin typeface="Arial"/>
              </a:rPr>
              <a:t>와 </a:t>
            </a:r>
            <a:r>
              <a:rPr b="0" lang="en-US" sz="2000" spc="-1" strike="noStrike">
                <a:latin typeface="Arial"/>
              </a:rPr>
              <a:t>1-b</a:t>
            </a:r>
            <a:r>
              <a:rPr b="0" lang="zh-CN" sz="2000" spc="-1" strike="noStrike">
                <a:latin typeface="Arial"/>
              </a:rPr>
              <a:t>는 대안이며 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단계에서 합쳐진다</a:t>
            </a:r>
            <a:r>
              <a:rPr b="0" lang="en-US" sz="2000" spc="-1" strike="noStrike">
                <a:latin typeface="Arial"/>
              </a:rPr>
              <a:t>. 4</a:t>
            </a:r>
            <a:r>
              <a:rPr b="0" lang="zh-CN" sz="2000" spc="-1" strike="noStrike">
                <a:latin typeface="Arial"/>
              </a:rPr>
              <a:t>단계의 객체별 모델과 메타데이터를 바탕으로 </a:t>
            </a:r>
            <a:r>
              <a:rPr b="0" lang="en-US" sz="2000" spc="-1" strike="noStrike">
                <a:latin typeface="Arial"/>
              </a:rPr>
              <a:t>5-a</a:t>
            </a:r>
            <a:r>
              <a:rPr b="0" lang="zh-CN" sz="2000" spc="-1" strike="noStrike">
                <a:latin typeface="Arial"/>
              </a:rPr>
              <a:t>와 </a:t>
            </a:r>
            <a:r>
              <a:rPr b="0" lang="en-US" sz="2000" spc="-1" strike="noStrike">
                <a:latin typeface="Arial"/>
              </a:rPr>
              <a:t>5-b</a:t>
            </a:r>
            <a:r>
              <a:rPr b="0" lang="zh-CN" sz="2000" spc="-1" strike="noStrike">
                <a:latin typeface="Arial"/>
              </a:rPr>
              <a:t>를 독립적으로 수행한다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전체 기능 구현 완료를 주장하는 슬라이드가 아니다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표기</a:t>
            </a:r>
            <a:r>
              <a:rPr b="0" lang="en-US" sz="2000" spc="-1" strike="noStrike">
                <a:latin typeface="Arial"/>
              </a:rPr>
              <a:t>: </a:t>
            </a:r>
            <a:r>
              <a:rPr b="0" lang="zh-CN" sz="2000" spc="-1" strike="noStrike">
                <a:latin typeface="Arial"/>
              </a:rPr>
              <a:t>사용자 입력 </a:t>
            </a:r>
            <a:r>
              <a:rPr b="0" lang="en-US" sz="2000" spc="-1" strike="noStrike">
                <a:latin typeface="Arial"/>
              </a:rPr>
              <a:t>Longbot-map</a:t>
            </a:r>
            <a:r>
              <a:rPr b="0" lang="zh-CN" sz="2000" spc="-1" strike="noStrike">
                <a:latin typeface="Arial"/>
              </a:rPr>
              <a:t>은 </a:t>
            </a:r>
            <a:r>
              <a:rPr b="0" lang="en-US" sz="2000" spc="-1" strike="noStrike">
                <a:latin typeface="Arial"/>
              </a:rPr>
              <a:t>LingBot-Map, cloud point</a:t>
            </a:r>
            <a:r>
              <a:rPr b="0" lang="zh-CN" sz="2000" spc="-1" strike="noStrike">
                <a:latin typeface="Arial"/>
              </a:rPr>
              <a:t>는 </a:t>
            </a:r>
            <a:r>
              <a:rPr b="0" lang="en-US" sz="2000" spc="-1" strike="noStrike">
                <a:latin typeface="Arial"/>
              </a:rPr>
              <a:t>point cloud(</a:t>
            </a:r>
            <a:r>
              <a:rPr b="0" lang="zh-CN" sz="2000" spc="-1" strike="noStrike">
                <a:latin typeface="Arial"/>
              </a:rPr>
              <a:t>포인트클라우드</a:t>
            </a:r>
            <a:r>
              <a:rPr b="0" lang="en-US" sz="2000" spc="-1" strike="noStrike">
                <a:latin typeface="Arial"/>
              </a:rPr>
              <a:t>), glob</a:t>
            </a:r>
            <a:r>
              <a:rPr b="0" lang="zh-CN" sz="2000" spc="-1" strike="noStrike">
                <a:latin typeface="Arial"/>
              </a:rPr>
              <a:t>는 </a:t>
            </a:r>
            <a:r>
              <a:rPr b="0" lang="en-US" sz="2000" spc="-1" strike="noStrike">
                <a:latin typeface="Arial"/>
              </a:rPr>
              <a:t>GLB</a:t>
            </a:r>
            <a:r>
              <a:rPr b="0" lang="zh-CN" sz="2000" spc="-1" strike="noStrike">
                <a:latin typeface="Arial"/>
              </a:rPr>
              <a:t>로 정리했다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1-b: 360</a:t>
            </a:r>
            <a:r>
              <a:rPr b="0" lang="zh-CN" sz="2000" spc="-1" strike="noStrike">
                <a:latin typeface="Arial"/>
              </a:rPr>
              <a:t>도 </a:t>
            </a:r>
            <a:r>
              <a:rPr b="0" lang="en-US" sz="2000" spc="-1" strike="noStrike">
                <a:latin typeface="Arial"/>
              </a:rPr>
              <a:t>equirectangular </a:t>
            </a:r>
            <a:r>
              <a:rPr b="0" lang="zh-CN" sz="2000" spc="-1" strike="noStrike">
                <a:latin typeface="Arial"/>
              </a:rPr>
              <a:t>프레임을 여러 방향의 일반 시야각 이미지로 변환해 복원 입력으로 사용하는 계획이다</a:t>
            </a:r>
            <a:r>
              <a:rPr b="0" lang="en-US" sz="2000" spc="-1" strike="noStrike">
                <a:latin typeface="Arial"/>
              </a:rPr>
              <a:t>. LingBot-Map</a:t>
            </a:r>
            <a:r>
              <a:rPr b="0" lang="zh-CN" sz="2000" spc="-1" strike="noStrike">
                <a:latin typeface="Arial"/>
              </a:rPr>
              <a:t>의 파노라마 직접 지원을 의미하지 않는다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2–3: </a:t>
            </a:r>
            <a:r>
              <a:rPr b="0" lang="zh-CN" sz="2000" spc="-1" strike="noStrike">
                <a:latin typeface="Arial"/>
              </a:rPr>
              <a:t>기존 </a:t>
            </a:r>
            <a:r>
              <a:rPr b="0" lang="en-US" sz="2000" spc="-1" strike="noStrike">
                <a:latin typeface="Arial"/>
              </a:rPr>
              <a:t>Seesangen </a:t>
            </a:r>
            <a:r>
              <a:rPr b="0" lang="zh-CN" sz="2000" spc="-1" strike="noStrike">
                <a:latin typeface="Arial"/>
              </a:rPr>
              <a:t>실험 보고서 </a:t>
            </a:r>
            <a:r>
              <a:rPr b="0" lang="en-US" sz="2000" spc="-1" strike="noStrike">
                <a:latin typeface="Arial"/>
              </a:rPr>
              <a:t>comparison_views.png</a:t>
            </a:r>
            <a:r>
              <a:rPr b="0" lang="zh-CN" sz="2000" spc="-1" strike="noStrike">
                <a:latin typeface="Arial"/>
              </a:rPr>
              <a:t>의 첫 행에서 </a:t>
            </a:r>
            <a:r>
              <a:rPr b="0" lang="en-US" sz="2000" spc="-1" strike="noStrike">
                <a:latin typeface="Arial"/>
              </a:rPr>
              <a:t>Source RGB</a:t>
            </a:r>
            <a:r>
              <a:rPr b="0" lang="zh-CN" sz="2000" spc="-1" strike="noStrike">
                <a:latin typeface="Arial"/>
              </a:rPr>
              <a:t>와 </a:t>
            </a:r>
            <a:r>
              <a:rPr b="0" lang="en-US" sz="2000" spc="-1" strike="noStrike">
                <a:latin typeface="Arial"/>
              </a:rPr>
              <a:t>SpaCeFormer </a:t>
            </a:r>
            <a:r>
              <a:rPr b="0" lang="zh-CN" sz="2000" spc="-1" strike="noStrike">
                <a:latin typeface="Arial"/>
              </a:rPr>
              <a:t>열을 각각 슬라이드 이미지 크롭으로 표시했다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원본 점군은 공개 </a:t>
            </a:r>
            <a:r>
              <a:rPr b="0" lang="en-US" sz="2000" spc="-1" strike="noStrike">
                <a:latin typeface="Arial"/>
              </a:rPr>
              <a:t>LingBot-Map viewer</a:t>
            </a:r>
            <a:r>
              <a:rPr b="0" lang="zh-CN" sz="2000" spc="-1" strike="noStrike">
                <a:latin typeface="Arial"/>
              </a:rPr>
              <a:t>에서 추출했다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분할 입력은 점군이며 </a:t>
            </a:r>
            <a:r>
              <a:rPr b="0" lang="en-US" sz="2000" spc="-1" strike="noStrike">
                <a:latin typeface="Arial"/>
              </a:rPr>
              <a:t>2D </a:t>
            </a:r>
            <a:r>
              <a:rPr b="0" lang="zh-CN" sz="2000" spc="-1" strike="noStrike">
                <a:latin typeface="Arial"/>
              </a:rPr>
              <a:t>영상 마스크 투영은 주 파이프라인에 포함하지 않는다</a:t>
            </a:r>
            <a:r>
              <a:rPr b="0" lang="en-US" sz="2000" spc="-1" strike="noStrike">
                <a:latin typeface="Arial"/>
              </a:rPr>
              <a:t>. SpaCeFormer</a:t>
            </a:r>
            <a:r>
              <a:rPr b="0" lang="zh-CN" sz="2000" spc="-1" strike="noStrike">
                <a:latin typeface="Arial"/>
              </a:rPr>
              <a:t>는 실행 사례 이미지이며 최종 모델 선정 확정을 뜻하지 않는다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색은 예측 영역 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이고 과분할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오분류가 남아 있다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기존 실험 보고서</a:t>
            </a:r>
            <a:r>
              <a:rPr b="0" lang="en-US" sz="2000" spc="-1" strike="noStrike">
                <a:latin typeface="Arial"/>
              </a:rPr>
              <a:t>: /home/kdj/Documents/ChatGPT/capstone design/output/seesangen_segmentation/README.md . </a:t>
            </a:r>
            <a:r>
              <a:rPr b="0" lang="zh-CN" sz="2000" spc="-1" strike="noStrike">
                <a:latin typeface="Arial"/>
              </a:rPr>
              <a:t>원본 이미지</a:t>
            </a:r>
            <a:r>
              <a:rPr b="0" lang="en-US" sz="2000" spc="-1" strike="noStrike">
                <a:latin typeface="Arial"/>
              </a:rPr>
              <a:t>: output/seesangen_segmentation/comparison_views.png . </a:t>
            </a:r>
            <a:r>
              <a:rPr b="0" lang="zh-CN" sz="2000" spc="-1" strike="noStrike">
                <a:latin typeface="Arial"/>
              </a:rPr>
              <a:t>원본 데이터 출처</a:t>
            </a:r>
            <a:r>
              <a:rPr b="0" lang="en-US" sz="2000" spc="-1" strike="noStrike">
                <a:latin typeface="Arial"/>
              </a:rPr>
              <a:t>: https://mikatammi.github.io/infurer-lingbot-map-demos/seesangen-inside.html . </a:t>
            </a:r>
            <a:r>
              <a:rPr b="0" lang="zh-CN" sz="2000" spc="-1" strike="noStrike">
                <a:latin typeface="Arial"/>
              </a:rPr>
              <a:t>기록된 데이터 </a:t>
            </a:r>
            <a:r>
              <a:rPr b="0" lang="en-US" sz="2000" spc="-1" strike="noStrike">
                <a:latin typeface="Arial"/>
              </a:rPr>
              <a:t>revision: https://github.com/mikatammi/infurer-lingbot-map-demos/tree/31c99e60298b1dfdea4a50ef3dc46c5b7efd8383 . </a:t>
            </a:r>
            <a:r>
              <a:rPr b="0" lang="zh-CN" sz="2000" spc="-1" strike="noStrike">
                <a:latin typeface="Arial"/>
              </a:rPr>
              <a:t>모델 실행 설명</a:t>
            </a:r>
            <a:r>
              <a:rPr b="0" lang="en-US" sz="2000" spc="-1" strike="noStrike">
                <a:latin typeface="Arial"/>
              </a:rPr>
              <a:t>: output/seesangen_segmentation/spaceformer/README.md 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1-a: </a:t>
            </a:r>
            <a:r>
              <a:rPr b="0" lang="zh-CN" sz="2000" spc="-1" strike="noStrike">
                <a:latin typeface="Arial"/>
              </a:rPr>
              <a:t>기존 슬라이드의 </a:t>
            </a:r>
            <a:r>
              <a:rPr b="0" lang="en-US" sz="2000" spc="-1" strike="noStrike">
                <a:latin typeface="Arial"/>
              </a:rPr>
              <a:t>01_input_rgb.png, TUM RGB-D freiburg1_xyz</a:t>
            </a:r>
            <a:r>
              <a:rPr b="0" lang="zh-CN" sz="2000" spc="-1" strike="noStrike">
                <a:latin typeface="Arial"/>
              </a:rPr>
              <a:t>의 실제 </a:t>
            </a:r>
            <a:r>
              <a:rPr b="0" lang="en-US" sz="2000" spc="-1" strike="noStrike">
                <a:latin typeface="Arial"/>
              </a:rPr>
              <a:t>RGB </a:t>
            </a:r>
            <a:r>
              <a:rPr b="0" lang="zh-CN" sz="2000" spc="-1" strike="noStrike">
                <a:latin typeface="Arial"/>
              </a:rPr>
              <a:t>영상 프레임</a:t>
            </a:r>
            <a:r>
              <a:rPr b="0" lang="en-US" sz="2000" spc="-1" strike="noStrike">
                <a:latin typeface="Arial"/>
              </a:rPr>
              <a:t>. https://cvg.cit.tum.de/data/datasets/rgbd-dataset/download . RGB </a:t>
            </a:r>
            <a:r>
              <a:rPr b="0" lang="zh-CN" sz="2000" spc="-1" strike="noStrike">
                <a:latin typeface="Arial"/>
              </a:rPr>
              <a:t>영상</a:t>
            </a:r>
            <a:r>
              <a:rPr b="0" lang="en-US" sz="2000" spc="-1" strike="noStrike">
                <a:latin typeface="Arial"/>
              </a:rPr>
              <a:t>: https://cvg.cit.tum.de/rgbd/dataset/freiburg1/rgbd_dataset_freiburg1_xyz-rgb.avi 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4: </a:t>
            </a:r>
            <a:r>
              <a:rPr b="0" lang="zh-CN" sz="2000" spc="-1" strike="noStrike">
                <a:latin typeface="Arial"/>
              </a:rPr>
              <a:t>개별 객체의 관측 점에서 표면 메시를 생성한 뒤 </a:t>
            </a:r>
            <a:r>
              <a:rPr b="0" lang="en-US" sz="2000" spc="-1" strike="noStrike">
                <a:latin typeface="Arial"/>
              </a:rPr>
              <a:t>GLB </a:t>
            </a:r>
            <a:r>
              <a:rPr b="0" lang="zh-CN" sz="2000" spc="-1" strike="noStrike">
                <a:latin typeface="Arial"/>
              </a:rPr>
              <a:t>또는 </a:t>
            </a:r>
            <a:r>
              <a:rPr b="0" lang="en-US" sz="2000" spc="-1" strike="noStrike">
                <a:latin typeface="Arial"/>
              </a:rPr>
              <a:t>OBJ</a:t>
            </a:r>
            <a:r>
              <a:rPr b="0" lang="zh-CN" sz="2000" spc="-1" strike="noStrike">
                <a:latin typeface="Arial"/>
              </a:rPr>
              <a:t>로 저장한다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이름 분류는 선택 모델이 제공하면 연결하고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zh-CN" sz="2000" spc="-1" strike="noStrike">
                <a:latin typeface="Arial"/>
              </a:rPr>
              <a:t>제공하지 않으면 후속 분류가 필요하다</a:t>
            </a:r>
            <a:r>
              <a:rPr b="0" lang="en-US" sz="2000" spc="-1" strike="noStrike">
                <a:latin typeface="Arial"/>
              </a:rPr>
              <a:t>. GLB</a:t>
            </a:r>
            <a:r>
              <a:rPr b="0" lang="zh-CN" sz="2000" spc="-1" strike="noStrike">
                <a:latin typeface="Arial"/>
              </a:rPr>
              <a:t>는 텍스처를 포함할 수 있고 </a:t>
            </a:r>
            <a:r>
              <a:rPr b="0" lang="en-US" sz="2000" spc="-1" strike="noStrike">
                <a:latin typeface="Arial"/>
              </a:rPr>
              <a:t>OBJ</a:t>
            </a:r>
            <a:r>
              <a:rPr b="0" lang="zh-CN" sz="2000" spc="-1" strike="noStrike">
                <a:latin typeface="Arial"/>
              </a:rPr>
              <a:t>의 텍스처는 </a:t>
            </a:r>
            <a:r>
              <a:rPr b="0" lang="en-US" sz="2000" spc="-1" strike="noStrike">
                <a:latin typeface="Arial"/>
              </a:rPr>
              <a:t>MTL·</a:t>
            </a:r>
            <a:r>
              <a:rPr b="0" lang="zh-CN" sz="2000" spc="-1" strike="noStrike">
                <a:latin typeface="Arial"/>
              </a:rPr>
              <a:t>이미지와 함께 관리한다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그림은 새로 생성한 객체 메시 개념 예시이며 실제 실험 파일의 렌더링이 아니다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5-a: </a:t>
            </a:r>
            <a:r>
              <a:rPr b="0" lang="zh-CN" sz="2000" spc="-1" strike="noStrike">
                <a:latin typeface="Arial"/>
              </a:rPr>
              <a:t>서로 다른 촬영 회차의 좌표계를 정합한 뒤 객체 형상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위치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존재 여부를 비교한다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가림 또는 관측 누락을 소실과 구분해야 한다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그림은 이번 수정에서 내장 </a:t>
            </a:r>
            <a:r>
              <a:rPr b="0" lang="en-US" sz="2000" spc="-1" strike="noStrike">
                <a:latin typeface="Arial"/>
              </a:rPr>
              <a:t>image_gen</a:t>
            </a:r>
            <a:r>
              <a:rPr b="0" lang="zh-CN" sz="2000" spc="-1" strike="noStrike">
                <a:latin typeface="Arial"/>
              </a:rPr>
              <a:t>으로 새로 생성한 개념 예시다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같은 장면에서 의자 이동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화분 소실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상자 추가를 보여준다</a:t>
            </a:r>
            <a:r>
              <a:rPr b="0" lang="en-US" sz="2000" spc="-1" strike="noStrike">
                <a:latin typeface="Arial"/>
              </a:rPr>
              <a:t>. assets/change_detection_generated_v2.png 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5-b: </a:t>
            </a:r>
            <a:r>
              <a:rPr b="0" lang="zh-CN" sz="2000" spc="-1" strike="noStrike">
                <a:latin typeface="Arial"/>
              </a:rPr>
              <a:t>객체 파일만으로 원본 영상 프레임을 복구할 수 없으므로 객체와 원본 </a:t>
            </a:r>
            <a:r>
              <a:rPr b="0" lang="en-US" sz="2000" spc="-1" strike="noStrike">
                <a:latin typeface="Arial"/>
              </a:rPr>
              <a:t>RGB </a:t>
            </a:r>
            <a:r>
              <a:rPr b="0" lang="zh-CN" sz="2000" spc="-1" strike="noStrike">
                <a:latin typeface="Arial"/>
              </a:rPr>
              <a:t>프레임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카메라 자세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시각의 대응 정보를 함께 보존한다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객체의 가시성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커버리지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선명도를 기준으로 대표 원본 프레임을 선택하는 계획이다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이미지는 이번 수정에서 내장 </a:t>
            </a:r>
            <a:r>
              <a:rPr b="0" lang="en-US" sz="2000" spc="-1" strike="noStrike">
                <a:latin typeface="Arial"/>
              </a:rPr>
              <a:t>image_gen</a:t>
            </a:r>
            <a:r>
              <a:rPr b="0" lang="zh-CN" sz="2000" spc="-1" strike="noStrike">
                <a:latin typeface="Arial"/>
              </a:rPr>
              <a:t>으로 새로 생성했다</a:t>
            </a:r>
            <a:r>
              <a:rPr b="0" lang="en-US" sz="2000" spc="-1" strike="noStrike">
                <a:latin typeface="Arial"/>
              </a:rPr>
              <a:t>. 3D </a:t>
            </a:r>
            <a:r>
              <a:rPr b="0" lang="zh-CN" sz="2000" spc="-1" strike="noStrike">
                <a:latin typeface="Arial"/>
              </a:rPr>
              <a:t>의자 모델에 대응하는 여러 원본 영상 후보 중 대표 프레임을 선택하는 개념 예시이며 실제 자동 추출 결과는 아니다</a:t>
            </a:r>
            <a:r>
              <a:rPr b="0" lang="en-US" sz="2000" spc="-1" strike="noStrike">
                <a:latin typeface="Arial"/>
              </a:rPr>
              <a:t>. assets/keyframe_generated_v2.png 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1-b·4</a:t>
            </a:r>
            <a:r>
              <a:rPr b="0" lang="zh-CN" sz="2000" spc="-1" strike="noStrike">
                <a:latin typeface="Arial"/>
              </a:rPr>
              <a:t>는 최초 제작 시</a:t>
            </a:r>
            <a:r>
              <a:rPr b="0" lang="en-US" sz="2000" spc="-1" strike="noStrike">
                <a:latin typeface="Arial"/>
              </a:rPr>
              <a:t>, 5-a·5-b</a:t>
            </a:r>
            <a:r>
              <a:rPr b="0" lang="zh-CN" sz="2000" spc="-1" strike="noStrike">
                <a:latin typeface="Arial"/>
              </a:rPr>
              <a:t>는 이번 수정 시 내장 </a:t>
            </a:r>
            <a:r>
              <a:rPr b="0" lang="en-US" sz="2000" spc="-1" strike="noStrike">
                <a:latin typeface="Arial"/>
              </a:rPr>
              <a:t>image_gen</a:t>
            </a:r>
            <a:r>
              <a:rPr b="0" lang="zh-CN" sz="2000" spc="-1" strike="noStrike">
                <a:latin typeface="Arial"/>
              </a:rPr>
              <a:t>으로 생성했다</a:t>
            </a:r>
            <a:r>
              <a:rPr b="0" lang="en-US" sz="2000" spc="-1" strike="noStrike">
                <a:latin typeface="Arial"/>
              </a:rPr>
              <a:t>. 5-a·5-b</a:t>
            </a:r>
            <a:r>
              <a:rPr b="0" lang="zh-CN" sz="2000" spc="-1" strike="noStrike">
                <a:latin typeface="Arial"/>
              </a:rPr>
              <a:t>의 새 이미지 및 생성 프롬프트는 같은 출력 폴더의 이미지</a:t>
            </a:r>
            <a:r>
              <a:rPr b="0" lang="en-US" sz="2000" spc="-1" strike="noStrike">
                <a:latin typeface="Arial"/>
              </a:rPr>
              <a:t>_</a:t>
            </a:r>
            <a:r>
              <a:rPr b="0" lang="zh-CN" sz="2000" spc="-1" strike="noStrike">
                <a:latin typeface="Arial"/>
              </a:rPr>
              <a:t>출처와</a:t>
            </a:r>
            <a:r>
              <a:rPr b="0" lang="en-US" sz="2000" spc="-1" strike="noStrike">
                <a:latin typeface="Arial"/>
              </a:rPr>
              <a:t>_</a:t>
            </a:r>
            <a:r>
              <a:rPr b="0" lang="zh-CN" sz="2000" spc="-1" strike="noStrike">
                <a:latin typeface="Arial"/>
              </a:rPr>
              <a:t>프롬프트</a:t>
            </a:r>
            <a:r>
              <a:rPr b="0" lang="en-US" sz="2000" spc="-1" strike="noStrike">
                <a:latin typeface="Arial"/>
              </a:rPr>
              <a:t>_v2.md</a:t>
            </a:r>
            <a:r>
              <a:rPr b="0" lang="zh-CN" sz="2000" spc="-1" strike="noStrike">
                <a:latin typeface="Arial"/>
              </a:rPr>
              <a:t>에 기록한다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다른 단계의 출처는 기존 이미지</a:t>
            </a:r>
            <a:r>
              <a:rPr b="0" lang="en-US" sz="2000" spc="-1" strike="noStrike">
                <a:latin typeface="Arial"/>
              </a:rPr>
              <a:t>_</a:t>
            </a:r>
            <a:r>
              <a:rPr b="0" lang="zh-CN" sz="2000" spc="-1" strike="noStrike">
                <a:latin typeface="Arial"/>
              </a:rPr>
              <a:t>출처와</a:t>
            </a:r>
            <a:r>
              <a:rPr b="0" lang="en-US" sz="2000" spc="-1" strike="noStrike">
                <a:latin typeface="Arial"/>
              </a:rPr>
              <a:t>_</a:t>
            </a:r>
            <a:r>
              <a:rPr b="0" lang="zh-CN" sz="2000" spc="-1" strike="noStrike">
                <a:latin typeface="Arial"/>
              </a:rPr>
              <a:t>프롬프트</a:t>
            </a:r>
            <a:r>
              <a:rPr b="0" lang="en-US" sz="2000" spc="-1" strike="noStrike">
                <a:latin typeface="Arial"/>
              </a:rPr>
              <a:t>.md</a:t>
            </a:r>
            <a:r>
              <a:rPr b="0" lang="zh-CN" sz="2000" spc="-1" strike="noStrike">
                <a:latin typeface="Arial"/>
              </a:rPr>
              <a:t>를 참조한다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480" cy="796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_title"/>
          <p:cNvSpPr/>
          <p:nvPr/>
        </p:nvSpPr>
        <p:spPr>
          <a:xfrm>
            <a:off x="476280" y="409680"/>
            <a:ext cx="1733472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3900" spc="-1" strike="noStrike">
                <a:solidFill>
                  <a:srgbClr val="172f40"/>
                </a:solidFill>
                <a:latin typeface="Noto Sans CJK KR"/>
                <a:ea typeface="Noto Sans CJK KR"/>
              </a:rPr>
              <a:t>영상 기반 객체별 </a:t>
            </a:r>
            <a:r>
              <a:rPr b="1" lang="en-US" sz="3900" spc="-1" strike="noStrike">
                <a:solidFill>
                  <a:srgbClr val="172f40"/>
                </a:solidFill>
                <a:latin typeface="Noto Sans CJK KR"/>
                <a:ea typeface="Noto Sans CJK KR"/>
              </a:rPr>
              <a:t>3D </a:t>
            </a:r>
            <a:r>
              <a:rPr b="1" lang="zh-CN" sz="3900" spc="-1" strike="noStrike">
                <a:solidFill>
                  <a:srgbClr val="172f40"/>
                </a:solidFill>
                <a:latin typeface="Noto Sans CJK KR"/>
                <a:ea typeface="Noto Sans CJK KR"/>
              </a:rPr>
              <a:t>모델 생성 및 활용 파이프라인</a:t>
            </a:r>
            <a:endParaRPr b="0" lang="en-US" sz="3900" spc="-1" strike="noStrike">
              <a:latin typeface="Arial"/>
            </a:endParaRPr>
          </a:p>
        </p:txBody>
      </p:sp>
      <p:sp>
        <p:nvSpPr>
          <p:cNvPr id="44" name="stage_rgb"/>
          <p:cNvSpPr/>
          <p:nvPr/>
        </p:nvSpPr>
        <p:spPr>
          <a:xfrm>
            <a:off x="476280" y="1886040"/>
            <a:ext cx="2952000" cy="3295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2f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heading_rgb"/>
          <p:cNvSpPr/>
          <p:nvPr/>
        </p:nvSpPr>
        <p:spPr>
          <a:xfrm>
            <a:off x="628560" y="2009880"/>
            <a:ext cx="2647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170" spc="-1" strike="noStrike">
                <a:solidFill>
                  <a:srgbClr val="172f40"/>
                </a:solidFill>
                <a:latin typeface="Noto Sans CJK KR"/>
                <a:ea typeface="Noto Sans CJK KR"/>
              </a:rPr>
              <a:t>1-a  RGB </a:t>
            </a:r>
            <a:r>
              <a:rPr b="1" lang="zh-CN" sz="2170" spc="-1" strike="noStrike">
                <a:solidFill>
                  <a:srgbClr val="172f40"/>
                </a:solidFill>
                <a:latin typeface="Noto Sans CJK KR"/>
                <a:ea typeface="Noto Sans CJK KR"/>
              </a:rPr>
              <a:t>영상 입력</a:t>
            </a:r>
            <a:endParaRPr b="0" lang="en-US" sz="2170" spc="-1" strike="noStrike">
              <a:latin typeface="Arial"/>
            </a:endParaRPr>
          </a:p>
        </p:txBody>
      </p:sp>
      <p:sp>
        <p:nvSpPr>
          <p:cNvPr id="46" name="sub_rgb"/>
          <p:cNvSpPr/>
          <p:nvPr/>
        </p:nvSpPr>
        <p:spPr>
          <a:xfrm>
            <a:off x="628560" y="2457360"/>
            <a:ext cx="26470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일반 카메라 영상</a:t>
            </a:r>
            <a:endParaRPr b="0" lang="en-US" sz="1870" spc="-1" strike="noStrike"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rcRect l="0" t="12591" r="0" b="12591"/>
          <a:stretch/>
        </p:blipFill>
        <p:spPr>
          <a:xfrm>
            <a:off x="628560" y="2914560"/>
            <a:ext cx="2647080" cy="1485360"/>
          </a:xfrm>
          <a:prstGeom prst="rect">
            <a:avLst/>
          </a:prstGeom>
          <a:ln w="0">
            <a:noFill/>
          </a:ln>
        </p:spPr>
      </p:pic>
      <p:sp>
        <p:nvSpPr>
          <p:cNvPr id="48" name="desc_rgb"/>
          <p:cNvSpPr/>
          <p:nvPr/>
        </p:nvSpPr>
        <p:spPr>
          <a:xfrm>
            <a:off x="628560" y="4457880"/>
            <a:ext cx="26470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영상에서 프레임을 추출해</a:t>
            </a:r>
            <a:endParaRPr b="0" lang="en-US" sz="184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복원 입력으로 사용</a:t>
            </a:r>
            <a:endParaRPr b="0" lang="en-US" sz="1840" spc="-1" strike="noStrike">
              <a:latin typeface="Arial"/>
            </a:endParaRPr>
          </a:p>
        </p:txBody>
      </p:sp>
      <p:sp>
        <p:nvSpPr>
          <p:cNvPr id="49" name="stage_panorama"/>
          <p:cNvSpPr/>
          <p:nvPr/>
        </p:nvSpPr>
        <p:spPr>
          <a:xfrm>
            <a:off x="476280" y="5962680"/>
            <a:ext cx="2952000" cy="3295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2f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heading_panorama"/>
          <p:cNvSpPr/>
          <p:nvPr/>
        </p:nvSpPr>
        <p:spPr>
          <a:xfrm>
            <a:off x="628560" y="6086520"/>
            <a:ext cx="2647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170" spc="-1" strike="noStrike">
                <a:solidFill>
                  <a:srgbClr val="172f40"/>
                </a:solidFill>
                <a:latin typeface="Noto Sans CJK KR"/>
                <a:ea typeface="Noto Sans CJK KR"/>
              </a:rPr>
              <a:t>1-b  360° </a:t>
            </a:r>
            <a:r>
              <a:rPr b="1" lang="zh-CN" sz="2170" spc="-1" strike="noStrike">
                <a:solidFill>
                  <a:srgbClr val="172f40"/>
                </a:solidFill>
                <a:latin typeface="Noto Sans CJK KR"/>
                <a:ea typeface="Noto Sans CJK KR"/>
              </a:rPr>
              <a:t>영상 입력</a:t>
            </a:r>
            <a:endParaRPr b="0" lang="en-US" sz="2170" spc="-1" strike="noStrike">
              <a:latin typeface="Arial"/>
            </a:endParaRPr>
          </a:p>
        </p:txBody>
      </p:sp>
      <p:sp>
        <p:nvSpPr>
          <p:cNvPr id="51" name="sub_panorama"/>
          <p:cNvSpPr/>
          <p:nvPr/>
        </p:nvSpPr>
        <p:spPr>
          <a:xfrm>
            <a:off x="628560" y="6534000"/>
            <a:ext cx="26470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전방위 카메라 영상</a:t>
            </a:r>
            <a:endParaRPr b="0" lang="en-US" sz="1870" spc="-1" strike="noStrike"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2"/>
          <a:srcRect l="0" t="21478" r="0" b="6249"/>
          <a:stretch/>
        </p:blipFill>
        <p:spPr>
          <a:xfrm>
            <a:off x="628560" y="7096320"/>
            <a:ext cx="2647080" cy="1275120"/>
          </a:xfrm>
          <a:prstGeom prst="rect">
            <a:avLst/>
          </a:prstGeom>
          <a:ln w="0">
            <a:noFill/>
          </a:ln>
        </p:spPr>
      </p:pic>
      <p:sp>
        <p:nvSpPr>
          <p:cNvPr id="53" name="desc_panorama"/>
          <p:cNvSpPr/>
          <p:nvPr/>
        </p:nvSpPr>
        <p:spPr>
          <a:xfrm>
            <a:off x="628560" y="8534520"/>
            <a:ext cx="26470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360° </a:t>
            </a: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프레임을 여러 방향의</a:t>
            </a:r>
            <a:endParaRPr b="0" lang="en-US" sz="184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일반 시야각 이미지로 변환</a:t>
            </a:r>
            <a:endParaRPr b="0" lang="en-US" sz="1840" spc="-1" strike="noStrike">
              <a:latin typeface="Arial"/>
            </a:endParaRPr>
          </a:p>
        </p:txBody>
      </p:sp>
      <p:sp>
        <p:nvSpPr>
          <p:cNvPr id="54" name="stage_cloud"/>
          <p:cNvSpPr/>
          <p:nvPr/>
        </p:nvSpPr>
        <p:spPr>
          <a:xfrm>
            <a:off x="4076640" y="3600360"/>
            <a:ext cx="2952000" cy="3942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76ba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heading_cloud"/>
          <p:cNvSpPr/>
          <p:nvPr/>
        </p:nvSpPr>
        <p:spPr>
          <a:xfrm>
            <a:off x="4229280" y="3724200"/>
            <a:ext cx="2647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20" spc="-1" strike="noStrike">
                <a:solidFill>
                  <a:srgbClr val="376ba6"/>
                </a:solidFill>
                <a:latin typeface="Noto Sans CJK KR"/>
                <a:ea typeface="Noto Sans CJK KR"/>
              </a:rPr>
              <a:t>2  </a:t>
            </a:r>
            <a:r>
              <a:rPr b="1" lang="zh-CN" sz="2020" spc="-1" strike="noStrike">
                <a:solidFill>
                  <a:srgbClr val="376ba6"/>
                </a:solidFill>
                <a:latin typeface="Noto Sans CJK KR"/>
                <a:ea typeface="Noto Sans CJK KR"/>
              </a:rPr>
              <a:t>포인트클라우드 생성</a:t>
            </a:r>
            <a:endParaRPr b="0" lang="en-US" sz="2020" spc="-1" strike="noStrike">
              <a:latin typeface="Arial"/>
            </a:endParaRPr>
          </a:p>
        </p:txBody>
      </p:sp>
      <p:sp>
        <p:nvSpPr>
          <p:cNvPr id="56" name="sub_cloud"/>
          <p:cNvSpPr/>
          <p:nvPr/>
        </p:nvSpPr>
        <p:spPr>
          <a:xfrm>
            <a:off x="4229280" y="4172040"/>
            <a:ext cx="26470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LingBot-Map</a:t>
            </a:r>
            <a:endParaRPr b="0" lang="en-US" sz="1870" spc="-1" strike="noStrike"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3"/>
          <a:srcRect l="0" t="4967" r="66650" b="73025"/>
          <a:stretch/>
        </p:blipFill>
        <p:spPr>
          <a:xfrm>
            <a:off x="4229280" y="4714920"/>
            <a:ext cx="2647080" cy="1809000"/>
          </a:xfrm>
          <a:prstGeom prst="rect">
            <a:avLst/>
          </a:prstGeom>
          <a:ln w="0">
            <a:noFill/>
          </a:ln>
        </p:spPr>
      </p:pic>
      <p:sp>
        <p:nvSpPr>
          <p:cNvPr id="58" name="desc_cloud"/>
          <p:cNvSpPr/>
          <p:nvPr/>
        </p:nvSpPr>
        <p:spPr>
          <a:xfrm>
            <a:off x="4229280" y="6819840"/>
            <a:ext cx="26470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영상으로부터 </a:t>
            </a:r>
            <a:r>
              <a:rPr b="0" lang="en-US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XYZ·RGB</a:t>
            </a: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와</a:t>
            </a:r>
            <a:endParaRPr b="0" lang="en-US" sz="184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카메라 위치</a:t>
            </a:r>
            <a:r>
              <a:rPr b="0" lang="en-US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·</a:t>
            </a: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자세 추정</a:t>
            </a:r>
            <a:endParaRPr b="0" lang="en-US" sz="1840" spc="-1" strike="noStrike">
              <a:latin typeface="Arial"/>
            </a:endParaRPr>
          </a:p>
        </p:txBody>
      </p:sp>
      <p:sp>
        <p:nvSpPr>
          <p:cNvPr id="59" name="stage_instances"/>
          <p:cNvSpPr/>
          <p:nvPr/>
        </p:nvSpPr>
        <p:spPr>
          <a:xfrm>
            <a:off x="7677000" y="3600360"/>
            <a:ext cx="2952000" cy="3942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38a8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heading_instances"/>
          <p:cNvSpPr/>
          <p:nvPr/>
        </p:nvSpPr>
        <p:spPr>
          <a:xfrm>
            <a:off x="7829640" y="3724200"/>
            <a:ext cx="2647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170" spc="-1" strike="noStrike">
                <a:solidFill>
                  <a:srgbClr val="138a87"/>
                </a:solidFill>
                <a:latin typeface="Noto Sans CJK KR"/>
                <a:ea typeface="Noto Sans CJK KR"/>
              </a:rPr>
              <a:t>3  3D </a:t>
            </a:r>
            <a:r>
              <a:rPr b="1" lang="zh-CN" sz="2170" spc="-1" strike="noStrike">
                <a:solidFill>
                  <a:srgbClr val="138a87"/>
                </a:solidFill>
                <a:latin typeface="Noto Sans CJK KR"/>
                <a:ea typeface="Noto Sans CJK KR"/>
              </a:rPr>
              <a:t>인스턴스 분할</a:t>
            </a:r>
            <a:endParaRPr b="0" lang="en-US" sz="2170" spc="-1" strike="noStrike">
              <a:latin typeface="Arial"/>
            </a:endParaRPr>
          </a:p>
        </p:txBody>
      </p:sp>
      <p:sp>
        <p:nvSpPr>
          <p:cNvPr id="61" name="sub_instances"/>
          <p:cNvSpPr/>
          <p:nvPr/>
        </p:nvSpPr>
        <p:spPr>
          <a:xfrm>
            <a:off x="7829640" y="4172040"/>
            <a:ext cx="26470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MV3DIS</a:t>
            </a:r>
            <a:endParaRPr b="0" lang="en-US" sz="1870" spc="-1" strike="noStrike"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4"/>
          <a:srcRect l="66650" t="4967" r="0" b="73025"/>
          <a:stretch/>
        </p:blipFill>
        <p:spPr>
          <a:xfrm>
            <a:off x="7829640" y="4714920"/>
            <a:ext cx="2647080" cy="1809000"/>
          </a:xfrm>
          <a:prstGeom prst="rect">
            <a:avLst/>
          </a:prstGeom>
          <a:ln w="0">
            <a:noFill/>
          </a:ln>
        </p:spPr>
      </p:pic>
      <p:sp>
        <p:nvSpPr>
          <p:cNvPr id="63" name="desc_instances"/>
          <p:cNvSpPr/>
          <p:nvPr/>
        </p:nvSpPr>
        <p:spPr>
          <a:xfrm>
            <a:off x="7829640" y="6819840"/>
            <a:ext cx="26470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점군을 개별 객체로 나누고</a:t>
            </a:r>
            <a:endParaRPr b="0" lang="en-US" sz="184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객체 </a:t>
            </a:r>
            <a:r>
              <a:rPr b="0" lang="en-US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ID</a:t>
            </a: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와 분류 정보 연결</a:t>
            </a:r>
            <a:endParaRPr b="0" lang="en-US" sz="1840" spc="-1" strike="noStrike">
              <a:latin typeface="Arial"/>
            </a:endParaRPr>
          </a:p>
        </p:txBody>
      </p:sp>
      <p:sp>
        <p:nvSpPr>
          <p:cNvPr id="64" name="stage_files"/>
          <p:cNvSpPr/>
          <p:nvPr/>
        </p:nvSpPr>
        <p:spPr>
          <a:xfrm>
            <a:off x="11277720" y="3600360"/>
            <a:ext cx="2952000" cy="3942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38a8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heading_files"/>
          <p:cNvSpPr/>
          <p:nvPr/>
        </p:nvSpPr>
        <p:spPr>
          <a:xfrm>
            <a:off x="11430000" y="3724200"/>
            <a:ext cx="2647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170" spc="-1" strike="noStrike">
                <a:solidFill>
                  <a:srgbClr val="138a87"/>
                </a:solidFill>
                <a:latin typeface="Noto Sans CJK KR"/>
                <a:ea typeface="Noto Sans CJK KR"/>
              </a:rPr>
              <a:t>4  </a:t>
            </a:r>
            <a:r>
              <a:rPr b="1" lang="zh-CN" sz="2170" spc="-1" strike="noStrike">
                <a:solidFill>
                  <a:srgbClr val="138a87"/>
                </a:solidFill>
                <a:latin typeface="Noto Sans CJK KR"/>
                <a:ea typeface="Noto Sans CJK KR"/>
              </a:rPr>
              <a:t>객체별 파일 저장</a:t>
            </a:r>
            <a:endParaRPr b="0" lang="en-US" sz="2170" spc="-1" strike="noStrike">
              <a:latin typeface="Arial"/>
            </a:endParaRPr>
          </a:p>
        </p:txBody>
      </p:sp>
      <p:sp>
        <p:nvSpPr>
          <p:cNvPr id="66" name="sub_files"/>
          <p:cNvSpPr/>
          <p:nvPr/>
        </p:nvSpPr>
        <p:spPr>
          <a:xfrm>
            <a:off x="11430000" y="4172040"/>
            <a:ext cx="26470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GLB / OBJ</a:t>
            </a:r>
            <a:endParaRPr b="0" lang="en-US" sz="1870" spc="-1" strike="noStrike"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5"/>
          <a:stretch/>
        </p:blipFill>
        <p:spPr>
          <a:xfrm>
            <a:off x="11433240" y="4629240"/>
            <a:ext cx="2640960" cy="1980360"/>
          </a:xfrm>
          <a:prstGeom prst="rect">
            <a:avLst/>
          </a:prstGeom>
          <a:ln w="0">
            <a:noFill/>
          </a:ln>
        </p:spPr>
      </p:pic>
      <p:sp>
        <p:nvSpPr>
          <p:cNvPr id="68" name="desc_files"/>
          <p:cNvSpPr/>
          <p:nvPr/>
        </p:nvSpPr>
        <p:spPr>
          <a:xfrm>
            <a:off x="11430000" y="6819840"/>
            <a:ext cx="26470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객체별 메시</a:t>
            </a:r>
            <a:r>
              <a:rPr b="0" lang="en-US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·</a:t>
            </a: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색상을 만들고</a:t>
            </a:r>
            <a:endParaRPr b="0" lang="en-US" sz="184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3D </a:t>
            </a: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모델 파일로 저장</a:t>
            </a:r>
            <a:endParaRPr b="0" lang="en-US" sz="1840" spc="-1" strike="noStrike">
              <a:latin typeface="Arial"/>
            </a:endParaRPr>
          </a:p>
        </p:txBody>
      </p:sp>
      <p:sp>
        <p:nvSpPr>
          <p:cNvPr id="69" name="stage_changes"/>
          <p:cNvSpPr/>
          <p:nvPr/>
        </p:nvSpPr>
        <p:spPr>
          <a:xfrm>
            <a:off x="14878080" y="1886040"/>
            <a:ext cx="2952000" cy="3295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6ba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heading_changes"/>
          <p:cNvSpPr/>
          <p:nvPr/>
        </p:nvSpPr>
        <p:spPr>
          <a:xfrm>
            <a:off x="15030360" y="2009880"/>
            <a:ext cx="2647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170" spc="-1" strike="noStrike">
                <a:solidFill>
                  <a:srgbClr val="376ba6"/>
                </a:solidFill>
                <a:latin typeface="Noto Sans CJK KR"/>
                <a:ea typeface="Noto Sans CJK KR"/>
              </a:rPr>
              <a:t>5-a  </a:t>
            </a:r>
            <a:r>
              <a:rPr b="1" lang="zh-CN" sz="2170" spc="-1" strike="noStrike">
                <a:solidFill>
                  <a:srgbClr val="376ba6"/>
                </a:solidFill>
                <a:latin typeface="Noto Sans CJK KR"/>
                <a:ea typeface="Noto Sans CJK KR"/>
              </a:rPr>
              <a:t>변화 탐지</a:t>
            </a:r>
            <a:endParaRPr b="0" lang="en-US" sz="2170" spc="-1" strike="noStrike">
              <a:latin typeface="Arial"/>
            </a:endParaRPr>
          </a:p>
        </p:txBody>
      </p:sp>
      <p:sp>
        <p:nvSpPr>
          <p:cNvPr id="71" name="sub_changes"/>
          <p:cNvSpPr/>
          <p:nvPr/>
        </p:nvSpPr>
        <p:spPr>
          <a:xfrm>
            <a:off x="15030360" y="2457360"/>
            <a:ext cx="26470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촬영 회차별 객체 비교</a:t>
            </a:r>
            <a:endParaRPr b="0" lang="en-US" sz="1870" spc="-1" strike="noStrike"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6"/>
          <a:stretch/>
        </p:blipFill>
        <p:spPr>
          <a:xfrm>
            <a:off x="15034320" y="2914560"/>
            <a:ext cx="2639520" cy="1485360"/>
          </a:xfrm>
          <a:prstGeom prst="rect">
            <a:avLst/>
          </a:prstGeom>
          <a:ln w="0">
            <a:noFill/>
          </a:ln>
        </p:spPr>
      </p:pic>
      <p:sp>
        <p:nvSpPr>
          <p:cNvPr id="73" name="desc_changes"/>
          <p:cNvSpPr/>
          <p:nvPr/>
        </p:nvSpPr>
        <p:spPr>
          <a:xfrm>
            <a:off x="15030360" y="4457880"/>
            <a:ext cx="26470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객체 위치</a:t>
            </a:r>
            <a:r>
              <a:rPr b="0" lang="en-US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·</a:t>
            </a: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형상을 비교해</a:t>
            </a:r>
            <a:endParaRPr b="0" lang="en-US" sz="184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추가</a:t>
            </a:r>
            <a:r>
              <a:rPr b="0" lang="en-US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·</a:t>
            </a: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소실</a:t>
            </a:r>
            <a:r>
              <a:rPr b="0" lang="en-US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·</a:t>
            </a: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이동 탐지</a:t>
            </a:r>
            <a:endParaRPr b="0" lang="en-US" sz="1840" spc="-1" strike="noStrike">
              <a:latin typeface="Arial"/>
            </a:endParaRPr>
          </a:p>
        </p:txBody>
      </p:sp>
      <p:sp>
        <p:nvSpPr>
          <p:cNvPr id="74" name="stage_keyframes"/>
          <p:cNvSpPr/>
          <p:nvPr/>
        </p:nvSpPr>
        <p:spPr>
          <a:xfrm>
            <a:off x="14878080" y="5962680"/>
            <a:ext cx="2952000" cy="3295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6ba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heading_keyframes"/>
          <p:cNvSpPr/>
          <p:nvPr/>
        </p:nvSpPr>
        <p:spPr>
          <a:xfrm>
            <a:off x="15030360" y="6086520"/>
            <a:ext cx="264708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170" spc="-1" strike="noStrike">
                <a:solidFill>
                  <a:srgbClr val="376ba6"/>
                </a:solidFill>
                <a:latin typeface="Noto Sans CJK KR"/>
                <a:ea typeface="Noto Sans CJK KR"/>
              </a:rPr>
              <a:t>5-b  </a:t>
            </a:r>
            <a:r>
              <a:rPr b="1" lang="zh-CN" sz="2170" spc="-1" strike="noStrike">
                <a:solidFill>
                  <a:srgbClr val="376ba6"/>
                </a:solidFill>
                <a:latin typeface="Noto Sans CJK KR"/>
                <a:ea typeface="Noto Sans CJK KR"/>
              </a:rPr>
              <a:t>키프레임 추출</a:t>
            </a:r>
            <a:endParaRPr b="0" lang="en-US" sz="2170" spc="-1" strike="noStrike">
              <a:latin typeface="Arial"/>
            </a:endParaRPr>
          </a:p>
        </p:txBody>
      </p:sp>
      <p:sp>
        <p:nvSpPr>
          <p:cNvPr id="76" name="sub_keyframes"/>
          <p:cNvSpPr/>
          <p:nvPr/>
        </p:nvSpPr>
        <p:spPr>
          <a:xfrm>
            <a:off x="15030360" y="6534000"/>
            <a:ext cx="26470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객체별 대표 프레임 선정</a:t>
            </a:r>
            <a:endParaRPr b="0" lang="en-US" sz="1870" spc="-1" strike="noStrike"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7"/>
          <a:stretch/>
        </p:blipFill>
        <p:spPr>
          <a:xfrm>
            <a:off x="15034320" y="6991200"/>
            <a:ext cx="2639520" cy="1485360"/>
          </a:xfrm>
          <a:prstGeom prst="rect">
            <a:avLst/>
          </a:prstGeom>
          <a:ln w="0">
            <a:noFill/>
          </a:ln>
        </p:spPr>
      </p:pic>
      <p:sp>
        <p:nvSpPr>
          <p:cNvPr id="78" name="desc_keyframes"/>
          <p:cNvSpPr/>
          <p:nvPr/>
        </p:nvSpPr>
        <p:spPr>
          <a:xfrm>
            <a:off x="15030360" y="8534520"/>
            <a:ext cx="26470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객체가 잘 보이는 시점의</a:t>
            </a:r>
            <a:endParaRPr b="0" lang="en-US" sz="184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4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원본 영상 프레임 선택</a:t>
            </a:r>
            <a:endParaRPr b="0" lang="en-US" sz="1840" spc="-1" strike="noStrike"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429000" y="3533760"/>
            <a:ext cx="646920" cy="203760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7089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"/>
          <p:cNvSpPr/>
          <p:nvPr/>
        </p:nvSpPr>
        <p:spPr>
          <a:xfrm flipV="1">
            <a:off x="3429000" y="5571360"/>
            <a:ext cx="646920" cy="203760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7089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"/>
          <p:cNvSpPr/>
          <p:nvPr/>
        </p:nvSpPr>
        <p:spPr>
          <a:xfrm>
            <a:off x="7029360" y="5572080"/>
            <a:ext cx="64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76b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"/>
          <p:cNvSpPr/>
          <p:nvPr/>
        </p:nvSpPr>
        <p:spPr>
          <a:xfrm>
            <a:off x="10630080" y="5572080"/>
            <a:ext cx="646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38a8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"/>
          <p:cNvSpPr/>
          <p:nvPr/>
        </p:nvSpPr>
        <p:spPr>
          <a:xfrm flipV="1">
            <a:off x="14230440" y="3533040"/>
            <a:ext cx="646920" cy="203760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376b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"/>
          <p:cNvSpPr/>
          <p:nvPr/>
        </p:nvSpPr>
        <p:spPr>
          <a:xfrm>
            <a:off x="14230440" y="5572080"/>
            <a:ext cx="646920" cy="203760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376b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2026-09-24T06:21:45Z</dcterms:created>
  <dc:creator>Walnut Exporter</dc:creator>
  <dc:description/>
  <dc:language>en-US</dc:language>
  <cp:lastModifiedBy/>
  <dcterms:modified xsi:type="dcterms:W3CDTF">2026-09-24T16:18:13Z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