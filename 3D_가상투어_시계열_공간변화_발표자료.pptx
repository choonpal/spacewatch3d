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64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7558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3" name="Image 0" descr="/mnt/data/a_clean_modern_realistic_interior_office_campus_batch_1.png"/>
          <p:cNvPicPr>
            <a:picLocks noChangeAspect="1"/>
          </p:cNvPicPr>
          <p:nvPr/>
        </p:nvPicPr>
        <p:blipFill>
          <a:blip r:embed="rId3"/>
          <a:srcRect l="24186" r="24186"/>
          <a:stretch/>
        </p:blipFill>
        <p:spPr>
          <a:xfrm>
            <a:off x="5897880" y="0"/>
            <a:ext cx="629107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" y="749808"/>
            <a:ext cx="1993392" cy="310896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809244"/>
            <a:ext cx="184708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산학협력프로젝트 발표자료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243263" y="1316736"/>
            <a:ext cx="5411355" cy="1298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3차원 가상투어 생성 자동화 기반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 공간 변화 모니터링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80060" y="2866325"/>
            <a:ext cx="49377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360° 실내 영상과 SLAM 기반 공간 컨텍스트를 활용해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가상투어를 자동 생성하고, 시간에 따른 공간 변화를 탐지하는 플랫폼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4944" y="5797296"/>
            <a:ext cx="49377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 |  시한결 · 김동주 · 서관우 · 이태훈 · 임현우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PROJECT DEFINITION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96926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핵심: “실내 공간을 시간 단위로 읽는 가상투어 엔진”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1828800" cy="0"/>
          </a:xfrm>
          <a:prstGeom prst="line">
            <a:avLst/>
          </a:prstGeom>
          <a:noFill/>
          <a:ln w="30480">
            <a:solidFill>
              <a:srgbClr val="2563EB"/>
            </a:solidFill>
            <a:prstDash val="solid"/>
          </a:ln>
        </p:spPr>
      </p:sp>
      <p:pic>
        <p:nvPicPr>
          <p:cNvPr id="5" name="Image 0" descr="/mnt/data/a_wide_clean_modern_ui_ux_dashboard_scene_a_hig_batch_3.png"/>
          <p:cNvPicPr>
            <a:picLocks noChangeAspect="1"/>
          </p:cNvPicPr>
          <p:nvPr/>
        </p:nvPicPr>
        <p:blipFill>
          <a:blip r:embed="rId3"/>
          <a:srcRect l="11924" r="11924"/>
          <a:stretch/>
        </p:blipFill>
        <p:spPr>
          <a:xfrm>
            <a:off x="6629400" y="1371600"/>
            <a:ext cx="5010912" cy="3703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1700785"/>
            <a:ext cx="5257800" cy="11155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완전한 3D Mesh 복원보다,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노드·이동 경로·360° 장면을 연결한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실용형 </a:t>
            </a:r>
            <a:r>
              <a:rPr lang="en-US" sz="2500" b="1" dirty="0" err="1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</a:t>
            </a:r>
            <a:r>
              <a:rPr lang="en-US" sz="25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트윈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68096" y="2999232"/>
            <a:ext cx="5212080" cy="1225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 시점의 위치·방향·이동흐름을 메타데이터로 생성</a:t>
            </a:r>
            <a:endParaRPr lang="en-US" sz="1500" dirty="0"/>
          </a:p>
          <a:p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정렬과 공간 정합으로 가상투어 경로 구성</a:t>
            </a:r>
            <a:endParaRPr lang="en-US" sz="1500" dirty="0"/>
          </a:p>
          <a:p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시점별 영상 비교로 변화 영역과 관심 이벤트 표시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58368" y="4709160"/>
            <a:ext cx="5440680" cy="786384"/>
          </a:xfrm>
          <a:prstGeom prst="roundRect">
            <a:avLst>
              <a:gd name="adj" fmla="val 17442"/>
            </a:avLst>
          </a:prstGeom>
          <a:solidFill>
            <a:srgbClr val="EFF6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4846320"/>
            <a:ext cx="960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산출물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144268" y="4928616"/>
            <a:ext cx="36118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가상투어 + 시계열 변화 모니터링 웹 플랫폼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6547104"/>
            <a:ext cx="4754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산학협력프로젝트 제안서 기반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BACKGROUND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96926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필요한가: 공간 관리의 데이터화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1828800" cy="0"/>
          </a:xfrm>
          <a:prstGeom prst="line">
            <a:avLst/>
          </a:prstGeom>
          <a:noFill/>
          <a:ln w="3048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08760"/>
            <a:ext cx="324612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27632"/>
            <a:ext cx="295351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20%+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2953512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디지털트윈·스마트 공간 관리 시장 연평균 성장 전망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5968" y="1508760"/>
            <a:ext cx="324612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1627632"/>
            <a:ext cx="295351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360°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4462272" y="2011680"/>
            <a:ext cx="2953512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 점검·안전·원격 모니터링을 위한 핵심 영상 인프라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55280" y="1508760"/>
            <a:ext cx="324612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01584" y="1627632"/>
            <a:ext cx="295351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8101584" y="2011680"/>
            <a:ext cx="2953512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공간을 반복 촬영해 변화와 이상 이벤트를 추적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" y="3127248"/>
            <a:ext cx="10625328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419856"/>
            <a:ext cx="16916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방식의 한계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310128" y="3410712"/>
            <a:ext cx="764438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직접 현장을 확인하거나 촬영본을 수동 비교하면, 점검 비용이 크고 변화 이력이 체계적으로 누적되지 않습니다.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078992" y="4169664"/>
            <a:ext cx="16916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방향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310128" y="4169664"/>
            <a:ext cx="764438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360° 영상과 공간 메타데이터를 자동 결합하고, 촬영 시점별 공간 상태를 비교·시각화하는 시스템을 구축합니다.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6547104"/>
            <a:ext cx="4754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제안서 추진배경 및 기대효과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OBJECTIVES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96926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목표: 3개의 핵심 모듈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1828800" cy="0"/>
          </a:xfrm>
          <a:prstGeom prst="line">
            <a:avLst/>
          </a:prstGeom>
          <a:noFill/>
          <a:ln w="3048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554480"/>
            <a:ext cx="3063240" cy="315468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810512"/>
            <a:ext cx="548640" cy="5486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920240"/>
            <a:ext cx="274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578608"/>
            <a:ext cx="25603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컨텍스트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메타데이터 생성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547872"/>
            <a:ext cx="25603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위치, 방향, 이동흐름, 세션 ID를 영상 프레임과 동기화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24528" y="1554480"/>
            <a:ext cx="3063240" cy="315468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25696" y="1810512"/>
            <a:ext cx="548640" cy="54864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2856" y="1920240"/>
            <a:ext cx="274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43984" y="2578608"/>
            <a:ext cx="25603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가상투어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생성 엔진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43984" y="3547872"/>
            <a:ext cx="25603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정렬, 공간 정합, 키프레임 선별로 이동 가능한 투어 생성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54112" y="1554480"/>
            <a:ext cx="3063240" cy="315468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810512"/>
            <a:ext cx="548640" cy="5486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1920240"/>
            <a:ext cx="274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973568" y="2578608"/>
            <a:ext cx="25603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시계열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변화·이벤트 분석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973568" y="3547872"/>
            <a:ext cx="25603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이전·이후 촬영본 비교로 객체 등장·삭제·이동 및 이상 이벤트 탐지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261872" y="5230368"/>
            <a:ext cx="9674352" cy="566928"/>
          </a:xfrm>
          <a:prstGeom prst="roundRect">
            <a:avLst>
              <a:gd name="adj" fmla="val 24194"/>
            </a:avLst>
          </a:prstGeom>
          <a:solidFill>
            <a:srgbClr val="F1F5F9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00200" y="5367528"/>
            <a:ext cx="90525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결과물: 운영 이력 통합 관리가 가능한 원격 모니터링 플랫폼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6547104"/>
            <a:ext cx="4754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산학협력프로젝트 제안서 기반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96926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파이프라인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1828800" cy="0"/>
          </a:xfrm>
          <a:prstGeom prst="line">
            <a:avLst/>
          </a:prstGeom>
          <a:noFill/>
          <a:ln w="3048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2139696"/>
            <a:ext cx="1115568" cy="841248"/>
          </a:xfrm>
          <a:prstGeom prst="roundRect">
            <a:avLst>
              <a:gd name="adj" fmla="val 1304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2212848"/>
            <a:ext cx="96926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360° 촬영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1700784" y="2560320"/>
            <a:ext cx="22860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947672" y="2139696"/>
            <a:ext cx="1115568" cy="841248"/>
          </a:xfrm>
          <a:prstGeom prst="roundRect">
            <a:avLst>
              <a:gd name="adj" fmla="val 1304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0824" y="2212848"/>
            <a:ext cx="96926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추출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3136392" y="2560320"/>
            <a:ext cx="228600" cy="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83280" y="2139696"/>
            <a:ext cx="1115568" cy="841248"/>
          </a:xfrm>
          <a:prstGeom prst="roundRect">
            <a:avLst>
              <a:gd name="adj" fmla="val 1304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2212848"/>
            <a:ext cx="96926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SLAM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추정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4572000" y="2560320"/>
            <a:ext cx="228600" cy="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18888" y="2139696"/>
            <a:ext cx="1115568" cy="841248"/>
          </a:xfrm>
          <a:prstGeom prst="roundRect">
            <a:avLst>
              <a:gd name="adj" fmla="val 1304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212848"/>
            <a:ext cx="96926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키프레임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선별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6007608" y="2560320"/>
            <a:ext cx="228600" cy="0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54496" y="2139696"/>
            <a:ext cx="1115568" cy="841248"/>
          </a:xfrm>
          <a:prstGeom prst="roundRect">
            <a:avLst>
              <a:gd name="adj" fmla="val 1304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2212848"/>
            <a:ext cx="96926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가상투어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7443216" y="2560320"/>
            <a:ext cx="228600" cy="0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90104" y="2139696"/>
            <a:ext cx="1115568" cy="841248"/>
          </a:xfrm>
          <a:prstGeom prst="roundRect">
            <a:avLst>
              <a:gd name="adj" fmla="val 1304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63256" y="2212848"/>
            <a:ext cx="96926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정합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8878824" y="2560320"/>
            <a:ext cx="228600" cy="0"/>
          </a:xfrm>
          <a:prstGeom prst="line">
            <a:avLst/>
          </a:prstGeom>
          <a:noFill/>
          <a:ln w="1778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25712" y="2139696"/>
            <a:ext cx="1115568" cy="841248"/>
          </a:xfrm>
          <a:prstGeom prst="roundRect">
            <a:avLst>
              <a:gd name="adj" fmla="val 1304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98864" y="2212848"/>
            <a:ext cx="96926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 탐지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10314432" y="2560320"/>
            <a:ext cx="228600" cy="0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561320" y="2139696"/>
            <a:ext cx="1115568" cy="841248"/>
          </a:xfrm>
          <a:prstGeom prst="roundRect">
            <a:avLst>
              <a:gd name="adj" fmla="val 1304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34472" y="2212848"/>
            <a:ext cx="96926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시각화</a:t>
            </a:r>
            <a:endParaRPr lang="en-US" sz="1140" dirty="0"/>
          </a:p>
        </p:txBody>
      </p:sp>
      <p:sp>
        <p:nvSpPr>
          <p:cNvPr id="28" name="Shape 26"/>
          <p:cNvSpPr/>
          <p:nvPr/>
        </p:nvSpPr>
        <p:spPr>
          <a:xfrm>
            <a:off x="941832" y="3858768"/>
            <a:ext cx="10314432" cy="1243584"/>
          </a:xfrm>
          <a:prstGeom prst="roundRect">
            <a:avLst>
              <a:gd name="adj" fmla="val 11029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8720" y="4069080"/>
            <a:ext cx="9144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전략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651760" y="4041648"/>
            <a:ext cx="8083296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완전한 3D 모델을 만들지 않고, 먼저 “촬영 세션 → 공간 경로 → 가상투어 → 시점 비교”가 동작하는 최소 기능을 완성합니다.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651760" y="4526280"/>
            <a:ext cx="808329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뒤 정합 정확도와 AI 탐지 성능을 단계적으로 고도화합니다.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8640" y="6547104"/>
            <a:ext cx="4754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산학협력프로젝트 제안서 기반</a:t>
            </a:r>
            <a:endParaRPr lang="en-US" sz="7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INDOOR POSITIONING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96926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 위치 추정: GPS 대신 Visual SLAM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1828800" cy="0"/>
          </a:xfrm>
          <a:prstGeom prst="line">
            <a:avLst/>
          </a:prstGeom>
          <a:noFill/>
          <a:ln w="30480">
            <a:solidFill>
              <a:srgbClr val="2563EB"/>
            </a:solidFill>
            <a:prstDash val="solid"/>
          </a:ln>
        </p:spPr>
      </p:sp>
      <p:pic>
        <p:nvPicPr>
          <p:cNvPr id="5" name="Image 0" descr="/mnt/data/a_wide_cinematic_futuristic_3d_visualization_sce_batch_2.png"/>
          <p:cNvPicPr>
            <a:picLocks noChangeAspect="1"/>
          </p:cNvPicPr>
          <p:nvPr/>
        </p:nvPicPr>
        <p:blipFill>
          <a:blip r:embed="rId3"/>
          <a:srcRect l="9643" r="9643"/>
          <a:stretch/>
        </p:blipFill>
        <p:spPr>
          <a:xfrm>
            <a:off x="6016752" y="1389888"/>
            <a:ext cx="5376672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1683134"/>
            <a:ext cx="4700016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실내에서는 GPS 오차가 커서</a:t>
            </a:r>
            <a:endParaRPr lang="en-US" sz="2300" dirty="0"/>
          </a:p>
          <a:p>
            <a:pPr marL="0" indent="0" algn="l">
              <a:buNone/>
            </a:pPr>
            <a:r>
              <a:rPr lang="en-US" sz="23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 프레임의 위치 </a:t>
            </a:r>
            <a:r>
              <a:rPr lang="en-US" sz="2300" b="1" dirty="0" err="1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기준으로</a:t>
            </a:r>
            <a:r>
              <a:rPr lang="en-US" sz="23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300" b="1" dirty="0" err="1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부적합</a:t>
            </a:r>
            <a:r>
              <a:rPr lang="ko-KR" altLang="en-US" sz="23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</a:t>
            </a:r>
            <a:r>
              <a:rPr lang="en-US" altLang="ko-KR" sz="23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27321" y="2761488"/>
            <a:ext cx="5039832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 시작점을 원점으로 둔 상대 좌표 사용</a:t>
            </a:r>
            <a:endParaRPr lang="en-US" sz="1500" dirty="0"/>
          </a:p>
          <a:p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Visual SLAM / Visual-Inertial SLAM으로 카메라 Pose 추정</a:t>
            </a:r>
            <a:endParaRPr lang="en-US" sz="1500" dirty="0"/>
          </a:p>
          <a:p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Loop Closure로 누적 오차 보정</a:t>
            </a:r>
            <a:endParaRPr lang="en-US" sz="1500" dirty="0"/>
          </a:p>
          <a:p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시 AprilTag 또는 UWB로 기준점 보정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86384" y="4828032"/>
            <a:ext cx="4800600" cy="585216"/>
          </a:xfrm>
          <a:prstGeom prst="roundRect">
            <a:avLst>
              <a:gd name="adj" fmla="val 23438"/>
            </a:avLst>
          </a:prstGeom>
          <a:solidFill>
            <a:srgbClr val="EFF6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4983480"/>
            <a:ext cx="4389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출력: frame_id, timestamp, position(x,y,z), rotation(yaw,pitch,roll), session_id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6547104"/>
            <a:ext cx="4754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산학협력프로젝트 제안서 기반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SPATIAL ALIGNMENT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96926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정합: 서로 다른 촬영 세션을 같은 좌표계로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1828800" cy="0"/>
          </a:xfrm>
          <a:prstGeom prst="line">
            <a:avLst/>
          </a:prstGeom>
          <a:noFill/>
          <a:ln w="3048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536192"/>
            <a:ext cx="3383280" cy="3090672"/>
          </a:xfrm>
          <a:prstGeom prst="roundRect">
            <a:avLst>
              <a:gd name="adj" fmla="val 4438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755648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 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43000" y="2331720"/>
            <a:ext cx="411480" cy="329184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2404872"/>
            <a:ext cx="26517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59152" y="2331720"/>
            <a:ext cx="411480" cy="329184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32304" y="2404872"/>
            <a:ext cx="26517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59152" y="3364992"/>
            <a:ext cx="411480" cy="329184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3438144"/>
            <a:ext cx="26517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581912" y="2496312"/>
            <a:ext cx="749808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60320" y="2688336"/>
            <a:ext cx="0" cy="649224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028432" y="1536192"/>
            <a:ext cx="3383280" cy="3090672"/>
          </a:xfrm>
          <a:prstGeom prst="roundRect">
            <a:avLst>
              <a:gd name="adj" fmla="val 4438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1755648"/>
            <a:ext cx="1097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 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875520" y="2103120"/>
            <a:ext cx="475488" cy="329184"/>
          </a:xfrm>
          <a:prstGeom prst="roundRect">
            <a:avLst>
              <a:gd name="adj" fmla="val 3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48672" y="2176272"/>
            <a:ext cx="3291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A'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06840" y="2852928"/>
            <a:ext cx="475488" cy="329184"/>
          </a:xfrm>
          <a:prstGeom prst="roundRect">
            <a:avLst>
              <a:gd name="adj" fmla="val 3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79992" y="2926080"/>
            <a:ext cx="3291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B'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66176" y="3675888"/>
            <a:ext cx="475488" cy="329184"/>
          </a:xfrm>
          <a:prstGeom prst="roundRect">
            <a:avLst>
              <a:gd name="adj" fmla="val 3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9328" y="3749040"/>
            <a:ext cx="32918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C'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838944" y="2304288"/>
            <a:ext cx="0" cy="50292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979408" y="3108960"/>
            <a:ext cx="0" cy="54864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53712" y="1938528"/>
            <a:ext cx="3072384" cy="2286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2231136"/>
            <a:ext cx="224028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Transform 추정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974336" y="2706624"/>
            <a:ext cx="2231136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Matching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RANSAC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SE(3) / Sim(3)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ICP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206240" y="3090672"/>
            <a:ext cx="329184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635240" y="3090672"/>
            <a:ext cx="374904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69848" y="5248656"/>
            <a:ext cx="10040112" cy="512064"/>
          </a:xfrm>
          <a:prstGeom prst="roundRect">
            <a:avLst>
              <a:gd name="adj" fmla="val 26786"/>
            </a:avLst>
          </a:prstGeom>
          <a:solidFill>
            <a:srgbClr val="ECFDF5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5385816"/>
            <a:ext cx="958291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 후에는 같은 위치의 Before / After 프레임을 가져와 정확한 변화 탐지가 가능해집니다.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6547104"/>
            <a:ext cx="4754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산학협력프로젝트 제안서 기반</a:t>
            </a:r>
            <a:endParaRPr lang="en-US" sz="7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VIRTUAL TOUR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96926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가상투어 자동 생성 엔진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1828800" cy="0"/>
          </a:xfrm>
          <a:prstGeom prst="line">
            <a:avLst/>
          </a:prstGeom>
          <a:noFill/>
          <a:ln w="30480">
            <a:solidFill>
              <a:srgbClr val="2563EB"/>
            </a:solidFill>
            <a:prstDash val="solid"/>
          </a:ln>
        </p:spPr>
      </p:sp>
      <p:pic>
        <p:nvPicPr>
          <p:cNvPr id="5" name="Image 0" descr="/mnt/data/a_wide_clean_modern_ui_ux_dashboard_scene_a_hig_batch_3.png"/>
          <p:cNvPicPr>
            <a:picLocks noChangeAspect="1"/>
          </p:cNvPicPr>
          <p:nvPr/>
        </p:nvPicPr>
        <p:blipFill>
          <a:blip r:embed="rId3"/>
          <a:srcRect l="11110" r="11110"/>
          <a:stretch/>
        </p:blipFill>
        <p:spPr>
          <a:xfrm>
            <a:off x="658368" y="1307592"/>
            <a:ext cx="5623560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93408" y="1481328"/>
            <a:ext cx="448056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키프레임을 공간 노드로 만들고,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이동 경로를 따라 노드 간 이동 링크를 자동 생성합니다.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766560" y="2770632"/>
            <a:ext cx="4617720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프레임 제거로 대표 장면 선별</a:t>
            </a:r>
            <a:endParaRPr lang="en-US" sz="1500" dirty="0"/>
          </a:p>
          <a:p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흐름을 유지하는 키프레임 연결</a:t>
            </a:r>
            <a:endParaRPr lang="en-US" sz="1500" dirty="0"/>
          </a:p>
          <a:p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360° Panorama Viewer에서 핫스팟 이동 제공</a:t>
            </a:r>
            <a:endParaRPr lang="en-US" sz="1500" dirty="0"/>
          </a:p>
          <a:p>
            <a:r>
              <a:rPr lang="en-US" sz="15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날짜별 촬영 세션을 같은 화면에서 비교 가능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766560" y="4681728"/>
            <a:ext cx="4498848" cy="566928"/>
          </a:xfrm>
          <a:prstGeom prst="roundRect">
            <a:avLst>
              <a:gd name="adj" fmla="val 24194"/>
            </a:avLst>
          </a:prstGeom>
          <a:solidFill>
            <a:srgbClr val="F1F5F9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86016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후보: Three.js / WebGL / 360 Panorama Viewer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6547104"/>
            <a:ext cx="4754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산학협력프로젝트 제안서 기반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AI CHANGE DETECTION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96926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공간 변화·이벤트 분석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1828800" cy="0"/>
          </a:xfrm>
          <a:prstGeom prst="line">
            <a:avLst/>
          </a:prstGeom>
          <a:noFill/>
          <a:ln w="30480">
            <a:solidFill>
              <a:srgbClr val="2563EB"/>
            </a:solidFill>
            <a:prstDash val="solid"/>
          </a:ln>
        </p:spPr>
      </p:sp>
      <p:pic>
        <p:nvPicPr>
          <p:cNvPr id="5" name="Image 0" descr="/mnt/data/wide_interior_comparison_tech_ui_infographic_a_sp_batch_4.png"/>
          <p:cNvPicPr>
            <a:picLocks noChangeAspect="1"/>
          </p:cNvPicPr>
          <p:nvPr/>
        </p:nvPicPr>
        <p:blipFill>
          <a:blip r:embed="rId3"/>
          <a:srcRect l="10665" r="10665"/>
          <a:stretch/>
        </p:blipFill>
        <p:spPr>
          <a:xfrm>
            <a:off x="640080" y="1152144"/>
            <a:ext cx="5879592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94576" y="1417320"/>
            <a:ext cx="4407408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정합된 동일 위치의 과거/현재 영상을 비교하여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“무엇이 바뀌었는가”를 객체 단위로 기록합니다.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931152" y="2651760"/>
            <a:ext cx="1207008" cy="347472"/>
          </a:xfrm>
          <a:prstGeom prst="roundRect">
            <a:avLst>
              <a:gd name="adj" fmla="val 3157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04304" y="2724912"/>
            <a:ext cx="106070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객체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357616" y="2715768"/>
            <a:ext cx="2834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박스·장비·장애물 출현</a:t>
            </a:r>
            <a:endParaRPr lang="en-US" sz="1260" dirty="0"/>
          </a:p>
        </p:txBody>
      </p:sp>
      <p:sp>
        <p:nvSpPr>
          <p:cNvPr id="10" name="Shape 7"/>
          <p:cNvSpPr/>
          <p:nvPr/>
        </p:nvSpPr>
        <p:spPr>
          <a:xfrm>
            <a:off x="6931152" y="3182112"/>
            <a:ext cx="1207008" cy="347472"/>
          </a:xfrm>
          <a:prstGeom prst="roundRect">
            <a:avLst>
              <a:gd name="adj" fmla="val 3157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04304" y="3255264"/>
            <a:ext cx="106070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 제거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357616" y="3246120"/>
            <a:ext cx="2834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객체가 사라진 경우</a:t>
            </a:r>
            <a:endParaRPr lang="en-US" sz="1260" dirty="0"/>
          </a:p>
        </p:txBody>
      </p:sp>
      <p:sp>
        <p:nvSpPr>
          <p:cNvPr id="13" name="Shape 10"/>
          <p:cNvSpPr/>
          <p:nvPr/>
        </p:nvSpPr>
        <p:spPr>
          <a:xfrm>
            <a:off x="6931152" y="3712464"/>
            <a:ext cx="1207008" cy="347472"/>
          </a:xfrm>
          <a:prstGeom prst="roundRect">
            <a:avLst>
              <a:gd name="adj" fmla="val 3157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04304" y="3785616"/>
            <a:ext cx="106070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변경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357616" y="3776472"/>
            <a:ext cx="2834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가구·비품 이동</a:t>
            </a:r>
            <a:endParaRPr lang="en-US" sz="1260" dirty="0"/>
          </a:p>
        </p:txBody>
      </p:sp>
      <p:sp>
        <p:nvSpPr>
          <p:cNvPr id="16" name="Shape 13"/>
          <p:cNvSpPr/>
          <p:nvPr/>
        </p:nvSpPr>
        <p:spPr>
          <a:xfrm>
            <a:off x="6931152" y="4242816"/>
            <a:ext cx="1207008" cy="347472"/>
          </a:xfrm>
          <a:prstGeom prst="roundRect">
            <a:avLst>
              <a:gd name="adj" fmla="val 3157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04304" y="4315968"/>
            <a:ext cx="106070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이벤트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357616" y="4306824"/>
            <a:ext cx="2834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객체 또는 위험 요소 감지</a:t>
            </a:r>
            <a:endParaRPr lang="en-US" sz="1260" dirty="0"/>
          </a:p>
        </p:txBody>
      </p:sp>
      <p:sp>
        <p:nvSpPr>
          <p:cNvPr id="19" name="Shape 16"/>
          <p:cNvSpPr/>
          <p:nvPr/>
        </p:nvSpPr>
        <p:spPr>
          <a:xfrm>
            <a:off x="6931152" y="4937760"/>
            <a:ext cx="4315968" cy="512064"/>
          </a:xfrm>
          <a:prstGeom prst="roundRect">
            <a:avLst>
              <a:gd name="adj" fmla="val 26786"/>
            </a:avLst>
          </a:prstGeom>
          <a:solidFill>
            <a:srgbClr val="EFF6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23176" y="5084064"/>
            <a:ext cx="3931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후보: YOLO / DETR / Mask R-CNN / SAM 계열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6547104"/>
            <a:ext cx="4754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산학협력프로젝트 제안서 기반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·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96926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1828800" cy="0"/>
          </a:xfrm>
          <a:prstGeom prst="line">
            <a:avLst/>
          </a:prstGeom>
          <a:noFill/>
          <a:ln w="3048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36192"/>
            <a:ext cx="2212848" cy="3968496"/>
          </a:xfrm>
          <a:prstGeom prst="roundRect">
            <a:avLst>
              <a:gd name="adj" fmla="val 6198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73936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60120" y="2286000"/>
            <a:ext cx="1719072" cy="402336"/>
          </a:xfrm>
          <a:prstGeom prst="roundRect">
            <a:avLst>
              <a:gd name="adj" fmla="val 2727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2359152"/>
            <a:ext cx="15727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360° 영상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960120" y="2980944"/>
            <a:ext cx="1719072" cy="402336"/>
          </a:xfrm>
          <a:prstGeom prst="roundRect">
            <a:avLst>
              <a:gd name="adj" fmla="val 2727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3054096"/>
            <a:ext cx="15727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 / 키프레임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960120" y="3675888"/>
            <a:ext cx="1719072" cy="402336"/>
          </a:xfrm>
          <a:prstGeom prst="roundRect">
            <a:avLst>
              <a:gd name="adj" fmla="val 2727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3749040"/>
            <a:ext cx="15727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Pose / Metadata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960120" y="4370832"/>
            <a:ext cx="1719072" cy="402336"/>
          </a:xfrm>
          <a:prstGeom prst="roundRect">
            <a:avLst>
              <a:gd name="adj" fmla="val 2727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4443984"/>
            <a:ext cx="15727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SLAM Map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2990088" y="3456432"/>
            <a:ext cx="932688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977640" y="1536192"/>
            <a:ext cx="2212848" cy="3968496"/>
          </a:xfrm>
          <a:prstGeom prst="roundRect">
            <a:avLst>
              <a:gd name="adj" fmla="val 6198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42232" y="1773936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Processing Layer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06240" y="2286000"/>
            <a:ext cx="1719072" cy="402336"/>
          </a:xfrm>
          <a:prstGeom prst="roundRect">
            <a:avLst>
              <a:gd name="adj" fmla="val 2727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9392" y="2359152"/>
            <a:ext cx="15727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 Extraction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4206240" y="2980944"/>
            <a:ext cx="1719072" cy="402336"/>
          </a:xfrm>
          <a:prstGeom prst="roundRect">
            <a:avLst>
              <a:gd name="adj" fmla="val 2727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9392" y="3054096"/>
            <a:ext cx="15727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Visual SLAM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4206240" y="3675888"/>
            <a:ext cx="1719072" cy="402336"/>
          </a:xfrm>
          <a:prstGeom prst="roundRect">
            <a:avLst>
              <a:gd name="adj" fmla="val 2727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9392" y="3749040"/>
            <a:ext cx="15727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Spatial Alignment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4206240" y="4370832"/>
            <a:ext cx="1719072" cy="402336"/>
          </a:xfrm>
          <a:prstGeom prst="roundRect">
            <a:avLst>
              <a:gd name="adj" fmla="val 2727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79392" y="4443984"/>
            <a:ext cx="15727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Change Detection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6236208" y="3456432"/>
            <a:ext cx="950976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242048" y="1536192"/>
            <a:ext cx="2212848" cy="3968496"/>
          </a:xfrm>
          <a:prstGeom prst="roundRect">
            <a:avLst>
              <a:gd name="adj" fmla="val 6198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1773936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 Layer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70648" y="2286000"/>
            <a:ext cx="1719072" cy="402336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2359152"/>
            <a:ext cx="15727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en-US" sz="1040" dirty="0"/>
          </a:p>
        </p:txBody>
      </p:sp>
      <p:sp>
        <p:nvSpPr>
          <p:cNvPr id="31" name="Shape 29"/>
          <p:cNvSpPr/>
          <p:nvPr/>
        </p:nvSpPr>
        <p:spPr>
          <a:xfrm>
            <a:off x="7470648" y="2980944"/>
            <a:ext cx="1719072" cy="402336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3800" y="3054096"/>
            <a:ext cx="15727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/ Storage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7470648" y="3675888"/>
            <a:ext cx="1719072" cy="402336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43800" y="3749040"/>
            <a:ext cx="15727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 History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7470648" y="4370832"/>
            <a:ext cx="1719072" cy="402336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43800" y="4443984"/>
            <a:ext cx="15727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Inference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9500616" y="3456432"/>
            <a:ext cx="45720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012680" y="1536192"/>
            <a:ext cx="1691640" cy="396849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177272" y="1773936"/>
            <a:ext cx="1371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Layer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241280" y="2286000"/>
            <a:ext cx="1225296" cy="402336"/>
          </a:xfrm>
          <a:prstGeom prst="roundRect">
            <a:avLst>
              <a:gd name="adj" fmla="val 2727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14432" y="2359152"/>
            <a:ext cx="10789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 Viewer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10241280" y="2980944"/>
            <a:ext cx="1225296" cy="402336"/>
          </a:xfrm>
          <a:prstGeom prst="roundRect">
            <a:avLst>
              <a:gd name="adj" fmla="val 2727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14432" y="3054096"/>
            <a:ext cx="10789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Timeline</a:t>
            </a:r>
            <a:endParaRPr lang="en-US" sz="1040" dirty="0"/>
          </a:p>
        </p:txBody>
      </p:sp>
      <p:sp>
        <p:nvSpPr>
          <p:cNvPr id="44" name="Shape 42"/>
          <p:cNvSpPr/>
          <p:nvPr/>
        </p:nvSpPr>
        <p:spPr>
          <a:xfrm>
            <a:off x="10241280" y="3675888"/>
            <a:ext cx="1225296" cy="402336"/>
          </a:xfrm>
          <a:prstGeom prst="roundRect">
            <a:avLst>
              <a:gd name="adj" fmla="val 2727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314432" y="3749040"/>
            <a:ext cx="10789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/ After</a:t>
            </a:r>
            <a:endParaRPr lang="en-US" sz="1040" dirty="0"/>
          </a:p>
        </p:txBody>
      </p:sp>
      <p:sp>
        <p:nvSpPr>
          <p:cNvPr id="46" name="Shape 44"/>
          <p:cNvSpPr/>
          <p:nvPr/>
        </p:nvSpPr>
        <p:spPr>
          <a:xfrm>
            <a:off x="10241280" y="4370832"/>
            <a:ext cx="1225296" cy="402336"/>
          </a:xfrm>
          <a:prstGeom prst="roundRect">
            <a:avLst>
              <a:gd name="adj" fmla="val 2727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314432" y="4443984"/>
            <a:ext cx="10789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</a:t>
            </a:r>
            <a:endParaRPr lang="en-US" sz="1040" dirty="0"/>
          </a:p>
        </p:txBody>
      </p:sp>
      <p:sp>
        <p:nvSpPr>
          <p:cNvPr id="48" name="Text 46"/>
          <p:cNvSpPr/>
          <p:nvPr/>
        </p:nvSpPr>
        <p:spPr>
          <a:xfrm>
            <a:off x="548640" y="6547104"/>
            <a:ext cx="4754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산학협력프로젝트 제안서 기반</a:t>
            </a:r>
            <a:endParaRPr lang="en-US" sz="75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01752"/>
            <a:ext cx="7132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·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96926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일정: MVP부터 단계적 고도화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1828800" cy="0"/>
          </a:xfrm>
          <a:prstGeom prst="line">
            <a:avLst/>
          </a:prstGeom>
          <a:noFill/>
          <a:ln w="3048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627632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956816"/>
            <a:ext cx="0" cy="45720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1872" y="1572768"/>
            <a:ext cx="7498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1554480"/>
            <a:ext cx="1234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처리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041648" y="1581912"/>
            <a:ext cx="685800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 영상 입력·프레임 추출·Cubemap 변환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41248" y="241401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743200"/>
            <a:ext cx="0" cy="45720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2359152"/>
            <a:ext cx="7498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340864"/>
            <a:ext cx="1234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추정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041648" y="2368296"/>
            <a:ext cx="685800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SLAM 실행·카메라 Pose·키프레임 생성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3200400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3529584"/>
            <a:ext cx="0" cy="45720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3145536"/>
            <a:ext cx="7498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3127248"/>
            <a:ext cx="1234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가상투어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041648" y="3154680"/>
            <a:ext cx="685800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노드·이동 링크·360 Viewer 구현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41248" y="3986784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4315968"/>
            <a:ext cx="0" cy="45720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61872" y="3931920"/>
            <a:ext cx="7498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60320" y="3913632"/>
            <a:ext cx="1234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정합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041648" y="3941064"/>
            <a:ext cx="685800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세션 좌표계 변환·동일 위치 대응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41248" y="4773168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61872" y="4718304"/>
            <a:ext cx="7498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60320" y="4700016"/>
            <a:ext cx="1234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 탐지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041648" y="4727448"/>
            <a:ext cx="685800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Before/After 비교·객체 변화·이벤트 기록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060704" y="5797296"/>
            <a:ext cx="10058400" cy="438912"/>
          </a:xfrm>
          <a:prstGeom prst="roundRect">
            <a:avLst>
              <a:gd name="adj" fmla="val 31250"/>
            </a:avLst>
          </a:prstGeom>
          <a:solidFill>
            <a:srgbClr val="F1F5F9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98448" y="5925312"/>
            <a:ext cx="956462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 목표: 2개 촬영 세션을 입력해 동일 위치 프레임을 찾고, 웹에서 Before/After 변화를 보여주는 MVP</a:t>
            </a:r>
            <a:endParaRPr lang="en-US" sz="1180" dirty="0"/>
          </a:p>
        </p:txBody>
      </p:sp>
      <p:sp>
        <p:nvSpPr>
          <p:cNvPr id="31" name="Text 29"/>
          <p:cNvSpPr/>
          <p:nvPr/>
        </p:nvSpPr>
        <p:spPr>
          <a:xfrm>
            <a:off x="548640" y="6547104"/>
            <a:ext cx="4754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산학협력프로젝트 제안서 기반</a:t>
            </a:r>
            <a:endParaRPr lang="en-US" sz="7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3" name="Image 0" descr="/mnt/data/a_wide_cinematic_futuristic_3d_visualization_sce_batch_2.png"/>
          <p:cNvPicPr>
            <a:picLocks noChangeAspect="1"/>
          </p:cNvPicPr>
          <p:nvPr/>
        </p:nvPicPr>
        <p:blipFill>
          <a:blip r:embed="rId3"/>
          <a:srcRect l="20808" r="20808"/>
          <a:stretch/>
        </p:blipFill>
        <p:spPr>
          <a:xfrm>
            <a:off x="5870448" y="475488"/>
            <a:ext cx="5833872" cy="5623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49808" y="804672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864108"/>
            <a:ext cx="122529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MESSAGE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45236" y="1522476"/>
            <a:ext cx="48463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공간을 “사진”으로 남기는 것을 넘어,</a:t>
            </a:r>
            <a:endParaRPr lang="en-US" sz="2900" dirty="0"/>
          </a:p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시간에 따라 변하는 </a:t>
            </a:r>
            <a:r>
              <a:rPr lang="en-US" sz="29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</a:t>
            </a: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9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86384" y="2907792"/>
            <a:ext cx="452628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① 공간 컨텍스트 자동 생성, ② 가상투어 자동 생성, ③ 시계열 변화 탐지입니다.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86384" y="4297680"/>
            <a:ext cx="4526280" cy="859536"/>
          </a:xfrm>
          <a:prstGeom prst="roundRect">
            <a:avLst>
              <a:gd name="adj" fmla="val 15957"/>
            </a:avLst>
          </a:prstGeom>
          <a:solidFill>
            <a:srgbClr val="172033"/>
          </a:solidFill>
          <a:ln w="12700">
            <a:solidFill>
              <a:srgbClr val="E2E8F0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4489704"/>
            <a:ext cx="74980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029968" y="4489704"/>
            <a:ext cx="30175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시설 점검 자동화 · 변화 이력 관리 · 관심 이벤트 시각화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4672" y="5733288"/>
            <a:ext cx="10058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846</Words>
  <Application>Microsoft Office PowerPoint</Application>
  <PresentationFormat>와이드스크린</PresentationFormat>
  <Paragraphs>187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3차원 가상투어 및 시계열 공간 변화 모니터링 발표자료</dc:title>
  <dc:subject>3차원 가상투어 생성 자동화 기반 시계열 공간 변화 모니터링 기술개발</dc:subject>
  <dc:creator>OpenAI</dc:creator>
  <cp:lastModifiedBy>Gwanu Seo</cp:lastModifiedBy>
  <cp:revision>3</cp:revision>
  <dcterms:created xsi:type="dcterms:W3CDTF">2026-09-13T02:48:02Z</dcterms:created>
  <dcterms:modified xsi:type="dcterms:W3CDTF">2026-09-13T02:53:37Z</dcterms:modified>
</cp:coreProperties>
</file>