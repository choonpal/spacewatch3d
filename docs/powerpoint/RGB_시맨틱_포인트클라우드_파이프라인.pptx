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91062bc494196" /><Relationship Type="http://schemas.openxmlformats.org/officeDocument/2006/relationships/extended-properties" Target="/docProps/app.xml" Id="Re1a97d57601c4d95" /><Relationship Type="http://schemas.openxmlformats.org/officeDocument/2006/relationships/officeDocument" Target="/ppt/presentation.xml" Id="R2534c4dbe1a9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a1ea0a5a2a46da"/>
  </p:sldMasterIdLst>
  <p:notesMasterIdLst>
    <p:notesMasterId xmlns:r="http://schemas.openxmlformats.org/officeDocument/2006/relationships" r:id="R754b9fc44ec84a71"/>
  </p:notesMasterIdLst>
  <p:sldIdLst>
    <p:sldId xmlns:r="http://schemas.openxmlformats.org/officeDocument/2006/relationships" id="256" r:id="R1008d87ca48443b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69dad46da44e0" /><Relationship Type="http://schemas.openxmlformats.org/officeDocument/2006/relationships/slideMaster" Target="/ppt/slideMasters/slideMaster1.xml" Id="R75a1ea0a5a2a46da" /><Relationship Type="http://schemas.openxmlformats.org/officeDocument/2006/relationships/notesMaster" Target="/ppt/notesMasters/notesMaster1.xml" Id="R754b9fc44ec84a71" /><Relationship Type="http://schemas.openxmlformats.org/officeDocument/2006/relationships/presProps" Target="/ppt/presProps.xml" Id="Rb3b8eced6bac4fb1" /><Relationship Type="http://schemas.openxmlformats.org/officeDocument/2006/relationships/tableStyles" Target="/ppt/tableStyles.xml" Id="Rc7964e5d6cb24bfd" /><Relationship Type="http://schemas.openxmlformats.org/officeDocument/2006/relationships/slide" Target="/ppt/slides/slide1.xml" Id="R1008d87ca484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87424e6c0042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dcdf6443048f8" /><Relationship Type="http://schemas.openxmlformats.org/officeDocument/2006/relationships/notesMaster" Target="/ppt/notesMasters/notesMaster1.xml" Id="R58cca3be1496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요청한 7개 단계의 파이프라인. 2단계 결과를 SfM과 segmentation에 함께 사용하고, MVS의 점과 카메라 정보를 분할 마스크와 결합한다.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 이미지 출처: TUM RGB-D Dataset freiburg1_xyz. https://cvg.cit.tum.de/data/datasets/rgbd-dataset/download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원본 RGB AVI: https://cvg.cit.tum.de/rgbd/dataset/freiburg1/rgbd_dataset_freiburg1_xyz-rgb.avi . 1단계 8초, 2단계 9초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3-a·4단계 실제 실험 이미지 출처: /home/kdj/Desktop/capstone/spacewatch3d 저장소의 commit 1abf99b, sfm_freiburg1_xyz_5fps/openmvs/dense_overview.png . 왼쪽 COLMAP SfM과 오른쪽 OpenMVS MVS 부분을 각각 사용. 원본 비교 이미지는 assets/experiment_sparse_dense_overview.png 에 보관.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3-b·5·6 이미지는 내장 image_gen으로 생성한 설명용 예시이며 실제 SAM 실행 결과 또는 실제 시맨틱 포인트클라우드 실험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마스크의 객체 영역 분리와 클래스 부여는 별개이다. SAM2를 쓸 경우 사용자 지정 프롬프트 또는 별도 분류 등을 통해 마스크의 클래스 이름을 연결해야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5단계: 각 3D 점을 카메라 파라미터로 모든 후보 영상에 재투영하며, 영상 범위·깊이·가려짐을 확인하여 관측 가능한 마스크만 통합한다. 실제 구현에서는 이미지/마스크의 왜곡 보정과 해상도를 맞춰야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2d353d3c546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a1afedb23f4b88" /><Relationship Type="http://schemas.openxmlformats.org/officeDocument/2006/relationships/slideLayout" Target="/ppt/slideLayouts/slideLayout1.xml" Id="R2ecc7f4c06b94e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c7f4c06b94e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98df9f7845c5" /><Relationship Type="http://schemas.openxmlformats.org/officeDocument/2006/relationships/image" Target="/ppt/media/image.png" Id="R9f210d54093b44b8" /><Relationship Type="http://schemas.openxmlformats.org/officeDocument/2006/relationships/image" Target="/ppt/media/image2.png" Id="Reeac998f8b574315" /><Relationship Type="http://schemas.openxmlformats.org/officeDocument/2006/relationships/image" Target="/ppt/media/image3.png" Id="R9c2d2c7f09ef4f59" /><Relationship Type="http://schemas.openxmlformats.org/officeDocument/2006/relationships/image" Target="/ppt/media/image4.png" Id="Rc5212ca2dcae461d" /><Relationship Type="http://schemas.openxmlformats.org/officeDocument/2006/relationships/image" Target="/ppt/media/image5.png" Id="R546303381b114ecb" /><Relationship Type="http://schemas.openxmlformats.org/officeDocument/2006/relationships/image" Target="/ppt/media/image6.png" Id="R63b3d11316874b09" /><Relationship Type="http://schemas.openxmlformats.org/officeDocument/2006/relationships/image" Target="/ppt/media/image7.png" Id="R4b43a7f747c74e6f" /><Relationship Type="http://schemas.openxmlformats.org/officeDocument/2006/relationships/notesSlide" Target="/ppt/notesSlides/notesSlide1.xml" Id="R8b291ffca1db4c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A437913-2749-4A4C-8EAF-95E55FB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050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rPr>
              <a:t>RGB 영상 기반 시맨틱 포인트클라우드 생성 파이프라인</a:t>
            </a:r>
          </a:p>
        </p:txBody>
      </p:sp>
      <p:sp>
        <p:nvSpPr>
          <p:cNvPr id="2" name="stage_input">
            <a:extLst xmlns:a="http://schemas.openxmlformats.org/drawingml/2006/main">
              <a:ext uri="{FF2B5EF4-FFF2-40B4-BE49-F238E27FC236}">
                <a16:creationId xmlns:a16="http://schemas.microsoft.com/office/drawing/2014/main" id="{B73BC74F-3816-4EA3-9FCE-A50F61C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F40"/>
            </a:solidFill>
          </a:ln>
        </p:spPr>
      </p:sp>
      <p:sp>
        <p:nvSpPr>
          <p:cNvPr id="3" name="heading_input">
            <a:extLst xmlns:a="http://schemas.openxmlformats.org/drawingml/2006/main">
              <a:ext uri="{FF2B5EF4-FFF2-40B4-BE49-F238E27FC236}">
                <a16:creationId xmlns:a16="http://schemas.microsoft.com/office/drawing/2014/main" id="{1DBFEAEA-D534-4E12-B19A-B0EE5C51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rPr>
              <a:t>1  RGB 영상 입력</a:t>
            </a:r>
          </a:p>
        </p:txBody>
      </p:sp>
      <p:sp>
        <p:nvSpPr>
          <p:cNvPr id="4" name="tool_input">
            <a:extLst xmlns:a="http://schemas.openxmlformats.org/drawingml/2006/main">
              <a:ext uri="{FF2B5EF4-FFF2-40B4-BE49-F238E27FC236}">
                <a16:creationId xmlns:a16="http://schemas.microsoft.com/office/drawing/2014/main" id="{9C506D55-6CA4-427C-BDB5-D91A481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AVI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10d54093b44b8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462915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6" name="caption_input">
            <a:extLst xmlns:a="http://schemas.openxmlformats.org/drawingml/2006/main">
              <a:ext uri="{FF2B5EF4-FFF2-40B4-BE49-F238E27FC236}">
                <a16:creationId xmlns:a16="http://schemas.microsoft.com/office/drawing/2014/main" id="{FB8127A4-F6AC-46DB-9F10-5831DCA8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freiburg1_xyz 영상을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RGB 입력으로 사용</a:t>
            </a:r>
          </a:p>
        </p:txBody>
      </p:sp>
      <p:sp>
        <p:nvSpPr>
          <p:cNvPr id="7" name="stage_frames">
            <a:extLst xmlns:a="http://schemas.openxmlformats.org/drawingml/2006/main">
              <a:ext uri="{FF2B5EF4-FFF2-40B4-BE49-F238E27FC236}">
                <a16:creationId xmlns:a16="http://schemas.microsoft.com/office/drawing/2014/main" id="{F090BB0E-BDCD-4B0A-B8D6-C9D0C3C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2F40"/>
            </a:solidFill>
          </a:ln>
        </p:spPr>
      </p:sp>
      <p:sp>
        <p:nvSpPr>
          <p:cNvPr id="8" name="heading_frames">
            <a:extLst xmlns:a="http://schemas.openxmlformats.org/drawingml/2006/main">
              <a:ext uri="{FF2B5EF4-FFF2-40B4-BE49-F238E27FC236}">
                <a16:creationId xmlns:a16="http://schemas.microsoft.com/office/drawing/2014/main" id="{53D0D74F-EBA6-4E4A-AC8C-532E1B10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9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2F40"/>
                </a:solidFill>
                <a:latin typeface="Noto Sans CJK KR"/>
                <a:ea typeface="Noto Sans CJK KR"/>
                <a:cs typeface="Noto Sans CJK KR"/>
              </a:rPr>
              <a:t>2  프레임 추출</a:t>
            </a:r>
          </a:p>
        </p:txBody>
      </p:sp>
      <p:sp>
        <p:nvSpPr>
          <p:cNvPr id="9" name="tool_frames">
            <a:extLst xmlns:a="http://schemas.openxmlformats.org/drawingml/2006/main">
              <a:ext uri="{FF2B5EF4-FFF2-40B4-BE49-F238E27FC236}">
                <a16:creationId xmlns:a16="http://schemas.microsoft.com/office/drawing/2014/main" id="{D4AC7315-558C-4216-B84C-49DD4CE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00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3–5 FPS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c998f8b574315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8125" y="462915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11" name="caption_frames">
            <a:extLst xmlns:a="http://schemas.openxmlformats.org/drawingml/2006/main">
              <a:ext uri="{FF2B5EF4-FFF2-40B4-BE49-F238E27FC236}">
                <a16:creationId xmlns:a16="http://schemas.microsoft.com/office/drawing/2014/main" id="{208ACE4D-F82F-4521-8104-3E777892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초당 3–5장 추출 후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이미지 파일로 저장</a:t>
            </a:r>
          </a:p>
        </p:txBody>
      </p:sp>
      <p:sp>
        <p:nvSpPr>
          <p:cNvPr id="12" name="stage_sfm">
            <a:extLst xmlns:a="http://schemas.openxmlformats.org/drawingml/2006/main">
              <a:ext uri="{FF2B5EF4-FFF2-40B4-BE49-F238E27FC236}">
                <a16:creationId xmlns:a16="http://schemas.microsoft.com/office/drawing/2014/main" id="{4CF8D938-1959-49CD-861D-2A6CB43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6210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6BA6"/>
            </a:solidFill>
          </a:ln>
        </p:spPr>
      </p:sp>
      <p:sp>
        <p:nvSpPr>
          <p:cNvPr id="13" name="heading_sfm">
            <a:extLst xmlns:a="http://schemas.openxmlformats.org/drawingml/2006/main">
              <a:ext uri="{FF2B5EF4-FFF2-40B4-BE49-F238E27FC236}">
                <a16:creationId xmlns:a16="http://schemas.microsoft.com/office/drawing/2014/main" id="{909CB4A5-8CD1-4B57-8164-C9B2C7FA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rPr>
              <a:t>3-a  SfM 생성</a:t>
            </a:r>
          </a:p>
        </p:txBody>
      </p:sp>
      <p:sp>
        <p:nvSpPr>
          <p:cNvPr id="14" name="tool_sfm">
            <a:extLst xmlns:a="http://schemas.openxmlformats.org/drawingml/2006/main">
              <a:ext uri="{FF2B5EF4-FFF2-40B4-BE49-F238E27FC236}">
                <a16:creationId xmlns:a16="http://schemas.microsoft.com/office/drawing/2014/main" id="{E533F9B8-F165-4875-B314-2C13B94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COLMAP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2c7f09ef4f59"/>
          <a:srcRect xmlns:a="http://schemas.openxmlformats.org/drawingml/2006/main" l="0" t="8561" r="0" b="8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0025" y="247650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16" name="caption_sfm">
            <a:extLst xmlns:a="http://schemas.openxmlformats.org/drawingml/2006/main">
              <a:ext uri="{FF2B5EF4-FFF2-40B4-BE49-F238E27FC236}">
                <a16:creationId xmlns:a16="http://schemas.microsoft.com/office/drawing/2014/main" id="{F5913AE3-8B25-4A78-8E50-87214AEB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카메라 위치·자세와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희소 3D 점 복원</a:t>
            </a:r>
          </a:p>
        </p:txBody>
      </p:sp>
      <p:sp>
        <p:nvSpPr>
          <p:cNvPr id="17" name="stage_mask">
            <a:extLst xmlns:a="http://schemas.openxmlformats.org/drawingml/2006/main">
              <a:ext uri="{FF2B5EF4-FFF2-40B4-BE49-F238E27FC236}">
                <a16:creationId xmlns:a16="http://schemas.microsoft.com/office/drawing/2014/main" id="{8EFAECCE-4527-425C-9B7C-919F9093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15315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8A87"/>
            </a:solidFill>
          </a:ln>
        </p:spPr>
      </p:sp>
      <p:sp>
        <p:nvSpPr>
          <p:cNvPr id="18" name="heading_mask">
            <a:extLst xmlns:a="http://schemas.openxmlformats.org/drawingml/2006/main">
              <a:ext uri="{FF2B5EF4-FFF2-40B4-BE49-F238E27FC236}">
                <a16:creationId xmlns:a16="http://schemas.microsoft.com/office/drawing/2014/main" id="{64EABFA6-6211-44D8-AB2E-ED8F7D01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57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rPr>
              <a:t>3-b  분할 마스크 생성</a:t>
            </a:r>
          </a:p>
        </p:txBody>
      </p:sp>
      <p:sp>
        <p:nvSpPr>
          <p:cNvPr id="19" name="tool_mask">
            <a:extLst xmlns:a="http://schemas.openxmlformats.org/drawingml/2006/main">
              <a:ext uri="{FF2B5EF4-FFF2-40B4-BE49-F238E27FC236}">
                <a16:creationId xmlns:a16="http://schemas.microsoft.com/office/drawing/2014/main" id="{3849A79D-4AFB-473F-BFCD-BC272CA7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6389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SAM2 / SAM3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12ca2dcae461d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0025" y="706755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21" name="caption_mask">
            <a:extLst xmlns:a="http://schemas.openxmlformats.org/drawingml/2006/main">
              <a:ext uri="{FF2B5EF4-FFF2-40B4-BE49-F238E27FC236}">
                <a16:creationId xmlns:a16="http://schemas.microsoft.com/office/drawing/2014/main" id="{DA3971C8-AA78-43C5-8CFC-9BEB9490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934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프레임별 마스크 생성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마스크에 클래스 연결</a:t>
            </a:r>
          </a:p>
        </p:txBody>
      </p:sp>
      <p:sp>
        <p:nvSpPr>
          <p:cNvPr id="22" name="stage_mvs">
            <a:extLst xmlns:a="http://schemas.openxmlformats.org/drawingml/2006/main">
              <a:ext uri="{FF2B5EF4-FFF2-40B4-BE49-F238E27FC236}">
                <a16:creationId xmlns:a16="http://schemas.microsoft.com/office/drawing/2014/main" id="{698434B6-6779-4EFD-B27B-AF176C05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56210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6BA6"/>
            </a:solidFill>
          </a:ln>
        </p:spPr>
      </p:sp>
      <p:sp>
        <p:nvSpPr>
          <p:cNvPr id="23" name="heading_mvs">
            <a:extLst xmlns:a="http://schemas.openxmlformats.org/drawingml/2006/main">
              <a:ext uri="{FF2B5EF4-FFF2-40B4-BE49-F238E27FC236}">
                <a16:creationId xmlns:a16="http://schemas.microsoft.com/office/drawing/2014/main" id="{6D02FC76-CFCA-4DE9-8760-B37EA4C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rPr>
              <a:t>4  MVS 생성</a:t>
            </a:r>
          </a:p>
        </p:txBody>
      </p:sp>
      <p:sp>
        <p:nvSpPr>
          <p:cNvPr id="24" name="tool_mvs">
            <a:extLst xmlns:a="http://schemas.openxmlformats.org/drawingml/2006/main">
              <a:ext uri="{FF2B5EF4-FFF2-40B4-BE49-F238E27FC236}">
                <a16:creationId xmlns:a16="http://schemas.microsoft.com/office/drawing/2014/main" id="{05365715-B7D1-49F3-AB36-7A8320EF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47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OpenMVS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303381b114ecb"/>
          <a:srcRect xmlns:a="http://schemas.openxmlformats.org/drawingml/2006/main" l="0" t="8561" r="0" b="8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0475" y="247650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26" name="caption_mvs">
            <a:extLst xmlns:a="http://schemas.openxmlformats.org/drawingml/2006/main">
              <a:ext uri="{FF2B5EF4-FFF2-40B4-BE49-F238E27FC236}">
                <a16:creationId xmlns:a16="http://schemas.microsoft.com/office/drawing/2014/main" id="{CE6E3CBB-3B8C-4737-A4A9-4A00C91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3434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SfM 결과를 이용해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조밀한 3D 점 복원</a:t>
            </a:r>
          </a:p>
        </p:txBody>
      </p:sp>
      <p:sp>
        <p:nvSpPr>
          <p:cNvPr id="27" name="stage_fusion">
            <a:extLst xmlns:a="http://schemas.openxmlformats.org/drawingml/2006/main">
              <a:ext uri="{FF2B5EF4-FFF2-40B4-BE49-F238E27FC236}">
                <a16:creationId xmlns:a16="http://schemas.microsoft.com/office/drawing/2014/main" id="{DF633B17-F88D-4DC7-B0D9-4D569D37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8A87"/>
            </a:solidFill>
          </a:ln>
        </p:spPr>
      </p:sp>
      <p:sp>
        <p:nvSpPr>
          <p:cNvPr id="28" name="heading_fusion">
            <a:extLst xmlns:a="http://schemas.openxmlformats.org/drawingml/2006/main">
              <a:ext uri="{FF2B5EF4-FFF2-40B4-BE49-F238E27FC236}">
                <a16:creationId xmlns:a16="http://schemas.microsoft.com/office/drawing/2014/main" id="{933364EE-2AFC-4027-959B-8DBD1C4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57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rPr>
              <a:t>5  클래스 주입</a:t>
            </a:r>
          </a:p>
        </p:txBody>
      </p:sp>
      <p:sp>
        <p:nvSpPr>
          <p:cNvPr id="29" name="tool_fusion">
            <a:extLst xmlns:a="http://schemas.openxmlformats.org/drawingml/2006/main">
              <a:ext uri="{FF2B5EF4-FFF2-40B4-BE49-F238E27FC236}">
                <a16:creationId xmlns:a16="http://schemas.microsoft.com/office/drawing/2014/main" id="{6059BBFC-18C6-4130-BC7B-0681747E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389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다중 시점 투영·통합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d11316874b09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0475" y="706755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31" name="caption_fusion">
            <a:extLst xmlns:a="http://schemas.openxmlformats.org/drawingml/2006/main">
              <a:ext uri="{FF2B5EF4-FFF2-40B4-BE49-F238E27FC236}">
                <a16:creationId xmlns:a16="http://schemas.microsoft.com/office/drawing/2014/main" id="{90BC542A-62A1-4EBE-8CA2-9DF2876D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934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각 점을 모든 영상에 투영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가시 마스크의 클래스 통합</a:t>
            </a:r>
          </a:p>
        </p:txBody>
      </p:sp>
      <p:sp>
        <p:nvSpPr>
          <p:cNvPr id="32" name="stage_output">
            <a:extLst xmlns:a="http://schemas.openxmlformats.org/drawingml/2006/main">
              <a:ext uri="{FF2B5EF4-FFF2-40B4-BE49-F238E27FC236}">
                <a16:creationId xmlns:a16="http://schemas.microsoft.com/office/drawing/2014/main" id="{566121A7-E889-498D-922D-49D01508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153150"/>
            <a:ext cx="27813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8A87"/>
            </a:solidFill>
          </a:ln>
        </p:spPr>
      </p:sp>
      <p:sp>
        <p:nvSpPr>
          <p:cNvPr id="33" name="heading_output">
            <a:extLst xmlns:a="http://schemas.openxmlformats.org/drawingml/2006/main">
              <a:ext uri="{FF2B5EF4-FFF2-40B4-BE49-F238E27FC236}">
                <a16:creationId xmlns:a16="http://schemas.microsoft.com/office/drawing/2014/main" id="{09D7640D-573D-47E8-80E7-C5C2D68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257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38A87"/>
                </a:solidFill>
                <a:latin typeface="Noto Sans CJK KR"/>
                <a:ea typeface="Noto Sans CJK KR"/>
                <a:cs typeface="Noto Sans CJK KR"/>
              </a:rPr>
              <a:t>6  Point cloud 반환</a:t>
            </a:r>
          </a:p>
        </p:txBody>
      </p:sp>
      <p:sp>
        <p:nvSpPr>
          <p:cNvPr id="34" name="tool_output">
            <a:extLst xmlns:a="http://schemas.openxmlformats.org/drawingml/2006/main">
              <a:ext uri="{FF2B5EF4-FFF2-40B4-BE49-F238E27FC236}">
                <a16:creationId xmlns:a16="http://schemas.microsoft.com/office/drawing/2014/main" id="{D75CDCDC-20E7-4F09-AFA7-8854D431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6389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클래스별 색상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3a7f747c74e6f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20925" y="7067550"/>
            <a:ext cx="2495550" cy="1752600"/>
          </a:xfrm>
          <a:prstGeom xmlns:a="http://schemas.openxmlformats.org/drawingml/2006/main" prst="rect">
            <a:avLst/>
          </a:prstGeom>
        </p:spPr>
      </p:pic>
      <p:sp>
        <p:nvSpPr>
          <p:cNvPr id="36" name="caption_output">
            <a:extLst xmlns:a="http://schemas.openxmlformats.org/drawingml/2006/main">
              <a:ext uri="{FF2B5EF4-FFF2-40B4-BE49-F238E27FC236}">
                <a16:creationId xmlns:a16="http://schemas.microsoft.com/office/drawing/2014/main" id="{CD4243D2-3AA3-42BD-97BE-170E505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8934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각 점의 클래스에 따라</a:t>
            </a:r>
          </a:p>
          <a:p xmlns:a="http://schemas.openxmlformats.org/drawingml/2006/main">
            <a:pPr algn="l">
              <a:def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42566B"/>
                </a:solidFill>
                <a:latin typeface="Noto Sans CJK KR"/>
                <a:ea typeface="Noto Sans CJK KR"/>
                <a:cs typeface="Noto Sans CJK KR"/>
              </a:rPr>
              <a:t>색칠한 포인트클라우드</a:t>
            </a:r>
          </a:p>
        </p:txBody>
      </p:sp>
      <p:cxnSp>
        <p:nvCxnSpPr>
          <p:cNvPr id="82" name=""/>
          <p:cNvCxnSpPr>
            <a:stCxn xmlns:a="http://schemas.openxmlformats.org/drawingml/2006/main" id="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53911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909F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686550" y="3238500"/>
            <a:ext cx="99060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76BA6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7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686550" y="5391150"/>
            <a:ext cx="990600" cy="2438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38A87"/>
            </a:solidFill>
            <a:prstDash val="solid"/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458450" y="3238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6BA6"/>
            </a:solidFill>
            <a:prstDash val="solid"/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2668250" y="491490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6BA6"/>
            </a:solidFill>
            <a:prstDash val="solid"/>
            <a:tailEnd type="triangle" w="med" len="med"/>
          </a:ln>
        </p:spPr>
      </p:cxnSp>
      <p:cxnSp>
        <p:nvCxnSpPr>
          <p:cNvPr id="87" name=""/>
          <p:cNvCxnSpPr>
            <a:stCxn xmlns:a="http://schemas.openxmlformats.org/drawingml/2006/main" id="1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458450" y="7829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8A87"/>
            </a:solidFill>
            <a:prstDash val="solid"/>
            <a:tailEnd type="triangle" w="med" len="med"/>
          </a:ln>
        </p:spPr>
      </p:cxnSp>
      <p:cxnSp>
        <p:nvCxnSpPr>
          <p:cNvPr id="88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058900" y="7829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8A87"/>
            </a:solidFill>
            <a:prstDash val="solid"/>
            <a:tailEnd type="triangle" w="med" len="med"/>
          </a:ln>
        </p:spPr>
      </p:cxnSp>
      <p:sp>
        <p:nvSpPr>
          <p:cNvPr id="44" name="camera_link">
            <a:extLst xmlns:a="http://schemas.openxmlformats.org/drawingml/2006/main">
              <a:ext uri="{FF2B5EF4-FFF2-40B4-BE49-F238E27FC236}">
                <a16:creationId xmlns:a16="http://schemas.microsoft.com/office/drawing/2014/main" id="{4BC9E02F-1498-4653-9D91-49CE7B8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2863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376BA6"/>
                </a:solidFill>
                <a:latin typeface="Noto Sans CJK KR"/>
                <a:ea typeface="Noto Sans CJK KR"/>
                <a:cs typeface="Noto Sans CJK KR"/>
              </a:rPr>
              <a:t>3D 점 + 카메라 정보</a:t>
            </a:r>
          </a:p>
        </p:txBody>
      </p:sp>
      <p:sp>
        <p:nvSpPr>
          <p:cNvPr id="45" name="disclosure">
            <a:extLst xmlns:a="http://schemas.openxmlformats.org/drawingml/2006/main">
              <a:ext uri="{FF2B5EF4-FFF2-40B4-BE49-F238E27FC236}">
                <a16:creationId xmlns:a16="http://schemas.microsoft.com/office/drawing/2014/main" id="{A9BB828B-CA7E-4938-B9D7-C285357F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63125"/>
            <a:ext cx="1719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5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637586"/>
                </a:solidFill>
                <a:latin typeface="Noto Sans CJK KR"/>
                <a:ea typeface="Noto Sans CJK KR"/>
                <a:cs typeface="Noto Sans CJK KR"/>
              </a:rPr>
              <a:t>1·2: freiburg1_xyz RGB 영상   3-a·4: 기존 실험 이미지   3-b·5·6: AI 생성 설명용 예시</a:t>
            </a:r>
          </a:p>
        </p:txBody>
      </p:sp>
    </p:spTree>
    <p:extLst>
      <p:ext uri="{BB962C8B-B14F-4D97-AF65-F5344CB8AC3E}">
        <p14:creationId xmlns:p14="http://schemas.microsoft.com/office/powerpoint/2010/main" val="2096358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2026-09-18T05:46:07.6870000Z</dcterms:created>
  <dcterms:modified xsi:type="dcterms:W3CDTF">2026-09-18T05:46:07.6870000Z</dcterms:modified>
</coreProperties>
</file>