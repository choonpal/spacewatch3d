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3aab875cb04a8e" /><Relationship Type="http://schemas.openxmlformats.org/officeDocument/2006/relationships/extended-properties" Target="/docProps/app.xml" Id="R3867defc323042ab" /><Relationship Type="http://schemas.openxmlformats.org/officeDocument/2006/relationships/officeDocument" Target="/ppt/presentation.xml" Id="R4808f2bc4a72439f" /></Relationships>
</file>

<file path=ppt/presentation.xml><?xml version="1.0" encoding="utf-8"?>
<p:presentation xmlns:p="http://schemas.openxmlformats.org/presentationml/2006/main">
  <p:sldMasterIdLst>
    <p:sldMasterId xmlns:r="http://schemas.openxmlformats.org/officeDocument/2006/relationships" id="2147483648" r:id="R1d9acfd7a5a14e52"/>
  </p:sldMasterIdLst>
  <p:notesMasterIdLst>
    <p:notesMasterId xmlns:r="http://schemas.openxmlformats.org/officeDocument/2006/relationships" r:id="R4f700ebf08e649a5"/>
  </p:notesMasterIdLst>
  <p:sldIdLst>
    <p:sldId xmlns:r="http://schemas.openxmlformats.org/officeDocument/2006/relationships" id="256" r:id="R54060ce18fa64096"/>
    <p:sldId xmlns:r="http://schemas.openxmlformats.org/officeDocument/2006/relationships" id="257" r:id="R2b37a03af0ef45c2"/>
    <p:sldId xmlns:r="http://schemas.openxmlformats.org/officeDocument/2006/relationships" id="258" r:id="R8808906abcb64935"/>
    <p:sldId xmlns:r="http://schemas.openxmlformats.org/officeDocument/2006/relationships" id="259" r:id="Rd102fdfd2ea24bc5"/>
    <p:sldId xmlns:r="http://schemas.openxmlformats.org/officeDocument/2006/relationships" id="260" r:id="Rcdd3a3c5449d4dfb"/>
    <p:sldId xmlns:r="http://schemas.openxmlformats.org/officeDocument/2006/relationships" id="261" r:id="Re59ef131687a4131"/>
    <p:sldId xmlns:r="http://schemas.openxmlformats.org/officeDocument/2006/relationships" id="262" r:id="Re63b3c7057464f1a"/>
    <p:sldId xmlns:r="http://schemas.openxmlformats.org/officeDocument/2006/relationships" id="263" r:id="Recb8a36831044d22"/>
    <p:sldId xmlns:r="http://schemas.openxmlformats.org/officeDocument/2006/relationships" id="264" r:id="R4dc9bb4798634642"/>
    <p:sldId xmlns:r="http://schemas.openxmlformats.org/officeDocument/2006/relationships" id="265" r:id="R88f31dbd4bf94c9e"/>
    <p:sldId xmlns:r="http://schemas.openxmlformats.org/officeDocument/2006/relationships" id="266" r:id="Rc40182a1ad3948a3"/>
    <p:sldId xmlns:r="http://schemas.openxmlformats.org/officeDocument/2006/relationships" id="267" r:id="R0fac522ddfd8437b"/>
    <p:sldId xmlns:r="http://schemas.openxmlformats.org/officeDocument/2006/relationships" id="268" r:id="Rf2a85bde27ac48b8"/>
    <p:sldId xmlns:r="http://schemas.openxmlformats.org/officeDocument/2006/relationships" id="269" r:id="Rca9ea841ff9c44d5"/>
    <p:sldId xmlns:r="http://schemas.openxmlformats.org/officeDocument/2006/relationships" id="270" r:id="R8ecef7926bdf449e"/>
    <p:sldId xmlns:r="http://schemas.openxmlformats.org/officeDocument/2006/relationships" id="271" r:id="R3951534bb506424a"/>
    <p:sldId xmlns:r="http://schemas.openxmlformats.org/officeDocument/2006/relationships" id="272" r:id="R8005394ad7a346af"/>
    <p:sldId xmlns:r="http://schemas.openxmlformats.org/officeDocument/2006/relationships" id="273" r:id="R902c42a66d464e9d"/>
    <p:sldId xmlns:r="http://schemas.openxmlformats.org/officeDocument/2006/relationships" id="274" r:id="R6a44faa7bab84e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ac0a3ff935e4772" /><Relationship Type="http://schemas.openxmlformats.org/officeDocument/2006/relationships/slideMaster" Target="/ppt/slideMasters/slideMaster1.xml" Id="R1d9acfd7a5a14e52" /><Relationship Type="http://schemas.openxmlformats.org/officeDocument/2006/relationships/notesMaster" Target="/ppt/notesMasters/notesMaster1.xml" Id="R4f700ebf08e649a5" /><Relationship Type="http://schemas.openxmlformats.org/officeDocument/2006/relationships/presProps" Target="/ppt/presProps.xml" Id="R89c703e1f48c435c" /><Relationship Type="http://schemas.openxmlformats.org/officeDocument/2006/relationships/viewProps" Target="/ppt/viewProps.xml" Id="R1ca48538815a43bf" /><Relationship Type="http://schemas.openxmlformats.org/officeDocument/2006/relationships/tableStyles" Target="/ppt/tableStyles.xml" Id="Rfe9498e091a4480a" /><Relationship Type="http://schemas.openxmlformats.org/officeDocument/2006/relationships/slide" Target="/ppt/slides/slide1.xml" Id="R54060ce18fa64096" /><Relationship Type="http://schemas.openxmlformats.org/officeDocument/2006/relationships/slide" Target="/ppt/slides/slide2.xml" Id="R2b37a03af0ef45c2" /><Relationship Type="http://schemas.openxmlformats.org/officeDocument/2006/relationships/slide" Target="/ppt/slides/slide3.xml" Id="R8808906abcb64935" /><Relationship Type="http://schemas.openxmlformats.org/officeDocument/2006/relationships/slide" Target="/ppt/slides/slide4.xml" Id="Rd102fdfd2ea24bc5" /><Relationship Type="http://schemas.openxmlformats.org/officeDocument/2006/relationships/slide" Target="/ppt/slides/slide5.xml" Id="Rcdd3a3c5449d4dfb" /><Relationship Type="http://schemas.openxmlformats.org/officeDocument/2006/relationships/slide" Target="/ppt/slides/slide6.xml" Id="Re59ef131687a4131" /><Relationship Type="http://schemas.openxmlformats.org/officeDocument/2006/relationships/slide" Target="/ppt/slides/slide7.xml" Id="Re63b3c7057464f1a" /><Relationship Type="http://schemas.openxmlformats.org/officeDocument/2006/relationships/slide" Target="/ppt/slides/slide8.xml" Id="Recb8a36831044d22" /><Relationship Type="http://schemas.openxmlformats.org/officeDocument/2006/relationships/slide" Target="/ppt/slides/slide9.xml" Id="R4dc9bb4798634642" /><Relationship Type="http://schemas.openxmlformats.org/officeDocument/2006/relationships/slide" Target="/ppt/slides/slide10.xml" Id="R88f31dbd4bf94c9e" /><Relationship Type="http://schemas.openxmlformats.org/officeDocument/2006/relationships/slide" Target="/ppt/slides/slide11.xml" Id="Rc40182a1ad3948a3" /><Relationship Type="http://schemas.openxmlformats.org/officeDocument/2006/relationships/slide" Target="/ppt/slides/slide12.xml" Id="R0fac522ddfd8437b" /><Relationship Type="http://schemas.openxmlformats.org/officeDocument/2006/relationships/slide" Target="/ppt/slides/slide13.xml" Id="Rf2a85bde27ac48b8" /><Relationship Type="http://schemas.openxmlformats.org/officeDocument/2006/relationships/slide" Target="/ppt/slides/slide14.xml" Id="Rca9ea841ff9c44d5" /><Relationship Type="http://schemas.openxmlformats.org/officeDocument/2006/relationships/slide" Target="/ppt/slides/slide15.xml" Id="R8ecef7926bdf449e" /><Relationship Type="http://schemas.openxmlformats.org/officeDocument/2006/relationships/slide" Target="/ppt/slides/slide16.xml" Id="R3951534bb506424a" /><Relationship Type="http://schemas.openxmlformats.org/officeDocument/2006/relationships/slide" Target="/ppt/slides/slide17.xml" Id="R8005394ad7a346af" /><Relationship Type="http://schemas.openxmlformats.org/officeDocument/2006/relationships/slide" Target="/ppt/slides/slide18.xml" Id="R902c42a66d464e9d" /><Relationship Type="http://schemas.openxmlformats.org/officeDocument/2006/relationships/slide" Target="/ppt/slides/slide19.xml" Id="R6a44faa7bab84e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6d4e11209f4d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3c03a50285451f" /><Relationship Type="http://schemas.openxmlformats.org/officeDocument/2006/relationships/notesMaster" Target="/ppt/notesMasters/notesMaster1.xml" Id="R03d270fde7df4a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8c5040cef14101" /><Relationship Type="http://schemas.openxmlformats.org/officeDocument/2006/relationships/notesMaster" Target="/ppt/notesMasters/notesMaster1.xml" Id="R314e2873bf8340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d49af432f9415e" /><Relationship Type="http://schemas.openxmlformats.org/officeDocument/2006/relationships/notesMaster" Target="/ppt/notesMasters/notesMaster1.xml" Id="R933ee5ef729a43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bfffe035fc4ea1" /><Relationship Type="http://schemas.openxmlformats.org/officeDocument/2006/relationships/notesMaster" Target="/ppt/notesMasters/notesMaster1.xml" Id="R4dd2c5bf2a964e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541fa1b54c42bc" /><Relationship Type="http://schemas.openxmlformats.org/officeDocument/2006/relationships/notesMaster" Target="/ppt/notesMasters/notesMaster1.xml" Id="R35af1bc6a40441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ea51b1afa54950" /><Relationship Type="http://schemas.openxmlformats.org/officeDocument/2006/relationships/notesMaster" Target="/ppt/notesMasters/notesMaster1.xml" Id="R772f1d79395842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34860033fa469f" /><Relationship Type="http://schemas.openxmlformats.org/officeDocument/2006/relationships/notesMaster" Target="/ppt/notesMasters/notesMaster1.xml" Id="Rd68722a7495141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b9c006c9654fd6" /><Relationship Type="http://schemas.openxmlformats.org/officeDocument/2006/relationships/notesMaster" Target="/ppt/notesMasters/notesMaster1.xml" Id="R65f483b15db145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0b73e3b53243b2" /><Relationship Type="http://schemas.openxmlformats.org/officeDocument/2006/relationships/notesMaster" Target="/ppt/notesMasters/notesMaster1.xml" Id="Rf4b918c03afa4d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b9270dcffb49b7" /><Relationship Type="http://schemas.openxmlformats.org/officeDocument/2006/relationships/notesMaster" Target="/ppt/notesMasters/notesMaster1.xml" Id="Rde0c72601d074d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a533a301ae43de" /><Relationship Type="http://schemas.openxmlformats.org/officeDocument/2006/relationships/notesMaster" Target="/ppt/notesMasters/notesMaster1.xml" Id="R80fadd8a95c24c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682ae4e25d4868" /><Relationship Type="http://schemas.openxmlformats.org/officeDocument/2006/relationships/notesMaster" Target="/ppt/notesMasters/notesMaster1.xml" Id="R7e95d69367de4a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4b44f91b974bbc" /><Relationship Type="http://schemas.openxmlformats.org/officeDocument/2006/relationships/notesMaster" Target="/ppt/notesMasters/notesMaster1.xml" Id="Ref8ce2224f6d4f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d3f97035c34383" /><Relationship Type="http://schemas.openxmlformats.org/officeDocument/2006/relationships/notesMaster" Target="/ppt/notesMasters/notesMaster1.xml" Id="R830f1613f76841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20608b32664fff" /><Relationship Type="http://schemas.openxmlformats.org/officeDocument/2006/relationships/notesMaster" Target="/ppt/notesMasters/notesMaster1.xml" Id="R7b2b365887f64f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2477a816bd4f43" /><Relationship Type="http://schemas.openxmlformats.org/officeDocument/2006/relationships/notesMaster" Target="/ppt/notesMasters/notesMaster1.xml" Id="R7d174cf5b27b48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20a28e697843f0" /><Relationship Type="http://schemas.openxmlformats.org/officeDocument/2006/relationships/notesMaster" Target="/ppt/notesMasters/notesMaster1.xml" Id="Rabdbbe76fd884ae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977ea697a164329" /><Relationship Type="http://schemas.openxmlformats.org/officeDocument/2006/relationships/notesMaster" Target="/ppt/notesMasters/notesMaster1.xml" Id="Rc68ba1555eeb43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230fef6ced4054" /><Relationship Type="http://schemas.openxmlformats.org/officeDocument/2006/relationships/notesMaster" Target="/ppt/notesMasters/notesMaster1.xml" Id="Rab216198e45543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30초. 가상투어와 웹서비스라는 기존 목표를 유지하면서 기반 기술을 RGB SfM·MVS와 의미 지도 구축으로 구체화했습니다. 현재 한 RGB 영상의 조밀 복원까지 실행했고 2D 분할과 3D 라벨 통합, 회차 변화 비교와 360도 투어는 후속 개발합니다.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디지털트윈은 실제 대상의 상태를 디지털로 표현하여 운영과 유지관리 등의 의사결정에 활용하는 기술입니다. NIST는 디지털트윈의 동적 상태 표현과 실제 대상과의 연결 및 동기화를 핵심으로 설명합니다. 이 배경을 실내 공간 관리에 적용하면, 처음 공간을 기록한 뒤에도 가구나 물품 배치가 바뀔 때 그 변화를 확인하고 기록할 필요가 있습니다. 왼쪽 개념 그림에는 상자가 추가되었지만 오른쪽 디지털 기록에는 반영되지 않았습니다. 이런 현실과 기록의 차이를 줄이기 위한 관측과 대응 기술이 이번 과제의 배경입니다. 디지털트윈 전체를 구현하거나 실시간 자동 갱신을 보장하는 것이 아니라, 주기적 촬영을 이용한 공간 상태 기록과 변화 확인을 기본 범위로 합니다.</a:t>
            </a:r>
          </a:p>
          <a:p xmlns:a="http://schemas.openxmlformats.org/drawingml/2006/main">
            <a:r>
              <a:t/>
            </a:r>
          </a:p>
          <a:p xmlns:a="http://schemas.openxmlformats.org/drawingml/2006/main">
            <a:r>
              <a:t>근거 [1]: NIST, Digital Twin Core Conceptual Models and Services, 2023-11-03, https://www.nist.gov/publications/digital-twin-core-conceptual-models-and-services</a:t>
            </a:r>
          </a:p>
          <a:p xmlns:a="http://schemas.openxmlformats.org/drawingml/2006/main">
            <a:r>
              <a:t>근거 [2]: NIST, Essential Elements, updated 2026-07-22, https://www.nist.gov/digital-twins/essential-elements</a:t>
            </a:r>
          </a:p>
          <a:p xmlns:a="http://schemas.openxmlformats.org/drawingml/2006/main">
            <a:r>
              <a:t>자료 해석: 실내 가구와 물품 배치 기록에 대한 적용 논리는 위 정의를 프로젝트 요구에 연결한 설명이며 시장 성장률이나 성능 개선 실적을 주장하지 않습니다. 이미지: OpenAI 이미지 생성 도구로 제작한 설명용 개념 이미지, 2026-09-13.</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디지털트윈 운영에서 실제 공간과 기록 사이의 차이를 줄이기 위해 상태와 근거를 함께 기록합니다. 위치만 있는 지도를 넘어 각 점이 어떤 클래스에 속하는지, 어느 영상에서 관측됐는지 연결합니다. 사용자에게는 가상투어와 변화 이력을 통해 결과를 제시합니다. 실시간 자동 갱신을 약속하는 것이 아니라 반복 촬영 기반 갱신 지원을 목표로 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기존 가상투어와 웹서비스 목표는 유지합니다. 변경된 기반은 COLMAP과 OpenMVS로 복원한 조밀 점군입니다. 영상 분할 결과를 실제 관측된 점에 연결하고 여러 시점의 라벨을 통합해 의미 지도를 만듭니다. 이후 촬영 회차별 지도를 정합하고 변화 후보와 근거를 웹에서 확인합니다. 일반 RGB 프레임 탐색을 먼저 검증하고 360도 입력을 추가해 파노라마 투어로 확장합니다. 3D Gaussian Splatting은 현재 기본 경로에 포함하지 않습니다.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최종 서비스 목표는 네 산출물의 통합입니다. 현재 한 RGB 영상에서 조밀 복원까지 확인했고 의미 지도와 가상투어, 두 회차 변화 비교 및 웹 통합은 앞으로 수행합니다. 지도를 만들기 위한 여러 시점과 시간 변화 비교를 위한 여러 촬영 회차를 구분합니다.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의미 지도 정확도를 변화 분석 전에 평가합니다. 관측 부족과 분류 충돌을 unknown으로 남기고, 다른 촬영에서 보이지 않았다는 이유만으로 제거를 단정하지 않습니다. 지표의 수치 목표는 초기 실험과 멘토 요구를 바탕으로 합의합니다.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70초. 촬영별 공통 복원 경로는 일반 RGB 입력, FFmpeg 5fps 프레임 추출, COLMAP SfM, 왜곡 보정, OpenMVS 깊이와 조밀 점군 생성입니다. 왼쪽 세 영역이 현재 검증된 복원 경로이며 마지막 투어 영역은 독립 개발할 후속 서비스 기능입니다. SfM의 자세와 원본 프레임으로 대표 장면과 이동 연결을 만들 수 있으므로 MVS와 의미 지도는 투어 구성의 필수 선행 조건이 아닙니다. 조밀 점군과 깊이는 다음 의미 지도 구축에 사용합니다. 360도 영상은 나중에 여러 방향의 일반 시야각 이미지로 변환하고 각 시야의 카메라 모델을 관리하는 입력 경로로 추가합니다. 순차 영상 추적 SLAM을 실행한 결과가 아니라 오프라인 SfM·MVS 복원 결과입니다.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 왼쪽 그림은 kdj의 dense_overview.png 원본입니다. 같은 RGB 데이터에서 왼쪽 COLMAP SfM 희소점 11,994개, 오른쪽 OpenMVS 조밀점 252,564개를 비교합니다. 그림은 67번째 프레임 기준으로 표시하며 동일한 축 범위를 사용합니다. 최대 150,000개를 표본 표시하지만 저장된 점군에는 전체 점이 있습니다. 메시는 생성하지 않았습니다. 오른쪽 표의 재투영 오차는 SfM의 model_analyzer 값이고 MVS 시간은 약 507초입니다. 이 수치와 원본 도표는 이미 실행된 결과이지만 실제 거리·깊이 정확도 검증까지 완료한 것은 아닙니다. 그림 출처: https://github.com/choonpal/spacewatch3d/blob/fbe9dd17cb0a2550a432efdd09290de671c0b819/sfm_freiburg1_xyz_5fps/openmvs/dense_overview.png</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75초. 최신 kdj 계획에서는 같은 입력에서 SfM과 SAM2 또는 SAM3 segmentation을 각각 수행하고 MVS의 점에 분할 결과를 연결합니다. 두 모델을 모두 필수로 사용한다는 뜻은 아니며 후보 선정과 추론 방식은 검증 전입니다. 마스크에 의미 클래스 이름을 부여하는 모델·프롬프트·클래스 대응 방식도 정해야 합니다. 분할 경로와 복원 경로는 논리적으로 분리되지만 실제 연결 시 보정 전 이미지와 보정 카메라를 섞으면 안 됩니다. 보정 이미지로 분할하거나 원본 마스크를 정확히 보정 좌표로 변환해야 합니다. 투영은 3D 점에서 2D 화소로 수행하고 라벨은 반대 방향으로 전달합니다. 가시성과 깊이를 확인한 관측만 집계합니다. 의미 지도는 이 결합의 결과이며 메시 생성은 선택 사항입니다. 현재 5fps 복원이 완료되어 있고 3~5fps는 새 계획 범위입니다. 출처: https://github.com/choonpal/spacewatch3d/blob/9aa48fa666babc6f38e40bb852ffb6412a2b6e3e/README.md</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여섯 장 모두 kdj 저장소의 실제 RGB 입력 프레임이며 번호는 1, 2, 34, 67, 100, 133입니다. 설명을 위해 수동으로 고른 예시이며 자동 키프레임 선택 결과가 아닙니다. 초기 연속 프레임의 중복과 이동하면서 달라지는 관측을 볼 수 있습니다. 자동 선별에서는 중복도, 품질과 관측 영역을 함께 고려하고 실제 이동 가능한 지점 연결을 검증합니다. SAM2 또는 SAM3 분할을 전체 프레임에 적용한 경우와 키프레임에만 적용한 경우의 처리 시간과 의미 지도 품질을 비교할 계획입니다. 투어용 선별과 분할용 선별은 목적에 따라 별도로 관리합니다. 이 아이디어는 검증 전입니다. 최신 계획 출처: https://github.com/choonpal/spacewatch3d/blob/9aa48fa666babc6f38e40bb852ffb6412a2b6e3e/README.md . 실제 입력이 RGB이므로 360도 파노라마 탐색은 추후 입력 확장 단계에서 검증합니다.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 이 그림 전체는 미구현된 후속 비교 계획입니다. 현재 kdj에는 촬영 회차 A와 B의 의미 지도를 비교한 결과가 없으므로 실제 복원 그림을 두 회차 비교 결과로 재사용하지 않습니다. 서로 다른 회차의 의미 지도를 공통 스케일과 좌표로 정렬하고 관측 범위를 확인한 후 상태 변화 후보를 비교하는 방향입니다. 원본 영상은 근거와 가림 검토에 사용합니다. 세부 비교 알고리즘과 이동 판정은 아직 검증해야 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COLMAP 3.7과 OpenMVS 2.4.0은 실제 실행한 CPU 환경입니다. Open3D 후처리와 PyCOLMAP 연결, 분할 모델 및 웹 기술은 후속 개발 후보입니다. 360도 파노라마는 여러 일반 시야각 이미지로 변환하며 원본 파노라마와 가상 시야 카메라의 방향 관계를 보관해야 합니다. 이 확장은 아직 검증하지 않았습니다. 깊이 지도 번호와 프레임 번호를 동일하게 가정하지 않습니다.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웹은 투어와 날짜별 변화 및 의미 지도를 조회합니다. API는 요청·작업 상태를 관리하고 분석 모듈의 결과를 반환합니다. 분석 계층에는 SfM·MVS 복원, 키프레임·투어, 2D–3D 관측 및 촬영 회차 정합, 의미 라벨 통합과 변화 분석이 있습니다. 카메라, 깊이, 점군과 원본 영상은 파일 저장소에, 클래스와 관측 근거 및 투어·변화와 작업 상태는 메타데이터 DB에 연결합니다. 파일 링크와 DB에 저장할 세부 필드 및 대규모 점별 속성 저장 형식은 구현하며 확정합니다. 위쪽 선은 실행 요청, 아래쪽 선은 결과 반환이며 저장소 선은 읽기·쓰기입니다. 현재 복원 외 서비스 계층과 의미 지도는 구축 계획입니다.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55초. 담당자는 기존 배정을 유지하고 처리 범위를 kdj 방식으로 구체화한 초안입니다. 김동주는 SfM과 MVS 기반 복원 및 입력 확장, 이태훈은 대표 장면과 투어, 임현우는 2D–3D 관측 대응과 회차 정합, 서관우는 분할과 라벨 통합 및 변화 분석, 시한결은 웹과 API·조회 통합을 맡는 안입니다. 메타데이터에 capture_id, frame_id, image_id, depth_id, point_id와 보정 카메라 및 관측 연결을 정의합니다. 서관우와 임현우는 라벨 투영 입출력을 먼저 합의합니다.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현재 실행 결과는 복원이 수행됐다는 근거이며 정답 대비 정확도 평가는 아닙니다. 후속 연구에서는 깊이 가림 검사와 다중 관측 통합이 의미 라벨 정확도에 주는 효과를 비교할 수 있습니다. 비교군과 논문 신규성은 지도교수님과 협의합니다. 회차 변화는 의미 지도와 정합을 먼저 검증하고 촬영 조건 변화 및 실제 물체 변화를 분리해 평가합니다.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9월 13일 한 RGB 영상의 SfM·MVS 실험은 완료했습니다. 이후 일정은 새 데이터 검증과 입력 확장, 의미 지도와 투어·웹의 병렬 개발 계획입니다. 10월에는 의미 연결과 기본 투어를 검증하고, 11월에는 회차 정합과 변화 비교 및 360도 입력을 통합하는 방향으로 진행합니다. 실제 시연 범위는 결과에 따라 조정합니다. 9/21, 10/19, 12/7 발표와 12/20 보고서 일정은 기존 OT 계획 기준이며 LMS 변경 공지를 우선합니다. 논문 방향은 교수님과 협의하고 주간 화요일 회의를 유지합니다.</a:t>
            </a:r>
          </a:p>
          <a:p xmlns:a="http://schemas.openxmlformats.org/drawingml/2006/main">
            <a:r>
              <a:t/>
            </a:r>
          </a:p>
          <a:p xmlns:a="http://schemas.openxmlformats.org/drawingml/2006/main">
            <a:r>
              <a:t>근거: kdj 브랜치 fbe9dd17cb0a2550a432efdd09290de671c0b819, https://github.com/choonpal/spacewatch3d/blob/fbe9dd17cb0a2550a432efdd09290de671c0b819/README.md . 완료 범위와 수치는 README 및 logs/04_model_analyzer.log, 14_mvs_run.json, 15_mvs_validation.json에 근거합니다. 가상투어·웹서비스와 역할·학기 일정은 기존 팀 계획을 유지했습니다. 후속 변화 비교의 구체적인 알고리즘과 역할 분담은 팀 설계안이며 구현 완료를 뜻하지 않습니다. 실제 입력 프레임과 복원 도표는 같은 kdj 커밋의 freiburg1_xyz_frames_5fps, sfm_freiburg1_xyz_5fps/sparse_overview.png, openmvs/dense_overview.png에서 가져왔습니다. 후속 의미 지도와 회차 비교는 계획 도식이고, 웹 화면은 기존 서비스 구상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팀 회의는 매주 화요일로 계획합니다. 멘토 점검을 같은 회차에 포함하는 방향으로 조율하되 화요일 참석이 어려우면 별도 일정을 잡아 주간 멘토 회의 요건을 유지합니다. 회의에는 코드와 실험 근거를 가져오고 다음 주 담당과 완료 기준을 정합니다. 논문과 관련해서도 매주 비교 결과와 부족한 증거를 함께 점검합니다. 대면 멘토 회의는 요구분석과 통합 시연 단계에 1~2회 추진합니다. 자료: 수행계획서 9절, 종합설계프로젝트 1 OT에 기반한 계획안.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대표 장면과 연결을 자동 구성하면 가상투어 제작의 반복 작업을 줄일 수 있습니다. 사무실이나 교육시설에서는 배치와 적치물의 변화 후보를 원격으로 확인하고 필요한 점검 대상을 정할 수 있습니다. 날짜별 원본과 비교 근거가 연결되어 변경 이력을 다시 확인하기 쉽습니다. 기대효과이며 수치 개선이 입증된 상태는 아닙니다. 수동 비교와의 작업 시간 및 누락·오탐을 측정해 확인할 계획입니다. 자료: 수행계획서 10절.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우선 성과는 논문 한 편 투고와 웹 프로토타입, 기술문서입니다. 논문은 정합과 키프레임 선별 효과를 정량 분석하는 방향이며, 선행연구를 통해 신규성을 검토합니다. 논문의 주제와 작성 방법, 제출 일정은 지도교수님께 문의한 후 결정합니다. 채택과 학회 발표는 심사 및 학회 일정에 따라 결정되므로 제출만으로 발표 실적을 충족했다고 표시하지 않습니다. SW 등록과 특허, 앱 등록은 추가 검토 항목입니다. 제출 전 담당교수의 검토를 받고 저자 구성과 사사 요건을 확인합니다. 이상으로 발표를 마치고 질문을 받겠습니다. 자료: 수행계획서 10절.</a:t>
            </a:r>
          </a:p>
          <a:p xmlns:a="http://schemas.openxmlformats.org/drawingml/2006/main">
            <a:r>
              <a:t/>
            </a:r>
          </a:p>
          <a:p xmlns:a="http://schemas.openxmlformats.org/drawingml/2006/main">
            <a:r>
              <a:t>자료: 팀원이 제공한 「3D_가상투어_시계열_공간변화_발표자료.pptx」 및 대화에서 정리한 수행 방향. 이미지가 있는 경우 원본 PPT의 개념 이미지를 재사용했으며 실제 구현 결과가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75a84569694b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e435f7cf4f451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3685B1D-478B-4004-9FE7-541BA65A0A28}"/>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cc5f467ef74451" /><Relationship Type="http://schemas.openxmlformats.org/officeDocument/2006/relationships/slideLayout" Target="/ppt/slideLayouts/slideLayout1.xml" Id="Rb9d08ed96f9d42b9" /><Relationship Type="http://schemas.openxmlformats.org/officeDocument/2006/relationships/slideLayout" Target="/ppt/slideLayouts/slideLayout2.xml" Id="R20c7e9701b77414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62569E7F-15AF-41C1-ADD2-4962111C1877}"/>
              </a:ext>
            </a:extLst>
          </p:cNvPr>
          <p:cNvSpPr>
            <a:spLocks xmlns:a="http://schemas.openxmlformats.org/drawingml/2006/main" noGrp="1"/>
          </p:cNvSpPr>
          <p:nvPr>
            <p:ph type="sldNum" idx="4294967295"/>
          </p:nvPr>
        </p:nvSpPr>
        <p:spPr>
          <a:xfrm xmlns:a="http://schemas.openxmlformats.org/drawingml/2006/main">
            <a:off x="11338560" y="6473952"/>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4A3B8"/>
                </a:solidFill>
                <a:latin typeface="Malgun Gothic"/>
                <a:ea typeface="Malgun Gothic"/>
                <a:cs typeface="Malgun Gothic"/>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d08ed96f9d42b9"/>
    <p:sldLayoutId xmlns:r="http://schemas.openxmlformats.org/officeDocument/2006/relationships" id="2147483650" r:id="R20c7e9701b77414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916b9d255404fb5" /><Relationship Type="http://schemas.openxmlformats.org/officeDocument/2006/relationships/image" Target="/ppt/media/image.png" Id="R2fdf3674a5634c53" /><Relationship Type="http://schemas.openxmlformats.org/officeDocument/2006/relationships/notesSlide" Target="/ppt/notesSlides/notesSlide1.xml" Id="Rf4b768df155f4a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cad7a9891e4908" /><Relationship Type="http://schemas.openxmlformats.org/officeDocument/2006/relationships/image" Target="/ppt/media/image2.png" Id="R12168274144a4b19" /><Relationship Type="http://schemas.openxmlformats.org/officeDocument/2006/relationships/notesSlide" Target="/ppt/notesSlides/notesSlide2.xml" Id="R42705a59796640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e66c1f800cf4d97" /><Relationship Type="http://schemas.openxmlformats.org/officeDocument/2006/relationships/notesSlide" Target="/ppt/notesSlides/notesSlide3.xml" Id="Rf6f0e915ab044b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811b77669c24451" /><Relationship Type="http://schemas.openxmlformats.org/officeDocument/2006/relationships/notesSlide" Target="/ppt/notesSlides/notesSlide4.xml" Id="R7b970aeeb2c740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40f81799184424f" /><Relationship Type="http://schemas.openxmlformats.org/officeDocument/2006/relationships/notesSlide" Target="/ppt/notesSlides/notesSlide5.xml" Id="R24e10d5c2da449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8b52547ad84c91" /><Relationship Type="http://schemas.openxmlformats.org/officeDocument/2006/relationships/notesSlide" Target="/ppt/notesSlides/notesSlide6.xml" Id="Rd2cd747ad12f47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7de54457e96431a" /><Relationship Type="http://schemas.openxmlformats.org/officeDocument/2006/relationships/image" Target="/ppt/media/image3.png" Id="Rd08ece31345e40b8" /><Relationship Type="http://schemas.openxmlformats.org/officeDocument/2006/relationships/image" Target="/ppt/media/image4.png" Id="R5641f6008b4d48b9" /><Relationship Type="http://schemas.openxmlformats.org/officeDocument/2006/relationships/image" Target="/ppt/media/image5.png" Id="R06ef9ca92bbb4ff6" /><Relationship Type="http://schemas.openxmlformats.org/officeDocument/2006/relationships/image" Target="/ppt/media/image6.png" Id="Rf0f438653d6e45c4" /><Relationship Type="http://schemas.openxmlformats.org/officeDocument/2006/relationships/notesSlide" Target="/ppt/notesSlides/notesSlide7.xml" Id="R85a2c6ecb4f143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dc64b472c87414f" /><Relationship Type="http://schemas.openxmlformats.org/officeDocument/2006/relationships/image" Target="/ppt/media/image7.png" Id="R6da4737cffab44a7" /><Relationship Type="http://schemas.openxmlformats.org/officeDocument/2006/relationships/notesSlide" Target="/ppt/notesSlides/notesSlide8.xml" Id="R2085c2f6892b4b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0910c1e97704053" /><Relationship Type="http://schemas.openxmlformats.org/officeDocument/2006/relationships/image" Target="/ppt/media/image8.png" Id="R47f70f776e9f4b55" /><Relationship Type="http://schemas.openxmlformats.org/officeDocument/2006/relationships/notesSlide" Target="/ppt/notesSlides/notesSlide9.xml" Id="R7cfed865003643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ea663dd23814eed" /><Relationship Type="http://schemas.openxmlformats.org/officeDocument/2006/relationships/image" Target="/ppt/media/image9.png" Id="R0fd43403d827427d" /><Relationship Type="http://schemas.openxmlformats.org/officeDocument/2006/relationships/image" Target="/ppt/media/image10.png" Id="Rbdd344ffc9304f1d" /><Relationship Type="http://schemas.openxmlformats.org/officeDocument/2006/relationships/image" Target="/ppt/media/image11.png" Id="Ref17fdb3f71b4dcc" /><Relationship Type="http://schemas.openxmlformats.org/officeDocument/2006/relationships/image" Target="/ppt/media/image12.png" Id="R97a1d830b14a49b5" /><Relationship Type="http://schemas.openxmlformats.org/officeDocument/2006/relationships/image" Target="/ppt/media/image13.png" Id="Rf26f388f2a8340e1" /><Relationship Type="http://schemas.openxmlformats.org/officeDocument/2006/relationships/image" Target="/ppt/media/image14.png" Id="Rd5bb61f9c6464759" /><Relationship Type="http://schemas.openxmlformats.org/officeDocument/2006/relationships/notesSlide" Target="/ppt/notesSlides/notesSlide10.xml" Id="Rdfed2ea574384f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5f5c121b6524426" /><Relationship Type="http://schemas.openxmlformats.org/officeDocument/2006/relationships/notesSlide" Target="/ppt/notesSlides/notesSlide11.xml" Id="Rf8506aad7b6d45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98885c96764d66" /><Relationship Type="http://schemas.openxmlformats.org/officeDocument/2006/relationships/notesSlide" Target="/ppt/notesSlides/notesSlide12.xml" Id="Rf1c21a03dc7b43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a5c594c749442f" /><Relationship Type="http://schemas.openxmlformats.org/officeDocument/2006/relationships/image" Target="/ppt/media/image15.png" Id="Read1614f1fec488a" /><Relationship Type="http://schemas.openxmlformats.org/officeDocument/2006/relationships/image" Target="/ppt/media/image16.png" Id="R3b75dd06482c459c" /><Relationship Type="http://schemas.openxmlformats.org/officeDocument/2006/relationships/image" Target="/ppt/media/image17.png" Id="Rd0f1ce1ca44f4d45" /><Relationship Type="http://schemas.openxmlformats.org/officeDocument/2006/relationships/notesSlide" Target="/ppt/notesSlides/notesSlide13.xml" Id="Rc482e4666a3f4c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b4548eef83b4fb6" /><Relationship Type="http://schemas.openxmlformats.org/officeDocument/2006/relationships/notesSlide" Target="/ppt/notesSlides/notesSlide14.xml" Id="Rc5c87d34f95140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7da2abc6244fae" /><Relationship Type="http://schemas.openxmlformats.org/officeDocument/2006/relationships/notesSlide" Target="/ppt/notesSlides/notesSlide15.xml" Id="R6d038e7ccf094d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7e424ecb1594462" /><Relationship Type="http://schemas.openxmlformats.org/officeDocument/2006/relationships/notesSlide" Target="/ppt/notesSlides/notesSlide16.xml" Id="Rc0ac247610ce4d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ab856d10764124" /><Relationship Type="http://schemas.openxmlformats.org/officeDocument/2006/relationships/notesSlide" Target="/ppt/notesSlides/notesSlide17.xml" Id="R80704fe0a07e44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2e3af8e497c4ae6" /><Relationship Type="http://schemas.openxmlformats.org/officeDocument/2006/relationships/notesSlide" Target="/ppt/notesSlides/notesSlide18.xml" Id="R7b38b8928b114c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e21cf6f62874830" /><Relationship Type="http://schemas.openxmlformats.org/officeDocument/2006/relationships/notesSlide" Target="/ppt/notesSlides/notesSlide19.xml" Id="R250d52a22fd54f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fdf3674a5634c53"/>
          <a:srcRect xmlns:a="http://schemas.openxmlformats.org/drawingml/2006/main" l="27879" t="0" r="27879"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SpaceWatch3D">
            <a:extLst xmlns:a="http://schemas.openxmlformats.org/drawingml/2006/main">
              <a:ext uri="{FF2B5EF4-FFF2-40B4-BE49-F238E27FC236}">
                <a16:creationId xmlns:a16="http://schemas.microsoft.com/office/drawing/2014/main" id="{B0E304C1-7FCE-4AB1-90F3-9F256DC7ED81}"/>
              </a:ext>
            </a:extLst>
          </p:cNvPr>
          <p:cNvSpPr>
            <a:spLocks xmlns:a="http://schemas.openxmlformats.org/drawingml/2006/main" noGrp="1"/>
          </p:cNvSpPr>
          <p:nvPr/>
        </p:nvSpPr>
        <p:spPr>
          <a:xfrm xmlns:a="http://schemas.openxmlformats.org/drawingml/2006/main">
            <a:off x="609600" y="71437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463EB"/>
                </a:solidFill>
                <a:latin typeface="Malgun Gothic"/>
                <a:ea typeface="Malgun Gothic"/>
                <a:cs typeface="Malgun Gothic"/>
              </a:defRPr>
            </a:pPr>
            <a:r>
              <a:rPr sz="2100" b="1">
                <a:solidFill>
                  <a:srgbClr val="2463EB"/>
                </a:solidFill>
                <a:latin typeface="Malgun Gothic"/>
                <a:ea typeface="Malgun Gothic"/>
                <a:cs typeface="Malgun Gothic"/>
              </a:rPr>
              <a:t>SpaceWatch3D</a:t>
            </a:r>
          </a:p>
        </p:txBody>
      </p:sp>
      <p:sp>
        <p:nvSpPr>
          <p:cNvPr id="3" name="3차원 가상투어와 시계열 공간 변화 모니터링">
            <a:extLst xmlns:a="http://schemas.openxmlformats.org/drawingml/2006/main">
              <a:ext uri="{FF2B5EF4-FFF2-40B4-BE49-F238E27FC236}">
                <a16:creationId xmlns:a16="http://schemas.microsoft.com/office/drawing/2014/main" id="{01F3DFEC-CD94-45A1-9BDA-C51EC9230045}"/>
              </a:ext>
            </a:extLst>
          </p:cNvPr>
          <p:cNvSpPr>
            <a:spLocks xmlns:a="http://schemas.openxmlformats.org/drawingml/2006/main" noGrp="1"/>
          </p:cNvSpPr>
          <p:nvPr/>
        </p:nvSpPr>
        <p:spPr>
          <a:xfrm xmlns:a="http://schemas.openxmlformats.org/drawingml/2006/main">
            <a:off x="609600" y="1733550"/>
            <a:ext cx="6286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3차원 가상투어와</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시계열 공간 변화</a:t>
            </a:r>
          </a:p>
          <a:p xmlns:a="http://schemas.openxmlformats.org/drawingml/2006/main">
            <a:pPr>
              <a:defRPr sz="4200" b="1">
                <a:solidFill>
                  <a:srgbClr val="102A43"/>
                </a:solidFill>
                <a:latin typeface="Malgun Gothic"/>
                <a:ea typeface="Malgun Gothic"/>
                <a:cs typeface="Malgun Gothic"/>
              </a:defRPr>
            </a:pPr>
            <a:r>
              <a:rPr sz="4200" b="1">
                <a:solidFill>
                  <a:srgbClr val="102A43"/>
                </a:solidFill>
                <a:latin typeface="Malgun Gothic"/>
                <a:ea typeface="Malgun Gothic"/>
                <a:cs typeface="Malgun Gothic"/>
              </a:rPr>
              <a:t>모니터링</a:t>
            </a:r>
          </a:p>
        </p:txBody>
      </p:sp>
      <p:sp>
        <p:nvSpPr>
          <p:cNvPr id="4" name="영상으로 공간과 의미를 기록하고 가상투어에서 변화를 확인합니다">
            <a:extLst xmlns:a="http://schemas.openxmlformats.org/drawingml/2006/main">
              <a:ext uri="{FF2B5EF4-FFF2-40B4-BE49-F238E27FC236}">
                <a16:creationId xmlns:a16="http://schemas.microsoft.com/office/drawing/2014/main" id="{14D4B25E-5932-4C5A-924B-367787BB2FC4}"/>
              </a:ext>
            </a:extLst>
          </p:cNvPr>
          <p:cNvSpPr>
            <a:spLocks xmlns:a="http://schemas.openxmlformats.org/drawingml/2006/main" noGrp="1"/>
          </p:cNvSpPr>
          <p:nvPr/>
        </p:nvSpPr>
        <p:spPr>
          <a:xfrm xmlns:a="http://schemas.openxmlformats.org/drawingml/2006/main">
            <a:off x="647700" y="4371975"/>
            <a:ext cx="5829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영상으로 공간과 의미를 기록하고</a:t>
            </a:r>
          </a:p>
          <a:p xmlns:a="http://schemas.openxmlformats.org/drawingml/2006/main">
            <a:pPr>
              <a:defRPr sz="2175" b="0">
                <a:solidFill>
                  <a:srgbClr val="526577"/>
                </a:solidFill>
                <a:latin typeface="Malgun Gothic"/>
                <a:ea typeface="Malgun Gothic"/>
                <a:cs typeface="Malgun Gothic"/>
              </a:defRPr>
            </a:pPr>
            <a:r>
              <a:rPr sz="2175" b="0">
                <a:solidFill>
                  <a:srgbClr val="526577"/>
                </a:solidFill>
                <a:latin typeface="Malgun Gothic"/>
                <a:ea typeface="Malgun Gothic"/>
                <a:cs typeface="Malgun Gothic"/>
              </a:rPr>
              <a:t>가상투어에서 변화를 확인합니다</a:t>
            </a:r>
          </a:p>
        </p:txBody>
      </p:sp>
      <p:sp>
        <p:nvSpPr>
          <p:cNvPr id="5" name="산학협력프로젝트 계획발표  /  뉴딕스">
            <a:extLst xmlns:a="http://schemas.openxmlformats.org/drawingml/2006/main">
              <a:ext uri="{FF2B5EF4-FFF2-40B4-BE49-F238E27FC236}">
                <a16:creationId xmlns:a16="http://schemas.microsoft.com/office/drawing/2014/main" id="{553B1DFC-B3A6-456B-8BCD-F85C50B31EE4}"/>
              </a:ext>
            </a:extLst>
          </p:cNvPr>
          <p:cNvSpPr>
            <a:spLocks xmlns:a="http://schemas.openxmlformats.org/drawingml/2006/main" noGrp="1"/>
          </p:cNvSpPr>
          <p:nvPr/>
        </p:nvSpPr>
        <p:spPr>
          <a:xfrm xmlns:a="http://schemas.openxmlformats.org/drawingml/2006/main">
            <a:off x="647700" y="574357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산학협력프로젝트 계획발표  /  뉴딕스</a:t>
            </a:r>
          </a:p>
        </p:txBody>
      </p:sp>
      <p:sp>
        <p:nvSpPr>
          <p:cNvPr id="6" name="시한결  김동주  서관우  이태훈  임현우">
            <a:extLst xmlns:a="http://schemas.openxmlformats.org/drawingml/2006/main">
              <a:ext uri="{FF2B5EF4-FFF2-40B4-BE49-F238E27FC236}">
                <a16:creationId xmlns:a16="http://schemas.microsoft.com/office/drawing/2014/main" id="{B6878AD0-40B8-4D4A-AA79-D9363D8B1F85}"/>
              </a:ext>
            </a:extLst>
          </p:cNvPr>
          <p:cNvSpPr>
            <a:spLocks xmlns:a="http://schemas.openxmlformats.org/drawingml/2006/main" noGrp="1"/>
          </p:cNvSpPr>
          <p:nvPr/>
        </p:nvSpPr>
        <p:spPr>
          <a:xfrm xmlns:a="http://schemas.openxmlformats.org/drawingml/2006/main">
            <a:off x="647700" y="6134100"/>
            <a:ext cx="595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시한결  김동주  서관우  이태훈  임현우</a:t>
            </a:r>
          </a:p>
        </p:txBody>
      </p:sp>
    </p:spTree>
    <p:extLst>
      <p:ext uri="{BB962C8B-B14F-4D97-AF65-F5344CB8AC3E}">
        <p14:creationId xmlns:p14="http://schemas.microsoft.com/office/powerpoint/2010/main" val="2321954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과제목적 및 필요성 / 기술적 배경">
            <a:extLst xmlns:a="http://schemas.openxmlformats.org/drawingml/2006/main">
              <a:ext uri="{FF2B5EF4-FFF2-40B4-BE49-F238E27FC236}">
                <a16:creationId xmlns:a16="http://schemas.microsoft.com/office/drawing/2014/main" id="{E5E69228-5C68-4382-B9C3-03AEA5F746FF}"/>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과제목적 및 필요성 / 기술적 배경</a:t>
            </a:r>
          </a:p>
        </p:txBody>
      </p:sp>
      <p:sp>
        <p:nvSpPr>
          <p:cNvPr id="2" name="디지털트윈 운영에는 공간 정보의 갱신이 필요합니다">
            <a:extLst xmlns:a="http://schemas.openxmlformats.org/drawingml/2006/main">
              <a:ext uri="{FF2B5EF4-FFF2-40B4-BE49-F238E27FC236}">
                <a16:creationId xmlns:a16="http://schemas.microsoft.com/office/drawing/2014/main" id="{1FE4499C-0EBE-4226-8E30-70EA13F468CD}"/>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디지털트윈 운영에는 공간 정보의 갱신이 필요합니다</a:t>
            </a:r>
          </a:p>
        </p:txBody>
      </p:sp>
      <p:sp>
        <p:nvSpPr>
          <p:cNvPr id="3" name="디지털트윈은 실제 대상의 상태를 디지털로 표현하여 운영·유지관리에 활용합니다 [1]">
            <a:extLst xmlns:a="http://schemas.openxmlformats.org/drawingml/2006/main">
              <a:ext uri="{FF2B5EF4-FFF2-40B4-BE49-F238E27FC236}">
                <a16:creationId xmlns:a16="http://schemas.microsoft.com/office/drawing/2014/main" id="{0FA4AB99-7565-4F1F-8FF8-2C301F37990E}"/>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디지털트윈은 실제 대상의 상태를 디지털로 표현하여 운영·유지관리에 활용합니다 [1]</a:t>
            </a:r>
          </a:p>
        </p:txBody>
      </p:sp>
      <p:sp>
        <p:nvSpPr>
          <p:cNvPr id="4" name="SpaceWatch3D  ·  산학협력프로젝트 계획발표">
            <a:extLst xmlns:a="http://schemas.openxmlformats.org/drawingml/2006/main">
              <a:ext uri="{FF2B5EF4-FFF2-40B4-BE49-F238E27FC236}">
                <a16:creationId xmlns:a16="http://schemas.microsoft.com/office/drawing/2014/main" id="{6B3FCBD2-C2BA-4A06-859E-16578A36ECB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8">
            <a:extLst xmlns:a="http://schemas.openxmlformats.org/drawingml/2006/main">
              <a:ext uri="{FF2B5EF4-FFF2-40B4-BE49-F238E27FC236}">
                <a16:creationId xmlns:a16="http://schemas.microsoft.com/office/drawing/2014/main" id="{ED00A922-2D3B-4DA4-9A63-9FC1D6942F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2168274144a4b19"/>
          <a:stretch xmlns:a="http://schemas.openxmlformats.org/drawingml/2006/main"/>
        </p:blipFill>
        <p:spPr>
          <a:xfrm xmlns:a="http://schemas.openxmlformats.org/drawingml/2006/main">
            <a:off x="611260" y="2486025"/>
            <a:ext cx="6245080" cy="3514725"/>
          </a:xfrm>
          <a:prstGeom xmlns:a="http://schemas.openxmlformats.org/drawingml/2006/main" prst="rect">
            <a:avLst/>
          </a:prstGeom>
        </p:spPr>
      </p:pic>
      <p:sp>
        <p:nvSpPr>
          <p:cNvPr id="7" name="변화한 실제 공간">
            <a:extLst xmlns:a="http://schemas.openxmlformats.org/drawingml/2006/main">
              <a:ext uri="{FF2B5EF4-FFF2-40B4-BE49-F238E27FC236}">
                <a16:creationId xmlns:a16="http://schemas.microsoft.com/office/drawing/2014/main" id="{9D2D9564-8A18-4227-A49D-A6120CB92800}"/>
              </a:ext>
            </a:extLst>
          </p:cNvPr>
          <p:cNvSpPr>
            <a:spLocks xmlns:a="http://schemas.openxmlformats.org/drawingml/2006/main" noGrp="1"/>
          </p:cNvSpPr>
          <p:nvPr/>
        </p:nvSpPr>
        <p:spPr>
          <a:xfrm xmlns:a="http://schemas.openxmlformats.org/drawingml/2006/main">
            <a:off x="609600" y="21431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3EB"/>
                </a:solidFill>
                <a:latin typeface="Malgun Gothic"/>
                <a:ea typeface="Malgun Gothic"/>
                <a:cs typeface="Malgun Gothic"/>
              </a:defRPr>
            </a:pPr>
            <a:r>
              <a:rPr sz="1725" b="1">
                <a:solidFill>
                  <a:srgbClr val="2463EB"/>
                </a:solidFill>
                <a:latin typeface="Malgun Gothic"/>
                <a:ea typeface="Malgun Gothic"/>
                <a:cs typeface="Malgun Gothic"/>
              </a:rPr>
              <a:t>변화한 실제 공간</a:t>
            </a:r>
          </a:p>
        </p:txBody>
      </p:sp>
      <p:sp>
        <p:nvSpPr>
          <p:cNvPr id="8" name="이전 상태의 디지털 기록">
            <a:extLst xmlns:a="http://schemas.openxmlformats.org/drawingml/2006/main">
              <a:ext uri="{FF2B5EF4-FFF2-40B4-BE49-F238E27FC236}">
                <a16:creationId xmlns:a16="http://schemas.microsoft.com/office/drawing/2014/main" id="{B39CE070-9C76-4547-9A8E-91C87131B6F7}"/>
              </a:ext>
            </a:extLst>
          </p:cNvPr>
          <p:cNvSpPr>
            <a:spLocks xmlns:a="http://schemas.openxmlformats.org/drawingml/2006/main" noGrp="1"/>
          </p:cNvSpPr>
          <p:nvPr/>
        </p:nvSpPr>
        <p:spPr>
          <a:xfrm xmlns:a="http://schemas.openxmlformats.org/drawingml/2006/main">
            <a:off x="3867150" y="21431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3EB"/>
                </a:solidFill>
                <a:latin typeface="Malgun Gothic"/>
                <a:ea typeface="Malgun Gothic"/>
                <a:cs typeface="Malgun Gothic"/>
              </a:defRPr>
            </a:pPr>
            <a:r>
              <a:rPr sz="1725" b="1">
                <a:solidFill>
                  <a:srgbClr val="2463EB"/>
                </a:solidFill>
                <a:latin typeface="Malgun Gothic"/>
                <a:ea typeface="Malgun Gothic"/>
                <a:cs typeface="Malgun Gothic"/>
              </a:rPr>
              <a:t>이전 상태의 디지털 기록</a:t>
            </a:r>
          </a:p>
        </p:txBody>
      </p:sp>
      <p:sp>
        <p:nvSpPr>
          <p:cNvPr id="9" name="현실의 상태는 바뀜">
            <a:extLst xmlns:a="http://schemas.openxmlformats.org/drawingml/2006/main">
              <a:ext uri="{FF2B5EF4-FFF2-40B4-BE49-F238E27FC236}">
                <a16:creationId xmlns:a16="http://schemas.microsoft.com/office/drawing/2014/main" id="{986D8C11-53D1-478D-9421-412F39E16EEF}"/>
              </a:ext>
            </a:extLst>
          </p:cNvPr>
          <p:cNvSpPr>
            <a:spLocks xmlns:a="http://schemas.openxmlformats.org/drawingml/2006/main" noGrp="1"/>
          </p:cNvSpPr>
          <p:nvPr/>
        </p:nvSpPr>
        <p:spPr>
          <a:xfrm xmlns:a="http://schemas.openxmlformats.org/drawingml/2006/main">
            <a:off x="7353300" y="2533650"/>
            <a:ext cx="422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현실의 상태는 바뀜</a:t>
            </a:r>
          </a:p>
        </p:txBody>
      </p:sp>
      <p:sp>
        <p:nvSpPr>
          <p:cNvPr id="10" name="가구 이동, 물품 추가와 제거 등 운영 중 공간의 상태가 달라짐">
            <a:extLst xmlns:a="http://schemas.openxmlformats.org/drawingml/2006/main">
              <a:ext uri="{FF2B5EF4-FFF2-40B4-BE49-F238E27FC236}">
                <a16:creationId xmlns:a16="http://schemas.microsoft.com/office/drawing/2014/main" id="{1BD9E467-B2B1-4911-839D-3B499369B3FF}"/>
              </a:ext>
            </a:extLst>
          </p:cNvPr>
          <p:cNvSpPr>
            <a:spLocks xmlns:a="http://schemas.openxmlformats.org/drawingml/2006/main" noGrp="1"/>
          </p:cNvSpPr>
          <p:nvPr/>
        </p:nvSpPr>
        <p:spPr>
          <a:xfrm xmlns:a="http://schemas.openxmlformats.org/drawingml/2006/main">
            <a:off x="7353300" y="3086100"/>
            <a:ext cx="4229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가구 이동, 물품 추가와 제거 등</a:t>
            </a:r>
          </a:p>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운영 중 공간의 상태가 달라짐</a:t>
            </a:r>
          </a:p>
        </p:txBody>
      </p:sp>
      <p:sp>
        <p:nvSpPr>
          <p:cNvPr id="11" name="변경 사항의 반영이 필요">
            <a:extLst xmlns:a="http://schemas.openxmlformats.org/drawingml/2006/main">
              <a:ext uri="{FF2B5EF4-FFF2-40B4-BE49-F238E27FC236}">
                <a16:creationId xmlns:a16="http://schemas.microsoft.com/office/drawing/2014/main" id="{43DC97AD-437F-45EB-B7C0-7A490BCEABBC}"/>
              </a:ext>
            </a:extLst>
          </p:cNvPr>
          <p:cNvSpPr>
            <a:spLocks xmlns:a="http://schemas.openxmlformats.org/drawingml/2006/main" noGrp="1"/>
          </p:cNvSpPr>
          <p:nvPr/>
        </p:nvSpPr>
        <p:spPr>
          <a:xfrm xmlns:a="http://schemas.openxmlformats.org/drawingml/2006/main">
            <a:off x="7353300" y="4200525"/>
            <a:ext cx="422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변경 사항의 반영이 필요</a:t>
            </a:r>
          </a:p>
        </p:txBody>
      </p:sp>
      <p:sp>
        <p:nvSpPr>
          <p:cNvPr id="12" name="변화를 기록하지 않으면 디지털 정보와 현장이 불일치">
            <a:extLst xmlns:a="http://schemas.openxmlformats.org/drawingml/2006/main">
              <a:ext uri="{FF2B5EF4-FFF2-40B4-BE49-F238E27FC236}">
                <a16:creationId xmlns:a16="http://schemas.microsoft.com/office/drawing/2014/main" id="{4CF35EA7-B662-4F1C-95E5-B4B17A63E7D9}"/>
              </a:ext>
            </a:extLst>
          </p:cNvPr>
          <p:cNvSpPr>
            <a:spLocks xmlns:a="http://schemas.openxmlformats.org/drawingml/2006/main" noGrp="1"/>
          </p:cNvSpPr>
          <p:nvPr/>
        </p:nvSpPr>
        <p:spPr>
          <a:xfrm xmlns:a="http://schemas.openxmlformats.org/drawingml/2006/main">
            <a:off x="7353300" y="476250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변화를 기록하지 않으면</a:t>
            </a:r>
          </a:p>
          <a:p xmlns:a="http://schemas.openxmlformats.org/drawingml/2006/main">
            <a:pPr>
              <a:defRPr sz="1950" b="0">
                <a:solidFill>
                  <a:srgbClr val="526577"/>
                </a:solidFill>
                <a:latin typeface="Malgun Gothic"/>
                <a:ea typeface="Malgun Gothic"/>
                <a:cs typeface="Malgun Gothic"/>
              </a:defRPr>
            </a:pPr>
            <a:r>
              <a:rPr sz="1950" b="0">
                <a:solidFill>
                  <a:srgbClr val="526577"/>
                </a:solidFill>
                <a:latin typeface="Malgun Gothic"/>
                <a:ea typeface="Malgun Gothic"/>
                <a:cs typeface="Malgun Gothic"/>
              </a:rPr>
              <a:t>디지털 정보와 현장이 불일치</a:t>
            </a:r>
          </a:p>
        </p:txBody>
      </p:sp>
      <p:sp>
        <p:nvSpPr>
          <p:cNvPr id="13" name="[1] NIST, Digital Twin Core Conceptual Models and Servi">
            <a:extLst xmlns:a="http://schemas.openxmlformats.org/drawingml/2006/main">
              <a:ext uri="{FF2B5EF4-FFF2-40B4-BE49-F238E27FC236}">
                <a16:creationId xmlns:a16="http://schemas.microsoft.com/office/drawing/2014/main" id="{9CF6AD2B-FE98-43DB-8645-4B46ADFD0357}"/>
              </a:ext>
            </a:extLst>
          </p:cNvPr>
          <p:cNvSpPr>
            <a:spLocks xmlns:a="http://schemas.openxmlformats.org/drawingml/2006/main" noGrp="1"/>
          </p:cNvSpPr>
          <p:nvPr/>
        </p:nvSpPr>
        <p:spPr>
          <a:xfrm xmlns:a="http://schemas.openxmlformats.org/drawingml/2006/main">
            <a:off x="609600" y="62388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577"/>
                </a:solidFill>
                <a:latin typeface="Malgun Gothic"/>
                <a:ea typeface="Malgun Gothic"/>
                <a:cs typeface="Malgun Gothic"/>
              </a:defRPr>
            </a:pPr>
            <a:r>
              <a:rPr sz="1050" b="0">
                <a:solidFill>
                  <a:srgbClr val="526577"/>
                </a:solidFill>
                <a:latin typeface="Malgun Gothic"/>
                <a:ea typeface="Malgun Gothic"/>
                <a:cs typeface="Malgun Gothic"/>
              </a:rPr>
              <a:t>[1] NIST, Digital Twin Core Conceptual Models and Services (2023) / Essential Elements (2026)</a:t>
            </a:r>
          </a:p>
        </p:txBody>
      </p:sp>
    </p:spTree>
    <p:extLst>
      <p:ext uri="{BB962C8B-B14F-4D97-AF65-F5344CB8AC3E}">
        <p14:creationId xmlns:p14="http://schemas.microsoft.com/office/powerpoint/2010/main" val="1525988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과제목적 및 필요성">
            <a:extLst xmlns:a="http://schemas.openxmlformats.org/drawingml/2006/main">
              <a:ext uri="{FF2B5EF4-FFF2-40B4-BE49-F238E27FC236}">
                <a16:creationId xmlns:a16="http://schemas.microsoft.com/office/drawing/2014/main" id="{8DD4939E-3BF6-4A94-8D5F-8C04215CB11E}"/>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과제목적 및 필요성</a:t>
            </a:r>
          </a:p>
        </p:txBody>
      </p:sp>
      <p:sp>
        <p:nvSpPr>
          <p:cNvPr id="2" name="공간의 위치뿐 아니라 상태와 관측 근거를 기록합니다">
            <a:extLst xmlns:a="http://schemas.openxmlformats.org/drawingml/2006/main">
              <a:ext uri="{FF2B5EF4-FFF2-40B4-BE49-F238E27FC236}">
                <a16:creationId xmlns:a16="http://schemas.microsoft.com/office/drawing/2014/main" id="{AA083DBB-C101-4975-9E51-27C780AF5374}"/>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공간의 위치뿐 아니라 상태와 관측 근거를 기록합니다</a:t>
            </a:r>
          </a:p>
        </p:txBody>
      </p:sp>
      <p:sp>
        <p:nvSpPr>
          <p:cNvPr id="3" name="과제 목적: 반복 촬영을 의미 지도와 가상투어로 연결해 공간 기록의 갱신을 지원">
            <a:extLst xmlns:a="http://schemas.openxmlformats.org/drawingml/2006/main">
              <a:ext uri="{FF2B5EF4-FFF2-40B4-BE49-F238E27FC236}">
                <a16:creationId xmlns:a16="http://schemas.microsoft.com/office/drawing/2014/main" id="{9487B6A2-6C20-41C6-A780-AE37FEF35971}"/>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과제 목적: 반복 촬영을 의미 지도와 가상투어로 연결해 공간 기록의 갱신을 지원</a:t>
            </a:r>
          </a:p>
        </p:txBody>
      </p:sp>
      <p:sp>
        <p:nvSpPr>
          <p:cNvPr id="4" name="SpaceWatch3D  ·  산학협력프로젝트 계획발표">
            <a:extLst xmlns:a="http://schemas.openxmlformats.org/drawingml/2006/main">
              <a:ext uri="{FF2B5EF4-FFF2-40B4-BE49-F238E27FC236}">
                <a16:creationId xmlns:a16="http://schemas.microsoft.com/office/drawing/2014/main" id="{DFB5C604-96DF-4B54-AA0A-53BE1069A29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3">
            <a:extLst xmlns:a="http://schemas.openxmlformats.org/drawingml/2006/main">
              <a:ext uri="{FF2B5EF4-FFF2-40B4-BE49-F238E27FC236}">
                <a16:creationId xmlns:a16="http://schemas.microsoft.com/office/drawing/2014/main" id="{5DB2F9AE-1AE5-49AA-A0E7-E5716A7277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03</a:t>
            </a:r>
          </a:p>
        </p:txBody>
      </p:sp>
      <p:graphicFrame>
        <p:nvGraphicFramePr>
          <p:cNvPr id="12" name=""/>
          <p:cNvGraphicFramePr/>
          <p:nvPr/>
        </p:nvGraphicFramePr>
        <p:xfrm>
          <a:off xmlns:a="http://schemas.openxmlformats.org/drawingml/2006/main" x="609600" y="2466975"/>
          <a:ext xmlns:a="http://schemas.openxmlformats.org/drawingml/2006/main" cx="10972800" cy="3162300"/>
        </p:xfrm>
        <a:graphic xmlns:a="http://schemas.openxmlformats.org/drawingml/2006/main">
          <a:graphicData uri="http://schemas.openxmlformats.org/drawingml/2006/table">
            <a:tbl>
              <a:tblPr/>
              <a:tblGrid>
                <a:gridCol w="5314950"/>
                <a:gridCol w="5657850"/>
              </a:tblGrid>
              <a:tr h="790575">
                <a:tc>
                  <a:txBody>
                    <a:bodyPr lIns="152400" tIns="114300" rIns="114300" bIns="95250"/>
                    <a:lstStyle/>
                    <a:p>
                      <a:r>
                        <a:rPr sz="1950" b="1">
                          <a:solidFill>
                            <a:srgbClr val="FFFFFF"/>
                          </a:solidFill>
                          <a:latin typeface="Malgun Gothic"/>
                          <a:ea typeface="Malgun Gothic"/>
                          <a:cs typeface="Malgun Gothic"/>
                        </a:rPr>
                        <a:t>공간 기록을 갱신할 때의 과제</a:t>
                      </a:r>
                    </a:p>
                  </a:txBody>
                  <a:tcPr marL="91440" marR="91440" marT="45720" marB="45720" anchor="ctr">
                    <a:solidFill>
                      <a:srgbClr val="102644"/>
                    </a:solidFill>
                  </a:tcPr>
                </a:tc>
                <a:tc>
                  <a:txBody>
                    <a:bodyPr lIns="152400" tIns="114300" rIns="114300" bIns="95250"/>
                    <a:lstStyle/>
                    <a:p>
                      <a:r>
                        <a:rPr sz="1950" b="1">
                          <a:solidFill>
                            <a:srgbClr val="FFFFFF"/>
                          </a:solidFill>
                          <a:latin typeface="Malgun Gothic"/>
                          <a:ea typeface="Malgun Gothic"/>
                          <a:cs typeface="Malgun Gothic"/>
                        </a:rPr>
                        <a:t>이번 과제의 접근</a:t>
                      </a:r>
                    </a:p>
                  </a:txBody>
                  <a:tcPr marL="91440" marR="91440" marT="45720" marB="45720" anchor="ctr">
                    <a:solidFill>
                      <a:srgbClr val="102644"/>
                    </a:solidFill>
                  </a:tcPr>
                </a:tc>
              </a:tr>
              <a:tr h="790575">
                <a:tc>
                  <a:txBody>
                    <a:bodyPr lIns="152400" tIns="114300" rIns="114300" bIns="95250"/>
                    <a:lstStyle/>
                    <a:p>
                      <a:r>
                        <a:rPr sz="1950" b="0">
                          <a:solidFill>
                            <a:srgbClr val="102A43"/>
                          </a:solidFill>
                          <a:latin typeface="Malgun Gothic"/>
                          <a:ea typeface="Malgun Gothic"/>
                          <a:cs typeface="Malgun Gothic"/>
                        </a:rPr>
                        <a:t>재촬영의 위치·방향·스케일이 달라짐</a:t>
                      </a:r>
                    </a:p>
                  </a:txBody>
                  <a:tcPr marL="91440" marR="91440" marT="45720" marB="45720" anchor="ctr">
                    <a:solidFill>
                      <a:srgbClr val="FFFFFF"/>
                    </a:solidFill>
                  </a:tcPr>
                </a:tc>
                <a:tc>
                  <a:txBody>
                    <a:bodyPr lIns="152400" tIns="114300" rIns="114300" bIns="95250"/>
                    <a:lstStyle/>
                    <a:p>
                      <a:r>
                        <a:rPr sz="1950" b="0">
                          <a:solidFill>
                            <a:srgbClr val="102A43"/>
                          </a:solidFill>
                          <a:latin typeface="Malgun Gothic"/>
                          <a:ea typeface="Malgun Gothic"/>
                          <a:cs typeface="Malgun Gothic"/>
                        </a:rPr>
                        <a:t>카메라 자세 복원과 촬영 회차 정합</a:t>
                      </a:r>
                    </a:p>
                  </a:txBody>
                  <a:tcPr marL="91440" marR="91440" marT="45720" marB="45720" anchor="ctr">
                    <a:solidFill>
                      <a:srgbClr val="FFFFFF"/>
                    </a:solidFill>
                  </a:tcPr>
                </a:tc>
              </a:tr>
              <a:tr h="790575">
                <a:tc>
                  <a:txBody>
                    <a:bodyPr lIns="152400" tIns="114300" rIns="114300" bIns="95250"/>
                    <a:lstStyle/>
                    <a:p>
                      <a:r>
                        <a:rPr sz="1950" b="0">
                          <a:solidFill>
                            <a:srgbClr val="102A43"/>
                          </a:solidFill>
                          <a:latin typeface="Malgun Gothic"/>
                          <a:ea typeface="Malgun Gothic"/>
                          <a:cs typeface="Malgun Gothic"/>
                        </a:rPr>
                        <a:t>영상마다 같은 물체의 관측이 반복됨</a:t>
                      </a:r>
                    </a:p>
                  </a:txBody>
                  <a:tcPr marL="91440" marR="91440" marT="45720" marB="45720" anchor="ctr">
                    <a:solidFill>
                      <a:srgbClr val="F5F8FC"/>
                    </a:solidFill>
                  </a:tcPr>
                </a:tc>
                <a:tc>
                  <a:txBody>
                    <a:bodyPr lIns="152400" tIns="114300" rIns="114300" bIns="95250"/>
                    <a:lstStyle/>
                    <a:p>
                      <a:r>
                        <a:rPr sz="1950" b="0">
                          <a:solidFill>
                            <a:srgbClr val="102A43"/>
                          </a:solidFill>
                          <a:latin typeface="Malgun Gothic"/>
                          <a:ea typeface="Malgun Gothic"/>
                          <a:cs typeface="Malgun Gothic"/>
                        </a:rPr>
                        <a:t>2D 분할 결과를 3D 점에 연결·통합</a:t>
                      </a:r>
                    </a:p>
                  </a:txBody>
                  <a:tcPr marL="91440" marR="91440" marT="45720" marB="45720" anchor="ctr">
                    <a:solidFill>
                      <a:srgbClr val="F5F8FC"/>
                    </a:solidFill>
                  </a:tcPr>
                </a:tc>
              </a:tr>
              <a:tr h="790575">
                <a:tc>
                  <a:txBody>
                    <a:bodyPr lIns="152400" tIns="114300" rIns="114300" bIns="95250"/>
                    <a:lstStyle/>
                    <a:p>
                      <a:r>
                        <a:rPr sz="1950" b="0">
                          <a:solidFill>
                            <a:srgbClr val="102A43"/>
                          </a:solidFill>
                          <a:latin typeface="Malgun Gothic"/>
                          <a:ea typeface="Malgun Gothic"/>
                          <a:cs typeface="Malgun Gothic"/>
                        </a:rPr>
                        <a:t>누적 기록의 탐색과 변경 확인이 어려움</a:t>
                      </a:r>
                    </a:p>
                  </a:txBody>
                  <a:tcPr marL="91440" marR="91440" marT="45720" marB="45720" anchor="ctr">
                    <a:solidFill>
                      <a:srgbClr val="FFFFFF"/>
                    </a:solidFill>
                  </a:tcPr>
                </a:tc>
                <a:tc>
                  <a:txBody>
                    <a:bodyPr lIns="152400" tIns="114300" rIns="114300" bIns="95250"/>
                    <a:lstStyle/>
                    <a:p>
                      <a:r>
                        <a:rPr sz="1950" b="0">
                          <a:solidFill>
                            <a:srgbClr val="102A43"/>
                          </a:solidFill>
                          <a:latin typeface="Malgun Gothic"/>
                          <a:ea typeface="Malgun Gothic"/>
                          <a:cs typeface="Malgun Gothic"/>
                        </a:rPr>
                        <a:t>가상투어·의미 지도·변화 이력 웹 조회</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62125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과제내용 및 추진방법 / 과제 범위">
            <a:extLst xmlns:a="http://schemas.openxmlformats.org/drawingml/2006/main">
              <a:ext uri="{FF2B5EF4-FFF2-40B4-BE49-F238E27FC236}">
                <a16:creationId xmlns:a16="http://schemas.microsoft.com/office/drawing/2014/main" id="{638A48CA-C1E9-48EF-8A1A-3A9C3F2120BD}"/>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과제 범위</a:t>
            </a:r>
          </a:p>
        </p:txBody>
      </p:sp>
      <p:sp>
        <p:nvSpPr>
          <p:cNvPr id="2" name="가상투어와 의미 지도로 공간 변화를 확인합니다">
            <a:extLst xmlns:a="http://schemas.openxmlformats.org/drawingml/2006/main">
              <a:ext uri="{FF2B5EF4-FFF2-40B4-BE49-F238E27FC236}">
                <a16:creationId xmlns:a16="http://schemas.microsoft.com/office/drawing/2014/main" id="{D62D5C4E-7EBE-4312-B6F7-188A29597DEE}"/>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가상투어와 의미 지도로 공간 변화를 확인합니다</a:t>
            </a:r>
          </a:p>
        </p:txBody>
      </p:sp>
      <p:sp>
        <p:nvSpPr>
          <p:cNvPr id="3" name="RGB로 복원·분석을 검증한 뒤, 360° 입력과 촬영 회차 비교로 확장합니다">
            <a:extLst xmlns:a="http://schemas.openxmlformats.org/drawingml/2006/main">
              <a:ext uri="{FF2B5EF4-FFF2-40B4-BE49-F238E27FC236}">
                <a16:creationId xmlns:a16="http://schemas.microsoft.com/office/drawing/2014/main" id="{FD8D2A60-9B31-42DA-B620-E4D581E69845}"/>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RGB로 복원·분석을 검증한 뒤, 360° 입력과 촬영 회차 비교로 확장합니다</a:t>
            </a:r>
          </a:p>
        </p:txBody>
      </p:sp>
      <p:sp>
        <p:nvSpPr>
          <p:cNvPr id="4" name="SpaceWatch3D  ·  산학협력프로젝트 계획발표">
            <a:extLst xmlns:a="http://schemas.openxmlformats.org/drawingml/2006/main">
              <a:ext uri="{FF2B5EF4-FFF2-40B4-BE49-F238E27FC236}">
                <a16:creationId xmlns:a16="http://schemas.microsoft.com/office/drawing/2014/main" id="{77BE5DA3-580F-4FF7-9463-9FFE292B9D4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2">
            <a:extLst xmlns:a="http://schemas.openxmlformats.org/drawingml/2006/main">
              <a:ext uri="{FF2B5EF4-FFF2-40B4-BE49-F238E27FC236}">
                <a16:creationId xmlns:a16="http://schemas.microsoft.com/office/drawing/2014/main" id="{92228826-6B2F-487A-8D05-62FDCAA0C4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04</a:t>
            </a:r>
          </a:p>
        </p:txBody>
      </p:sp>
      <p:sp>
        <p:nvSpPr>
          <p:cNvPr id="6" name="가상투어·웹서비스">
            <a:extLst xmlns:a="http://schemas.openxmlformats.org/drawingml/2006/main">
              <a:ext uri="{FF2B5EF4-FFF2-40B4-BE49-F238E27FC236}">
                <a16:creationId xmlns:a16="http://schemas.microsoft.com/office/drawing/2014/main" id="{0D0C344B-E348-41C7-809F-4CCE24FDBF46}"/>
              </a:ext>
            </a:extLst>
          </p:cNvPr>
          <p:cNvSpPr>
            <a:spLocks xmlns:a="http://schemas.openxmlformats.org/drawingml/2006/main" noGrp="1"/>
          </p:cNvSpPr>
          <p:nvPr/>
        </p:nvSpPr>
        <p:spPr>
          <a:xfrm xmlns:a="http://schemas.openxmlformats.org/drawingml/2006/main">
            <a:off x="628650" y="2581275"/>
            <a:ext cx="52101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463EB"/>
                </a:solidFill>
                <a:latin typeface="Malgun Gothic"/>
                <a:ea typeface="Malgun Gothic"/>
                <a:cs typeface="Malgun Gothic"/>
              </a:defRPr>
            </a:pPr>
            <a:r>
              <a:rPr sz="2700" b="1">
                <a:solidFill>
                  <a:srgbClr val="2463EB"/>
                </a:solidFill>
                <a:latin typeface="Malgun Gothic"/>
                <a:ea typeface="Malgun Gothic"/>
                <a:cs typeface="Malgun Gothic"/>
              </a:rPr>
              <a:t>가상투어·웹서비스</a:t>
            </a:r>
          </a:p>
        </p:txBody>
      </p:sp>
      <p:sp>
        <p:nvSpPr>
          <p:cNvPr id="7" name="촬영 위치와 대표 장면을 연결 날짜별 공간 탐색과 결과 조회">
            <a:extLst xmlns:a="http://schemas.openxmlformats.org/drawingml/2006/main">
              <a:ext uri="{FF2B5EF4-FFF2-40B4-BE49-F238E27FC236}">
                <a16:creationId xmlns:a16="http://schemas.microsoft.com/office/drawing/2014/main" id="{2376A741-B56B-4218-A3B0-1186495E2F4C}"/>
              </a:ext>
            </a:extLst>
          </p:cNvPr>
          <p:cNvSpPr>
            <a:spLocks xmlns:a="http://schemas.openxmlformats.org/drawingml/2006/main" noGrp="1"/>
          </p:cNvSpPr>
          <p:nvPr/>
        </p:nvSpPr>
        <p:spPr>
          <a:xfrm xmlns:a="http://schemas.openxmlformats.org/drawingml/2006/main">
            <a:off x="628650" y="333375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촬영 위치와 대표 장면을 연결</a:t>
            </a:r>
          </a:p>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날짜별 공간 탐색과 결과 조회</a:t>
            </a:r>
          </a:p>
        </p:txBody>
      </p:sp>
      <p:sp>
        <p:nvSpPr>
          <p:cNvPr id="8" name="3D 의미 지도">
            <a:extLst xmlns:a="http://schemas.openxmlformats.org/drawingml/2006/main">
              <a:ext uri="{FF2B5EF4-FFF2-40B4-BE49-F238E27FC236}">
                <a16:creationId xmlns:a16="http://schemas.microsoft.com/office/drawing/2014/main" id="{CE5014F3-3E75-4D82-9573-C2C777A919BC}"/>
              </a:ext>
            </a:extLst>
          </p:cNvPr>
          <p:cNvSpPr>
            <a:spLocks xmlns:a="http://schemas.openxmlformats.org/drawingml/2006/main" noGrp="1"/>
          </p:cNvSpPr>
          <p:nvPr/>
        </p:nvSpPr>
        <p:spPr>
          <a:xfrm xmlns:a="http://schemas.openxmlformats.org/drawingml/2006/main">
            <a:off x="6343650" y="258127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087F8C"/>
                </a:solidFill>
                <a:latin typeface="Malgun Gothic"/>
                <a:ea typeface="Malgun Gothic"/>
                <a:cs typeface="Malgun Gothic"/>
              </a:defRPr>
            </a:pPr>
            <a:r>
              <a:rPr sz="2700" b="1">
                <a:solidFill>
                  <a:srgbClr val="087F8C"/>
                </a:solidFill>
                <a:latin typeface="Malgun Gothic"/>
                <a:ea typeface="Malgun Gothic"/>
                <a:cs typeface="Malgun Gothic"/>
              </a:rPr>
              <a:t>3D 의미 지도</a:t>
            </a:r>
          </a:p>
        </p:txBody>
      </p:sp>
      <p:sp>
        <p:nvSpPr>
          <p:cNvPr id="9" name="3D 점에 클래스와 관측 근거 저장 정합 후 공간 상태 변화 비교">
            <a:extLst xmlns:a="http://schemas.openxmlformats.org/drawingml/2006/main">
              <a:ext uri="{FF2B5EF4-FFF2-40B4-BE49-F238E27FC236}">
                <a16:creationId xmlns:a16="http://schemas.microsoft.com/office/drawing/2014/main" id="{BA3F03C6-1A50-413F-831C-A5AB417F78E4}"/>
              </a:ext>
            </a:extLst>
          </p:cNvPr>
          <p:cNvSpPr>
            <a:spLocks xmlns:a="http://schemas.openxmlformats.org/drawingml/2006/main" noGrp="1"/>
          </p:cNvSpPr>
          <p:nvPr/>
        </p:nvSpPr>
        <p:spPr>
          <a:xfrm xmlns:a="http://schemas.openxmlformats.org/drawingml/2006/main">
            <a:off x="6343650" y="3333750"/>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3D 점에 클래스와 관측 근거 저장</a:t>
            </a:r>
          </a:p>
          <a:p xmlns:a="http://schemas.openxmlformats.org/drawingml/2006/main">
            <a:pPr>
              <a:defRPr sz="2175" b="0">
                <a:solidFill>
                  <a:srgbClr val="102A43"/>
                </a:solidFill>
                <a:latin typeface="Malgun Gothic"/>
                <a:ea typeface="Malgun Gothic"/>
                <a:cs typeface="Malgun Gothic"/>
              </a:defRPr>
            </a:pPr>
            <a:r>
              <a:rPr sz="2175" b="0">
                <a:solidFill>
                  <a:srgbClr val="102A43"/>
                </a:solidFill>
                <a:latin typeface="Malgun Gothic"/>
                <a:ea typeface="Malgun Gothic"/>
                <a:cs typeface="Malgun Gothic"/>
              </a:rPr>
              <a:t>정합 후 공간 상태 변화 비교</a:t>
            </a:r>
          </a:p>
        </p:txBody>
      </p:sp>
      <p:sp>
        <p:nvSpPr>
          <p:cNvPr id="10" name="2D는 클래스 관측에, 3D는 공간 구조와 관측 통합·비교에 활용">
            <a:extLst xmlns:a="http://schemas.openxmlformats.org/drawingml/2006/main">
              <a:ext uri="{FF2B5EF4-FFF2-40B4-BE49-F238E27FC236}">
                <a16:creationId xmlns:a16="http://schemas.microsoft.com/office/drawing/2014/main" id="{F98480BF-E147-4303-8E4B-758DFDD4BBE4}"/>
              </a:ext>
            </a:extLst>
          </p:cNvPr>
          <p:cNvSpPr>
            <a:spLocks xmlns:a="http://schemas.openxmlformats.org/drawingml/2006/main" noGrp="1"/>
          </p:cNvSpPr>
          <p:nvPr/>
        </p:nvSpPr>
        <p:spPr>
          <a:xfrm xmlns:a="http://schemas.openxmlformats.org/drawingml/2006/main">
            <a:off x="628650" y="524827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02A43"/>
                </a:solidFill>
                <a:latin typeface="Malgun Gothic"/>
                <a:ea typeface="Malgun Gothic"/>
                <a:cs typeface="Malgun Gothic"/>
              </a:defRPr>
            </a:pPr>
            <a:r>
              <a:rPr sz="2100" b="1">
                <a:solidFill>
                  <a:srgbClr val="102A43"/>
                </a:solidFill>
                <a:latin typeface="Malgun Gothic"/>
                <a:ea typeface="Malgun Gothic"/>
                <a:cs typeface="Malgun Gothic"/>
              </a:rPr>
              <a:t>2D는 클래스 관측에, 3D는 공간 구조와 관측 통합·비교에 활용</a:t>
            </a:r>
          </a:p>
        </p:txBody>
      </p:sp>
      <p:sp>
        <p:nvSpPr>
          <p:cNvPr id="11" name="메시·텍스처는 선택 사항  /  360° 장면 탐색은 확장 목표">
            <a:extLst xmlns:a="http://schemas.openxmlformats.org/drawingml/2006/main">
              <a:ext uri="{FF2B5EF4-FFF2-40B4-BE49-F238E27FC236}">
                <a16:creationId xmlns:a16="http://schemas.microsoft.com/office/drawing/2014/main" id="{EA718420-26C8-4DF4-909D-011A762358CD}"/>
              </a:ext>
            </a:extLst>
          </p:cNvPr>
          <p:cNvSpPr>
            <a:spLocks xmlns:a="http://schemas.openxmlformats.org/drawingml/2006/main" noGrp="1"/>
          </p:cNvSpPr>
          <p:nvPr/>
        </p:nvSpPr>
        <p:spPr>
          <a:xfrm xmlns:a="http://schemas.openxmlformats.org/drawingml/2006/main">
            <a:off x="628650" y="5876925"/>
            <a:ext cx="10934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메시·텍스처는 선택 사항  /  360° 장면 탐색은 확장 목표</a:t>
            </a:r>
          </a:p>
        </p:txBody>
      </p:sp>
    </p:spTree>
    <p:extLst>
      <p:ext uri="{BB962C8B-B14F-4D97-AF65-F5344CB8AC3E}">
        <p14:creationId xmlns:p14="http://schemas.microsoft.com/office/powerpoint/2010/main" val="9527762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과제내용 및 추진방법 / 최종 목표">
            <a:extLst xmlns:a="http://schemas.openxmlformats.org/drawingml/2006/main">
              <a:ext uri="{FF2B5EF4-FFF2-40B4-BE49-F238E27FC236}">
                <a16:creationId xmlns:a16="http://schemas.microsoft.com/office/drawing/2014/main" id="{FAFE5819-FE18-482F-8BE6-27F1835D1F58}"/>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최종 목표</a:t>
            </a:r>
          </a:p>
        </p:txBody>
      </p:sp>
      <p:sp>
        <p:nvSpPr>
          <p:cNvPr id="2" name="복원·의미 지도·가상투어·변화 이력의 통합">
            <a:extLst xmlns:a="http://schemas.openxmlformats.org/drawingml/2006/main">
              <a:ext uri="{FF2B5EF4-FFF2-40B4-BE49-F238E27FC236}">
                <a16:creationId xmlns:a16="http://schemas.microsoft.com/office/drawing/2014/main" id="{B4D69660-347E-4D14-82D1-6DABDE1263EA}"/>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복원·의미 지도·가상투어·변화 이력의 통합</a:t>
            </a:r>
          </a:p>
        </p:txBody>
      </p:sp>
      <p:sp>
        <p:nvSpPr>
          <p:cNvPr id="3" name="최종 시연 목표: 같은 공간의 두 촬영 회차를 웹에서 탐색하고 비교">
            <a:extLst xmlns:a="http://schemas.openxmlformats.org/drawingml/2006/main">
              <a:ext uri="{FF2B5EF4-FFF2-40B4-BE49-F238E27FC236}">
                <a16:creationId xmlns:a16="http://schemas.microsoft.com/office/drawing/2014/main" id="{5BE5AD96-C4B2-4BAE-A127-D3CADB830018}"/>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최종 시연 목표: 같은 공간의 두 촬영 회차를 웹에서 탐색하고 비교</a:t>
            </a:r>
          </a:p>
        </p:txBody>
      </p:sp>
      <p:sp>
        <p:nvSpPr>
          <p:cNvPr id="4" name="SpaceWatch3D  ·  산학협력프로젝트 계획발표">
            <a:extLst xmlns:a="http://schemas.openxmlformats.org/drawingml/2006/main">
              <a:ext uri="{FF2B5EF4-FFF2-40B4-BE49-F238E27FC236}">
                <a16:creationId xmlns:a16="http://schemas.microsoft.com/office/drawing/2014/main" id="{AEC0349E-E935-4127-9534-3D430C56040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4">
            <a:extLst xmlns:a="http://schemas.openxmlformats.org/drawingml/2006/main">
              <a:ext uri="{FF2B5EF4-FFF2-40B4-BE49-F238E27FC236}">
                <a16:creationId xmlns:a16="http://schemas.microsoft.com/office/drawing/2014/main" id="{88D97F67-DC0D-44FB-A278-D656801DE7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05</a:t>
            </a:r>
          </a:p>
        </p:txBody>
      </p:sp>
      <p:sp>
        <p:nvSpPr>
          <p:cNvPr id="6" name="01">
            <a:extLst xmlns:a="http://schemas.openxmlformats.org/drawingml/2006/main">
              <a:ext uri="{FF2B5EF4-FFF2-40B4-BE49-F238E27FC236}">
                <a16:creationId xmlns:a16="http://schemas.microsoft.com/office/drawing/2014/main" id="{F7A49DD0-63C9-480E-83E6-D9D50B33E4D0}"/>
              </a:ext>
            </a:extLst>
          </p:cNvPr>
          <p:cNvSpPr>
            <a:spLocks xmlns:a="http://schemas.openxmlformats.org/drawingml/2006/main" noGrp="1"/>
          </p:cNvSpPr>
          <p:nvPr/>
        </p:nvSpPr>
        <p:spPr>
          <a:xfrm xmlns:a="http://schemas.openxmlformats.org/drawingml/2006/main">
            <a:off x="638175" y="24098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01</a:t>
            </a:r>
          </a:p>
        </p:txBody>
      </p:sp>
      <p:sp>
        <p:nvSpPr>
          <p:cNvPr id="7" name="촬영별 공간 복원">
            <a:extLst xmlns:a="http://schemas.openxmlformats.org/drawingml/2006/main">
              <a:ext uri="{FF2B5EF4-FFF2-40B4-BE49-F238E27FC236}">
                <a16:creationId xmlns:a16="http://schemas.microsoft.com/office/drawing/2014/main" id="{CC0A0BB3-FD84-4035-8B86-6232B054D08F}"/>
              </a:ext>
            </a:extLst>
          </p:cNvPr>
          <p:cNvSpPr>
            <a:spLocks xmlns:a="http://schemas.openxmlformats.org/drawingml/2006/main" noGrp="1"/>
          </p:cNvSpPr>
          <p:nvPr/>
        </p:nvSpPr>
        <p:spPr>
          <a:xfrm xmlns:a="http://schemas.openxmlformats.org/drawingml/2006/main">
            <a:off x="1657350" y="24098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촬영별 공간 복원</a:t>
            </a:r>
          </a:p>
        </p:txBody>
      </p:sp>
      <p:sp>
        <p:nvSpPr>
          <p:cNvPr id="8" name="카메라 자세·깊이·조밀 점군">
            <a:extLst xmlns:a="http://schemas.openxmlformats.org/drawingml/2006/main">
              <a:ext uri="{FF2B5EF4-FFF2-40B4-BE49-F238E27FC236}">
                <a16:creationId xmlns:a16="http://schemas.microsoft.com/office/drawing/2014/main" id="{6703E792-9BD3-4F9B-901B-27E1F485CD5F}"/>
              </a:ext>
            </a:extLst>
          </p:cNvPr>
          <p:cNvSpPr>
            <a:spLocks xmlns:a="http://schemas.openxmlformats.org/drawingml/2006/main" noGrp="1"/>
          </p:cNvSpPr>
          <p:nvPr/>
        </p:nvSpPr>
        <p:spPr>
          <a:xfrm xmlns:a="http://schemas.openxmlformats.org/drawingml/2006/main">
            <a:off x="5772150" y="24479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카메라 자세·깊이·조밀 점군</a:t>
            </a:r>
          </a:p>
        </p:txBody>
      </p:sp>
      <p:sp>
        <p:nvSpPr>
          <p:cNvPr id="9" name="02">
            <a:extLst xmlns:a="http://schemas.openxmlformats.org/drawingml/2006/main">
              <a:ext uri="{FF2B5EF4-FFF2-40B4-BE49-F238E27FC236}">
                <a16:creationId xmlns:a16="http://schemas.microsoft.com/office/drawing/2014/main" id="{86D9C397-F4A0-45C7-B682-3917565851E9}"/>
              </a:ext>
            </a:extLst>
          </p:cNvPr>
          <p:cNvSpPr>
            <a:spLocks xmlns:a="http://schemas.openxmlformats.org/drawingml/2006/main" noGrp="1"/>
          </p:cNvSpPr>
          <p:nvPr/>
        </p:nvSpPr>
        <p:spPr>
          <a:xfrm xmlns:a="http://schemas.openxmlformats.org/drawingml/2006/main">
            <a:off x="638175" y="33242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02</a:t>
            </a:r>
          </a:p>
        </p:txBody>
      </p:sp>
      <p:sp>
        <p:nvSpPr>
          <p:cNvPr id="10" name="의미 지도 구축">
            <a:extLst xmlns:a="http://schemas.openxmlformats.org/drawingml/2006/main">
              <a:ext uri="{FF2B5EF4-FFF2-40B4-BE49-F238E27FC236}">
                <a16:creationId xmlns:a16="http://schemas.microsoft.com/office/drawing/2014/main" id="{87C89E7B-9144-4EE6-A876-82B09A383F83}"/>
              </a:ext>
            </a:extLst>
          </p:cNvPr>
          <p:cNvSpPr>
            <a:spLocks xmlns:a="http://schemas.openxmlformats.org/drawingml/2006/main" noGrp="1"/>
          </p:cNvSpPr>
          <p:nvPr/>
        </p:nvSpPr>
        <p:spPr>
          <a:xfrm xmlns:a="http://schemas.openxmlformats.org/drawingml/2006/main">
            <a:off x="1657350" y="33242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의미 지도 구축</a:t>
            </a:r>
          </a:p>
        </p:txBody>
      </p:sp>
      <p:sp>
        <p:nvSpPr>
          <p:cNvPr id="11" name="점별 클래스·신뢰도·관측 근거">
            <a:extLst xmlns:a="http://schemas.openxmlformats.org/drawingml/2006/main">
              <a:ext uri="{FF2B5EF4-FFF2-40B4-BE49-F238E27FC236}">
                <a16:creationId xmlns:a16="http://schemas.microsoft.com/office/drawing/2014/main" id="{F6CEB11A-CB97-44F8-BCC4-58A15FE35330}"/>
              </a:ext>
            </a:extLst>
          </p:cNvPr>
          <p:cNvSpPr>
            <a:spLocks xmlns:a="http://schemas.openxmlformats.org/drawingml/2006/main" noGrp="1"/>
          </p:cNvSpPr>
          <p:nvPr/>
        </p:nvSpPr>
        <p:spPr>
          <a:xfrm xmlns:a="http://schemas.openxmlformats.org/drawingml/2006/main">
            <a:off x="5772150" y="33623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점별 클래스·신뢰도·관측 근거</a:t>
            </a:r>
          </a:p>
        </p:txBody>
      </p:sp>
      <p:sp>
        <p:nvSpPr>
          <p:cNvPr id="12" name="03">
            <a:extLst xmlns:a="http://schemas.openxmlformats.org/drawingml/2006/main">
              <a:ext uri="{FF2B5EF4-FFF2-40B4-BE49-F238E27FC236}">
                <a16:creationId xmlns:a16="http://schemas.microsoft.com/office/drawing/2014/main" id="{D1C32EEC-7E54-4D07-B4C5-94C6A1522905}"/>
              </a:ext>
            </a:extLst>
          </p:cNvPr>
          <p:cNvSpPr>
            <a:spLocks xmlns:a="http://schemas.openxmlformats.org/drawingml/2006/main" noGrp="1"/>
          </p:cNvSpPr>
          <p:nvPr/>
        </p:nvSpPr>
        <p:spPr>
          <a:xfrm xmlns:a="http://schemas.openxmlformats.org/drawingml/2006/main">
            <a:off x="638175" y="42386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03</a:t>
            </a:r>
          </a:p>
        </p:txBody>
      </p:sp>
      <p:sp>
        <p:nvSpPr>
          <p:cNvPr id="13" name="가상투어 구성">
            <a:extLst xmlns:a="http://schemas.openxmlformats.org/drawingml/2006/main">
              <a:ext uri="{FF2B5EF4-FFF2-40B4-BE49-F238E27FC236}">
                <a16:creationId xmlns:a16="http://schemas.microsoft.com/office/drawing/2014/main" id="{89CE2B17-FDFF-4225-A277-3AF6D6BD3B8B}"/>
              </a:ext>
            </a:extLst>
          </p:cNvPr>
          <p:cNvSpPr>
            <a:spLocks xmlns:a="http://schemas.openxmlformats.org/drawingml/2006/main" noGrp="1"/>
          </p:cNvSpPr>
          <p:nvPr/>
        </p:nvSpPr>
        <p:spPr>
          <a:xfrm xmlns:a="http://schemas.openxmlformats.org/drawingml/2006/main">
            <a:off x="1657350" y="42386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가상투어 구성</a:t>
            </a:r>
          </a:p>
        </p:txBody>
      </p:sp>
      <p:sp>
        <p:nvSpPr>
          <p:cNvPr id="14" name="대표 장면·촬영 위치·이동 링크">
            <a:extLst xmlns:a="http://schemas.openxmlformats.org/drawingml/2006/main">
              <a:ext uri="{FF2B5EF4-FFF2-40B4-BE49-F238E27FC236}">
                <a16:creationId xmlns:a16="http://schemas.microsoft.com/office/drawing/2014/main" id="{BFDEF301-A8B8-4EE3-9D8A-47C018B2D445}"/>
              </a:ext>
            </a:extLst>
          </p:cNvPr>
          <p:cNvSpPr>
            <a:spLocks xmlns:a="http://schemas.openxmlformats.org/drawingml/2006/main" noGrp="1"/>
          </p:cNvSpPr>
          <p:nvPr/>
        </p:nvSpPr>
        <p:spPr>
          <a:xfrm xmlns:a="http://schemas.openxmlformats.org/drawingml/2006/main">
            <a:off x="5772150" y="42767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대표 장면·촬영 위치·이동 링크</a:t>
            </a:r>
          </a:p>
        </p:txBody>
      </p:sp>
      <p:sp>
        <p:nvSpPr>
          <p:cNvPr id="15" name="04">
            <a:extLst xmlns:a="http://schemas.openxmlformats.org/drawingml/2006/main">
              <a:ext uri="{FF2B5EF4-FFF2-40B4-BE49-F238E27FC236}">
                <a16:creationId xmlns:a16="http://schemas.microsoft.com/office/drawing/2014/main" id="{386C97AF-2973-4EAC-AC62-5DDD7B768F84}"/>
              </a:ext>
            </a:extLst>
          </p:cNvPr>
          <p:cNvSpPr>
            <a:spLocks xmlns:a="http://schemas.openxmlformats.org/drawingml/2006/main" noGrp="1"/>
          </p:cNvSpPr>
          <p:nvPr/>
        </p:nvSpPr>
        <p:spPr>
          <a:xfrm xmlns:a="http://schemas.openxmlformats.org/drawingml/2006/main">
            <a:off x="638175" y="5153025"/>
            <a:ext cx="819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2463EB"/>
                </a:solidFill>
                <a:latin typeface="Malgun Gothic"/>
                <a:ea typeface="Malgun Gothic"/>
                <a:cs typeface="Malgun Gothic"/>
              </a:defRPr>
            </a:pPr>
            <a:r>
              <a:rPr sz="2625" b="1">
                <a:solidFill>
                  <a:srgbClr val="2463EB"/>
                </a:solidFill>
                <a:latin typeface="Malgun Gothic"/>
                <a:ea typeface="Malgun Gothic"/>
                <a:cs typeface="Malgun Gothic"/>
              </a:rPr>
              <a:t>04</a:t>
            </a:r>
          </a:p>
        </p:txBody>
      </p:sp>
      <p:sp>
        <p:nvSpPr>
          <p:cNvPr id="16" name="변화 이력 조회">
            <a:extLst xmlns:a="http://schemas.openxmlformats.org/drawingml/2006/main">
              <a:ext uri="{FF2B5EF4-FFF2-40B4-BE49-F238E27FC236}">
                <a16:creationId xmlns:a16="http://schemas.microsoft.com/office/drawing/2014/main" id="{BE0BADB1-F276-4163-9C86-807CE9790AF9}"/>
              </a:ext>
            </a:extLst>
          </p:cNvPr>
          <p:cNvSpPr>
            <a:spLocks xmlns:a="http://schemas.openxmlformats.org/drawingml/2006/main" noGrp="1"/>
          </p:cNvSpPr>
          <p:nvPr/>
        </p:nvSpPr>
        <p:spPr>
          <a:xfrm xmlns:a="http://schemas.openxmlformats.org/drawingml/2006/main">
            <a:off x="1657350" y="51530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A43"/>
                </a:solidFill>
                <a:latin typeface="Malgun Gothic"/>
                <a:ea typeface="Malgun Gothic"/>
                <a:cs typeface="Malgun Gothic"/>
              </a:defRPr>
            </a:pPr>
            <a:r>
              <a:rPr sz="2250" b="1">
                <a:solidFill>
                  <a:srgbClr val="102A43"/>
                </a:solidFill>
                <a:latin typeface="Malgun Gothic"/>
                <a:ea typeface="Malgun Gothic"/>
                <a:cs typeface="Malgun Gothic"/>
              </a:rPr>
              <a:t>변화 이력 조회</a:t>
            </a:r>
          </a:p>
        </p:txBody>
      </p:sp>
      <p:sp>
        <p:nvSpPr>
          <p:cNvPr id="17" name="공간 상태 변화 후보와 전후 근거">
            <a:extLst xmlns:a="http://schemas.openxmlformats.org/drawingml/2006/main">
              <a:ext uri="{FF2B5EF4-FFF2-40B4-BE49-F238E27FC236}">
                <a16:creationId xmlns:a16="http://schemas.microsoft.com/office/drawing/2014/main" id="{086B7CC4-55A6-4EF2-BD7B-167A031EDF35}"/>
              </a:ext>
            </a:extLst>
          </p:cNvPr>
          <p:cNvSpPr>
            <a:spLocks xmlns:a="http://schemas.openxmlformats.org/drawingml/2006/main" noGrp="1"/>
          </p:cNvSpPr>
          <p:nvPr/>
        </p:nvSpPr>
        <p:spPr>
          <a:xfrm xmlns:a="http://schemas.openxmlformats.org/drawingml/2006/main">
            <a:off x="5772150" y="5191125"/>
            <a:ext cx="5734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577"/>
                </a:solidFill>
                <a:latin typeface="Malgun Gothic"/>
                <a:ea typeface="Malgun Gothic"/>
                <a:cs typeface="Malgun Gothic"/>
              </a:defRPr>
            </a:pPr>
            <a:r>
              <a:rPr sz="2025" b="0">
                <a:solidFill>
                  <a:srgbClr val="526577"/>
                </a:solidFill>
                <a:latin typeface="Malgun Gothic"/>
                <a:ea typeface="Malgun Gothic"/>
                <a:cs typeface="Malgun Gothic"/>
              </a:rPr>
              <a:t>공간 상태 변화 후보와 전후 근거</a:t>
            </a:r>
          </a:p>
        </p:txBody>
      </p:sp>
    </p:spTree>
    <p:extLst>
      <p:ext uri="{BB962C8B-B14F-4D97-AF65-F5344CB8AC3E}">
        <p14:creationId xmlns:p14="http://schemas.microsoft.com/office/powerpoint/2010/main" val="1865946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과제내용 및 추진방법 / 요구분석">
            <a:extLst xmlns:a="http://schemas.openxmlformats.org/drawingml/2006/main">
              <a:ext uri="{FF2B5EF4-FFF2-40B4-BE49-F238E27FC236}">
                <a16:creationId xmlns:a16="http://schemas.microsoft.com/office/drawing/2014/main" id="{7D16D8CA-427D-452D-935B-2B8788A94B96}"/>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요구분석</a:t>
            </a:r>
          </a:p>
        </p:txBody>
      </p:sp>
      <p:sp>
        <p:nvSpPr>
          <p:cNvPr id="2" name="기능별 산출물과 검증 기준">
            <a:extLst xmlns:a="http://schemas.openxmlformats.org/drawingml/2006/main">
              <a:ext uri="{FF2B5EF4-FFF2-40B4-BE49-F238E27FC236}">
                <a16:creationId xmlns:a16="http://schemas.microsoft.com/office/drawing/2014/main" id="{929B36BB-7B55-4FDE-8AEC-A34476A7F087}"/>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기능별 산출물과 검증 기준</a:t>
            </a:r>
          </a:p>
        </p:txBody>
      </p:sp>
      <p:sp>
        <p:nvSpPr>
          <p:cNvPr id="3" name="복원 결과의 검증부터 서비스 통합까지 단계별로 확인합니다">
            <a:extLst xmlns:a="http://schemas.openxmlformats.org/drawingml/2006/main">
              <a:ext uri="{FF2B5EF4-FFF2-40B4-BE49-F238E27FC236}">
                <a16:creationId xmlns:a16="http://schemas.microsoft.com/office/drawing/2014/main" id="{9EC12F61-A30E-46E9-90A9-ACC28874711F}"/>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복원 결과의 검증부터 서비스 통합까지 단계별로 확인합니다</a:t>
            </a:r>
          </a:p>
        </p:txBody>
      </p:sp>
      <p:sp>
        <p:nvSpPr>
          <p:cNvPr id="4" name="SpaceWatch3D  ·  산학협력프로젝트 계획발표">
            <a:extLst xmlns:a="http://schemas.openxmlformats.org/drawingml/2006/main">
              <a:ext uri="{FF2B5EF4-FFF2-40B4-BE49-F238E27FC236}">
                <a16:creationId xmlns:a16="http://schemas.microsoft.com/office/drawing/2014/main" id="{4A8D955E-8416-4151-913B-14D0AF9EAEF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3">
            <a:extLst xmlns:a="http://schemas.openxmlformats.org/drawingml/2006/main">
              <a:ext uri="{FF2B5EF4-FFF2-40B4-BE49-F238E27FC236}">
                <a16:creationId xmlns:a16="http://schemas.microsoft.com/office/drawing/2014/main" id="{9C0B2DC7-C610-4CC1-947C-6356AF8852A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06</a:t>
            </a:r>
          </a:p>
        </p:txBody>
      </p:sp>
      <p:graphicFrame>
        <p:nvGraphicFramePr>
          <p:cNvPr id="12" name=""/>
          <p:cNvGraphicFramePr/>
          <p:nvPr/>
        </p:nvGraphicFramePr>
        <p:xfrm>
          <a:off xmlns:a="http://schemas.openxmlformats.org/drawingml/2006/main" x="609600" y="2324100"/>
          <a:ext xmlns:a="http://schemas.openxmlformats.org/drawingml/2006/main" cx="10972800" cy="3667125"/>
        </p:xfrm>
        <a:graphic xmlns:a="http://schemas.openxmlformats.org/drawingml/2006/main">
          <a:graphicData uri="http://schemas.openxmlformats.org/drawingml/2006/table">
            <a:tbl>
              <a:tblPr/>
              <a:tblGrid>
                <a:gridCol w="2952750"/>
                <a:gridCol w="3609975"/>
                <a:gridCol w="4410075"/>
              </a:tblGrid>
              <a:tr h="523875">
                <a:tc>
                  <a:txBody>
                    <a:bodyPr lIns="152400" tIns="114300" rIns="114300" bIns="95250"/>
                    <a:lstStyle/>
                    <a:p>
                      <a:r>
                        <a:rPr sz="1725" b="1">
                          <a:solidFill>
                            <a:srgbClr val="FFFFFF"/>
                          </a:solidFill>
                          <a:latin typeface="Malgun Gothic"/>
                          <a:ea typeface="Malgun Gothic"/>
                          <a:cs typeface="Malgun Gothic"/>
                        </a:rPr>
                        <a:t>요구사항</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구현할 기능</a:t>
                      </a:r>
                    </a:p>
                  </a:txBody>
                  <a:tcPr marL="91440" marR="91440" marT="45720" marB="45720" anchor="ctr">
                    <a:solidFill>
                      <a:srgbClr val="102644"/>
                    </a:solidFill>
                  </a:tcPr>
                </a:tc>
                <a:tc>
                  <a:txBody>
                    <a:bodyPr lIns="152400" tIns="114300" rIns="114300" bIns="95250"/>
                    <a:lstStyle/>
                    <a:p>
                      <a:r>
                        <a:rPr sz="1725" b="1">
                          <a:solidFill>
                            <a:srgbClr val="FFFFFF"/>
                          </a:solidFill>
                          <a:latin typeface="Malgun Gothic"/>
                          <a:ea typeface="Malgun Gothic"/>
                          <a:cs typeface="Malgun Gothic"/>
                        </a:rPr>
                        <a:t>검증 기준</a:t>
                      </a:r>
                    </a:p>
                  </a:txBody>
                  <a:tcPr marL="91440" marR="91440" marT="45720" marB="45720" anchor="ctr">
                    <a:solidFill>
                      <a:srgbClr val="102644"/>
                    </a:solidFill>
                  </a:tcPr>
                </a:tc>
              </a:tr>
              <a:tr h="523875">
                <a:tc>
                  <a:txBody>
                    <a:bodyPr lIns="152400" tIns="114300" rIns="114300" bIns="95250"/>
                    <a:lstStyle/>
                    <a:p>
                      <a:r>
                        <a:rPr sz="1725" b="0">
                          <a:solidFill>
                            <a:srgbClr val="102A43"/>
                          </a:solidFill>
                          <a:latin typeface="Malgun Gothic"/>
                          <a:ea typeface="Malgun Gothic"/>
                          <a:cs typeface="Malgun Gothic"/>
                        </a:rPr>
                        <a:t>촬영별 공간 구조 복원</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SfM·MVS 및 메타데이터</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등록률·재투영 오차·깊이 검증</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공간에 객체 의미 연결</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2D 분할·3D 투영·라벨 통합</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투영 일치·라벨 정확도·unknown</a:t>
                      </a:r>
                    </a:p>
                  </a:txBody>
                  <a:tcPr marL="91440" marR="91440" marT="45720" marB="45720" anchor="ctr">
                    <a:solidFill>
                      <a:srgbClr val="F5F8FC"/>
                    </a:solidFill>
                  </a:tcPr>
                </a:tc>
              </a:tr>
              <a:tr h="523875">
                <a:tc>
                  <a:txBody>
                    <a:bodyPr lIns="152400" tIns="114300" rIns="114300" bIns="95250"/>
                    <a:lstStyle/>
                    <a:p>
                      <a:r>
                        <a:rPr sz="1725" b="0">
                          <a:solidFill>
                            <a:srgbClr val="102A43"/>
                          </a:solidFill>
                          <a:latin typeface="Malgun Gothic"/>
                          <a:ea typeface="Malgun Gothic"/>
                          <a:cs typeface="Malgun Gothic"/>
                        </a:rPr>
                        <a:t>가상투어 탐색</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키프레임·이동 링크</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관측 영역·잘못된 링크</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촬영 회차별 변화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스케일·좌표 정합·상태 비교</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정합 오차·변화 정밀도/재현율</a:t>
                      </a:r>
                    </a:p>
                  </a:txBody>
                  <a:tcPr marL="91440" marR="91440" marT="45720" marB="45720" anchor="ctr">
                    <a:solidFill>
                      <a:srgbClr val="F5F8FC"/>
                    </a:solidFill>
                  </a:tcPr>
                </a:tc>
              </a:tr>
              <a:tr h="523875">
                <a:tc>
                  <a:txBody>
                    <a:bodyPr lIns="152400" tIns="114300" rIns="114300" bIns="95250"/>
                    <a:lstStyle/>
                    <a:p>
                      <a:r>
                        <a:rPr sz="1725" b="0">
                          <a:solidFill>
                            <a:srgbClr val="102A43"/>
                          </a:solidFill>
                          <a:latin typeface="Malgun Gothic"/>
                          <a:ea typeface="Malgun Gothic"/>
                          <a:cs typeface="Malgun Gothic"/>
                        </a:rPr>
                        <a:t>웹 결과·이력 관리</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날짜 선택·지도·전후 근거 조회</a:t>
                      </a:r>
                    </a:p>
                  </a:txBody>
                  <a:tcPr marL="91440" marR="91440" marT="45720" marB="45720" anchor="ctr">
                    <a:solidFill>
                      <a:srgbClr val="FFFFFF"/>
                    </a:solidFill>
                  </a:tcPr>
                </a:tc>
                <a:tc>
                  <a:txBody>
                    <a:bodyPr lIns="152400" tIns="114300" rIns="114300" bIns="95250"/>
                    <a:lstStyle/>
                    <a:p>
                      <a:r>
                        <a:rPr sz="1725" b="0">
                          <a:solidFill>
                            <a:srgbClr val="102A43"/>
                          </a:solidFill>
                          <a:latin typeface="Malgun Gothic"/>
                          <a:ea typeface="Malgun Gothic"/>
                          <a:cs typeface="Malgun Gothic"/>
                        </a:rPr>
                        <a:t>업로드부터 조회까지 통합 시험</a:t>
                      </a:r>
                    </a:p>
                  </a:txBody>
                  <a:tcPr marL="91440" marR="91440" marT="45720" marB="45720" anchor="ctr">
                    <a:solidFill>
                      <a:srgbClr val="FFFFFF"/>
                    </a:solidFill>
                  </a:tcPr>
                </a:tc>
              </a:tr>
              <a:tr h="523875">
                <a:tc>
                  <a:txBody>
                    <a:bodyPr lIns="152400" tIns="114300" rIns="114300" bIns="95250"/>
                    <a:lstStyle/>
                    <a:p>
                      <a:r>
                        <a:rPr sz="1725" b="0">
                          <a:solidFill>
                            <a:srgbClr val="102A43"/>
                          </a:solidFill>
                          <a:latin typeface="Malgun Gothic"/>
                          <a:ea typeface="Malgun Gothic"/>
                          <a:cs typeface="Malgun Gothic"/>
                        </a:rPr>
                        <a:t>불확실한 결과 구분</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가림·관측 부족·충돌 보류</a:t>
                      </a:r>
                    </a:p>
                  </a:txBody>
                  <a:tcPr marL="91440" marR="91440" marT="45720" marB="45720" anchor="ctr">
                    <a:solidFill>
                      <a:srgbClr val="F5F8FC"/>
                    </a:solidFill>
                  </a:tcPr>
                </a:tc>
                <a:tc>
                  <a:txBody>
                    <a:bodyPr lIns="152400" tIns="114300" rIns="114300" bIns="95250"/>
                    <a:lstStyle/>
                    <a:p>
                      <a:r>
                        <a:rPr sz="1725" b="0">
                          <a:solidFill>
                            <a:srgbClr val="102A43"/>
                          </a:solidFill>
                          <a:latin typeface="Malgun Gothic"/>
                          <a:ea typeface="Malgun Gothic"/>
                          <a:cs typeface="Malgun Gothic"/>
                        </a:rPr>
                        <a:t>미관측과 실제 제거의 구분</a:t>
                      </a:r>
                    </a:p>
                  </a:txBody>
                  <a:tcPr marL="91440" marR="91440" marT="45720" marB="45720" anchor="ctr">
                    <a:solidFill>
                      <a:srgbClr val="F5F8FC"/>
                    </a:solidFill>
                  </a:tcPr>
                </a:tc>
              </a:tr>
            </a:tbl>
          </a:graphicData>
        </a:graphic>
      </p:graphicFrame>
    </p:spTree>
    <p:extLst>
      <p:ext uri="{BB962C8B-B14F-4D97-AF65-F5344CB8AC3E}">
        <p14:creationId xmlns:p14="http://schemas.microsoft.com/office/powerpoint/2010/main" val="3258174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과제내용 및 추진방법 / 촬영별 복원·투어">
            <a:extLst xmlns:a="http://schemas.openxmlformats.org/drawingml/2006/main">
              <a:ext uri="{FF2B5EF4-FFF2-40B4-BE49-F238E27FC236}">
                <a16:creationId xmlns:a16="http://schemas.microsoft.com/office/drawing/2014/main" id="{7F2474AC-6974-4742-81EA-9DD9DB76E29F}"/>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촬영별 복원·투어</a:t>
            </a:r>
          </a:p>
        </p:txBody>
      </p:sp>
      <p:sp>
        <p:nvSpPr>
          <p:cNvPr id="2" name="공간 복원과 가상투어 구성">
            <a:extLst xmlns:a="http://schemas.openxmlformats.org/drawingml/2006/main">
              <a:ext uri="{FF2B5EF4-FFF2-40B4-BE49-F238E27FC236}">
                <a16:creationId xmlns:a16="http://schemas.microsoft.com/office/drawing/2014/main" id="{36AF38B9-0BAC-45B2-8C7C-338802B28D80}"/>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공간 복원과 가상투어 구성</a:t>
            </a:r>
          </a:p>
        </p:txBody>
      </p:sp>
      <p:sp>
        <p:nvSpPr>
          <p:cNvPr id="3" name="완료: RGB 조밀 복원  /  후속: 의미 지도·투어 구성·360° 입력 확장">
            <a:extLst xmlns:a="http://schemas.openxmlformats.org/drawingml/2006/main">
              <a:ext uri="{FF2B5EF4-FFF2-40B4-BE49-F238E27FC236}">
                <a16:creationId xmlns:a16="http://schemas.microsoft.com/office/drawing/2014/main" id="{4E9FE67A-0BB2-4622-AA25-2B82D5D814A2}"/>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 RGB 조밀 복원  /  후속: 의미 지도·투어 구성·360° 입력 확장</a:t>
            </a:r>
          </a:p>
        </p:txBody>
      </p:sp>
      <p:sp>
        <p:nvSpPr>
          <p:cNvPr id="4" name="SpaceWatch3D  ·  산학협력프로젝트 계획발표">
            <a:extLst xmlns:a="http://schemas.openxmlformats.org/drawingml/2006/main">
              <a:ext uri="{FF2B5EF4-FFF2-40B4-BE49-F238E27FC236}">
                <a16:creationId xmlns:a16="http://schemas.microsoft.com/office/drawing/2014/main" id="{25273A7A-47BB-496C-9828-4B117980C86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5">
            <a:extLst xmlns:a="http://schemas.openxmlformats.org/drawingml/2006/main">
              <a:ext uri="{FF2B5EF4-FFF2-40B4-BE49-F238E27FC236}">
                <a16:creationId xmlns:a16="http://schemas.microsoft.com/office/drawing/2014/main" id="{691FA8DC-46E4-4D4F-BA01-B70B53197A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07</a:t>
            </a:r>
          </a:p>
        </p:txBody>
      </p:sp>
      <p:sp>
        <p:nvSpPr>
          <p:cNvPr id="6" name="RGB 영상 입력">
            <a:extLst xmlns:a="http://schemas.openxmlformats.org/drawingml/2006/main">
              <a:ext uri="{FF2B5EF4-FFF2-40B4-BE49-F238E27FC236}">
                <a16:creationId xmlns:a16="http://schemas.microsoft.com/office/drawing/2014/main" id="{40559105-51E8-4529-AD9D-E5A44A78F921}"/>
              </a:ext>
            </a:extLst>
          </p:cNvPr>
          <p:cNvSpPr>
            <a:spLocks xmlns:a="http://schemas.openxmlformats.org/drawingml/2006/main" noGrp="1"/>
          </p:cNvSpPr>
          <p:nvPr/>
        </p:nvSpPr>
        <p:spPr>
          <a:xfrm xmlns:a="http://schemas.openxmlformats.org/drawingml/2006/main">
            <a:off x="609600" y="2581275"/>
            <a:ext cx="2276475" cy="2905125"/>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RGB 영상 입력 제목">
            <a:extLst xmlns:a="http://schemas.openxmlformats.org/drawingml/2006/main">
              <a:ext uri="{FF2B5EF4-FFF2-40B4-BE49-F238E27FC236}">
                <a16:creationId xmlns:a16="http://schemas.microsoft.com/office/drawing/2014/main" id="{6658ABCE-9C46-4CF3-86D6-E485E47F9E79}"/>
              </a:ext>
            </a:extLst>
          </p:cNvPr>
          <p:cNvSpPr>
            <a:spLocks xmlns:a="http://schemas.openxmlformats.org/drawingml/2006/main" noGrp="1"/>
          </p:cNvSpPr>
          <p:nvPr/>
        </p:nvSpPr>
        <p:spPr>
          <a:xfrm xmlns:a="http://schemas.openxmlformats.org/drawingml/2006/main">
            <a:off x="609600" y="2581275"/>
            <a:ext cx="2276475"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RGB 영상 입력">
            <a:extLst xmlns:a="http://schemas.openxmlformats.org/drawingml/2006/main">
              <a:ext uri="{FF2B5EF4-FFF2-40B4-BE49-F238E27FC236}">
                <a16:creationId xmlns:a16="http://schemas.microsoft.com/office/drawing/2014/main" id="{24BEA7B1-8BE0-4B61-9954-6FB768BBB550}"/>
              </a:ext>
            </a:extLst>
          </p:cNvPr>
          <p:cNvSpPr>
            <a:spLocks xmlns:a="http://schemas.openxmlformats.org/drawingml/2006/main" noGrp="1"/>
          </p:cNvSpPr>
          <p:nvPr/>
        </p:nvSpPr>
        <p:spPr>
          <a:xfrm xmlns:a="http://schemas.openxmlformats.org/drawingml/2006/main">
            <a:off x="752475" y="2676525"/>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RGB 영상 입력</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d08ece31345e40b8"/>
          <a:stretch xmlns:a="http://schemas.openxmlformats.org/drawingml/2006/main"/>
        </p:blipFill>
        <p:spPr>
          <a:xfrm xmlns:a="http://schemas.openxmlformats.org/drawingml/2006/main">
            <a:off x="752475" y="3211116"/>
            <a:ext cx="1990725" cy="1493044"/>
          </a:xfrm>
          <a:prstGeom xmlns:a="http://schemas.openxmlformats.org/drawingml/2006/main" prst="rect">
            <a:avLst/>
          </a:prstGeom>
        </p:spPr>
      </p:pic>
      <p:sp>
        <p:nvSpPr>
          <p:cNvPr id="10" name="FFmpeg 5fps 추출 프레임·상대 시각">
            <a:extLst xmlns:a="http://schemas.openxmlformats.org/drawingml/2006/main">
              <a:ext uri="{FF2B5EF4-FFF2-40B4-BE49-F238E27FC236}">
                <a16:creationId xmlns:a16="http://schemas.microsoft.com/office/drawing/2014/main" id="{1F16FA56-F023-4F6C-A124-9B88410C0648}"/>
              </a:ext>
            </a:extLst>
          </p:cNvPr>
          <p:cNvSpPr>
            <a:spLocks xmlns:a="http://schemas.openxmlformats.org/drawingml/2006/main" noGrp="1"/>
          </p:cNvSpPr>
          <p:nvPr/>
        </p:nvSpPr>
        <p:spPr>
          <a:xfrm xmlns:a="http://schemas.openxmlformats.org/drawingml/2006/main">
            <a:off x="771525" y="4914900"/>
            <a:ext cx="1981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FFmpeg 5fps 추출</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프레임·상대 시각</a:t>
            </a:r>
          </a:p>
        </p:txBody>
      </p:sp>
      <p:sp>
        <p:nvSpPr>
          <p:cNvPr id="11" name="COLMAP SfM">
            <a:extLst xmlns:a="http://schemas.openxmlformats.org/drawingml/2006/main">
              <a:ext uri="{FF2B5EF4-FFF2-40B4-BE49-F238E27FC236}">
                <a16:creationId xmlns:a16="http://schemas.microsoft.com/office/drawing/2014/main" id="{B31688DF-0BB2-424B-8E2D-7A574FA66025}"/>
              </a:ext>
            </a:extLst>
          </p:cNvPr>
          <p:cNvSpPr>
            <a:spLocks xmlns:a="http://schemas.openxmlformats.org/drawingml/2006/main" noGrp="1"/>
          </p:cNvSpPr>
          <p:nvPr/>
        </p:nvSpPr>
        <p:spPr>
          <a:xfrm xmlns:a="http://schemas.openxmlformats.org/drawingml/2006/main">
            <a:off x="3276600" y="2581275"/>
            <a:ext cx="2390775" cy="2905125"/>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COLMAP SfM 제목">
            <a:extLst xmlns:a="http://schemas.openxmlformats.org/drawingml/2006/main">
              <a:ext uri="{FF2B5EF4-FFF2-40B4-BE49-F238E27FC236}">
                <a16:creationId xmlns:a16="http://schemas.microsoft.com/office/drawing/2014/main" id="{8939BCFF-9A44-4A10-A512-B412211718EA}"/>
              </a:ext>
            </a:extLst>
          </p:cNvPr>
          <p:cNvSpPr>
            <a:spLocks xmlns:a="http://schemas.openxmlformats.org/drawingml/2006/main" noGrp="1"/>
          </p:cNvSpPr>
          <p:nvPr/>
        </p:nvSpPr>
        <p:spPr>
          <a:xfrm xmlns:a="http://schemas.openxmlformats.org/drawingml/2006/main">
            <a:off x="3276600" y="2581275"/>
            <a:ext cx="23907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COLMAP SfM">
            <a:extLst xmlns:a="http://schemas.openxmlformats.org/drawingml/2006/main">
              <a:ext uri="{FF2B5EF4-FFF2-40B4-BE49-F238E27FC236}">
                <a16:creationId xmlns:a16="http://schemas.microsoft.com/office/drawing/2014/main" id="{A65DF9DB-FD3F-4D3A-BAB2-0A598D266FFB}"/>
              </a:ext>
            </a:extLst>
          </p:cNvPr>
          <p:cNvSpPr>
            <a:spLocks xmlns:a="http://schemas.openxmlformats.org/drawingml/2006/main" noGrp="1"/>
          </p:cNvSpPr>
          <p:nvPr/>
        </p:nvSpPr>
        <p:spPr>
          <a:xfrm xmlns:a="http://schemas.openxmlformats.org/drawingml/2006/main">
            <a:off x="3419475" y="2676525"/>
            <a:ext cx="2105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COLMAP SfM</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5641f6008b4d48b9"/>
          <a:stretch xmlns:a="http://schemas.openxmlformats.org/drawingml/2006/main"/>
        </p:blipFill>
        <p:spPr>
          <a:xfrm xmlns:a="http://schemas.openxmlformats.org/drawingml/2006/main">
            <a:off x="3362325" y="3426619"/>
            <a:ext cx="2219325" cy="1109663"/>
          </a:xfrm>
          <a:prstGeom xmlns:a="http://schemas.openxmlformats.org/drawingml/2006/main" prst="rect">
            <a:avLst/>
          </a:prstGeom>
        </p:spPr>
      </p:pic>
      <p:sp>
        <p:nvSpPr>
          <p:cNvPr id="15" name="자세·희소 지도 렌즈 왜곡 보정">
            <a:extLst xmlns:a="http://schemas.openxmlformats.org/drawingml/2006/main">
              <a:ext uri="{FF2B5EF4-FFF2-40B4-BE49-F238E27FC236}">
                <a16:creationId xmlns:a16="http://schemas.microsoft.com/office/drawing/2014/main" id="{0E998FC0-621E-4991-897C-0DC3297EC01E}"/>
              </a:ext>
            </a:extLst>
          </p:cNvPr>
          <p:cNvSpPr>
            <a:spLocks xmlns:a="http://schemas.openxmlformats.org/drawingml/2006/main" noGrp="1"/>
          </p:cNvSpPr>
          <p:nvPr/>
        </p:nvSpPr>
        <p:spPr>
          <a:xfrm xmlns:a="http://schemas.openxmlformats.org/drawingml/2006/main">
            <a:off x="3438525" y="4914900"/>
            <a:ext cx="2085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자세·희소 지도</a:t>
            </a:r>
          </a:p>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렌즈 왜곡 보정</a:t>
            </a:r>
          </a:p>
        </p:txBody>
      </p:sp>
      <p:sp>
        <p:nvSpPr>
          <p:cNvPr id="16" name="OpenMVS">
            <a:extLst xmlns:a="http://schemas.openxmlformats.org/drawingml/2006/main">
              <a:ext uri="{FF2B5EF4-FFF2-40B4-BE49-F238E27FC236}">
                <a16:creationId xmlns:a16="http://schemas.microsoft.com/office/drawing/2014/main" id="{8448E0B9-BE03-4C60-987C-2C73B79CFAF0}"/>
              </a:ext>
            </a:extLst>
          </p:cNvPr>
          <p:cNvSpPr>
            <a:spLocks xmlns:a="http://schemas.openxmlformats.org/drawingml/2006/main" noGrp="1"/>
          </p:cNvSpPr>
          <p:nvPr/>
        </p:nvSpPr>
        <p:spPr>
          <a:xfrm xmlns:a="http://schemas.openxmlformats.org/drawingml/2006/main">
            <a:off x="6057900" y="2581275"/>
            <a:ext cx="2352675" cy="2905125"/>
          </a:xfrm>
          <a:prstGeom xmlns:a="http://schemas.openxmlformats.org/drawingml/2006/main" prst="rect">
            <a:avLst/>
          </a:prstGeom>
          <a:solidFill xmlns:a="http://schemas.openxmlformats.org/drawingml/2006/main">
            <a:srgbClr val="EAF7F2"/>
          </a:solidFill>
          <a:ln xmlns:a="http://schemas.openxmlformats.org/drawingml/2006/main" w="14288">
            <a:solidFill>
              <a:srgbClr val="078876"/>
            </a:solidFill>
          </a:ln>
        </p:spPr>
      </p:sp>
      <p:sp>
        <p:nvSpPr>
          <p:cNvPr id="17" name="OpenMVS 제목">
            <a:extLst xmlns:a="http://schemas.openxmlformats.org/drawingml/2006/main">
              <a:ext uri="{FF2B5EF4-FFF2-40B4-BE49-F238E27FC236}">
                <a16:creationId xmlns:a16="http://schemas.microsoft.com/office/drawing/2014/main" id="{FF3B9B7C-3820-44BE-9E4A-CDF5526FC188}"/>
              </a:ext>
            </a:extLst>
          </p:cNvPr>
          <p:cNvSpPr>
            <a:spLocks xmlns:a="http://schemas.openxmlformats.org/drawingml/2006/main" noGrp="1"/>
          </p:cNvSpPr>
          <p:nvPr/>
        </p:nvSpPr>
        <p:spPr>
          <a:xfrm xmlns:a="http://schemas.openxmlformats.org/drawingml/2006/main">
            <a:off x="6057900" y="2581275"/>
            <a:ext cx="2352675" cy="485775"/>
          </a:xfrm>
          <a:prstGeom xmlns:a="http://schemas.openxmlformats.org/drawingml/2006/main" prst="rect">
            <a:avLst/>
          </a:prstGeom>
          <a:solidFill xmlns:a="http://schemas.openxmlformats.org/drawingml/2006/main">
            <a:srgbClr val="078876"/>
          </a:solidFill>
          <a:ln xmlns:a="http://schemas.openxmlformats.org/drawingml/2006/main" w="0">
            <a:solidFill>
              <a:srgbClr val="078876"/>
            </a:solidFill>
          </a:ln>
        </p:spPr>
      </p:sp>
      <p:sp>
        <p:nvSpPr>
          <p:cNvPr id="18" name="OpenMVS">
            <a:extLst xmlns:a="http://schemas.openxmlformats.org/drawingml/2006/main">
              <a:ext uri="{FF2B5EF4-FFF2-40B4-BE49-F238E27FC236}">
                <a16:creationId xmlns:a16="http://schemas.microsoft.com/office/drawing/2014/main" id="{DFE6124B-EE33-4A36-9A04-F612BB7F6527}"/>
              </a:ext>
            </a:extLst>
          </p:cNvPr>
          <p:cNvSpPr>
            <a:spLocks xmlns:a="http://schemas.openxmlformats.org/drawingml/2006/main" noGrp="1"/>
          </p:cNvSpPr>
          <p:nvPr/>
        </p:nvSpPr>
        <p:spPr>
          <a:xfrm xmlns:a="http://schemas.openxmlformats.org/drawingml/2006/main">
            <a:off x="6200775" y="267652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OpenMVS</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06ef9ca92bbb4ff6"/>
          <a:stretch xmlns:a="http://schemas.openxmlformats.org/drawingml/2006/main"/>
        </p:blipFill>
        <p:spPr>
          <a:xfrm xmlns:a="http://schemas.openxmlformats.org/drawingml/2006/main">
            <a:off x="6153150" y="3404870"/>
            <a:ext cx="2162175" cy="1153160"/>
          </a:xfrm>
          <a:prstGeom xmlns:a="http://schemas.openxmlformats.org/drawingml/2006/main" prst="rect">
            <a:avLst/>
          </a:prstGeom>
        </p:spPr>
      </p:pic>
      <p:sp>
        <p:nvSpPr>
          <p:cNvPr id="20" name="깊이 133개 / 조밀 복원">
            <a:extLst xmlns:a="http://schemas.openxmlformats.org/drawingml/2006/main">
              <a:ext uri="{FF2B5EF4-FFF2-40B4-BE49-F238E27FC236}">
                <a16:creationId xmlns:a16="http://schemas.microsoft.com/office/drawing/2014/main" id="{78340891-9AA4-439D-9C42-2358511E02C5}"/>
              </a:ext>
            </a:extLst>
          </p:cNvPr>
          <p:cNvSpPr>
            <a:spLocks xmlns:a="http://schemas.openxmlformats.org/drawingml/2006/main" noGrp="1"/>
          </p:cNvSpPr>
          <p:nvPr/>
        </p:nvSpPr>
        <p:spPr>
          <a:xfrm xmlns:a="http://schemas.openxmlformats.org/drawingml/2006/main">
            <a:off x="6191250" y="4791075"/>
            <a:ext cx="2171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087F8C"/>
                </a:solidFill>
                <a:latin typeface="Malgun Gothic"/>
                <a:ea typeface="Malgun Gothic"/>
                <a:cs typeface="Malgun Gothic"/>
              </a:defRPr>
            </a:pPr>
            <a:r>
              <a:rPr sz="1575" b="1">
                <a:solidFill>
                  <a:srgbClr val="087F8C"/>
                </a:solidFill>
                <a:latin typeface="Malgun Gothic"/>
                <a:ea typeface="Malgun Gothic"/>
                <a:cs typeface="Malgun Gothic"/>
              </a:rPr>
              <a:t>깊이 133개 / 조밀 복원</a:t>
            </a:r>
          </a:p>
        </p:txBody>
      </p:sp>
      <p:sp>
        <p:nvSpPr>
          <p:cNvPr id="21" name="깊이·카메라·관측 보관">
            <a:extLst xmlns:a="http://schemas.openxmlformats.org/drawingml/2006/main">
              <a:ext uri="{FF2B5EF4-FFF2-40B4-BE49-F238E27FC236}">
                <a16:creationId xmlns:a16="http://schemas.microsoft.com/office/drawing/2014/main" id="{E70AA097-2DB7-4AEF-86D5-875716DBADAE}"/>
              </a:ext>
            </a:extLst>
          </p:cNvPr>
          <p:cNvSpPr>
            <a:spLocks xmlns:a="http://schemas.openxmlformats.org/drawingml/2006/main" noGrp="1"/>
          </p:cNvSpPr>
          <p:nvPr/>
        </p:nvSpPr>
        <p:spPr>
          <a:xfrm xmlns:a="http://schemas.openxmlformats.org/drawingml/2006/main">
            <a:off x="6191250" y="5095875"/>
            <a:ext cx="2162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깊이·카메라·관측 보관</a:t>
            </a:r>
          </a:p>
        </p:txBody>
      </p:sp>
      <p:sp>
        <p:nvSpPr>
          <p:cNvPr id="22" name="가상투어 구성">
            <a:extLst xmlns:a="http://schemas.openxmlformats.org/drawingml/2006/main">
              <a:ext uri="{FF2B5EF4-FFF2-40B4-BE49-F238E27FC236}">
                <a16:creationId xmlns:a16="http://schemas.microsoft.com/office/drawing/2014/main" id="{DD9CFAC8-A911-4C4C-ACE0-0CC1FACB3BF3}"/>
              </a:ext>
            </a:extLst>
          </p:cNvPr>
          <p:cNvSpPr>
            <a:spLocks xmlns:a="http://schemas.openxmlformats.org/drawingml/2006/main" noGrp="1"/>
          </p:cNvSpPr>
          <p:nvPr/>
        </p:nvSpPr>
        <p:spPr>
          <a:xfrm xmlns:a="http://schemas.openxmlformats.org/drawingml/2006/main">
            <a:off x="8801100" y="2581275"/>
            <a:ext cx="2781300" cy="2905125"/>
          </a:xfrm>
          <a:prstGeom xmlns:a="http://schemas.openxmlformats.org/drawingml/2006/main" prst="rect">
            <a:avLst/>
          </a:prstGeom>
          <a:solidFill xmlns:a="http://schemas.openxmlformats.org/drawingml/2006/main">
            <a:srgbClr val="F2EFFC"/>
          </a:solidFill>
          <a:ln xmlns:a="http://schemas.openxmlformats.org/drawingml/2006/main" w="14288">
            <a:solidFill>
              <a:srgbClr val="6354C6"/>
            </a:solidFill>
          </a:ln>
        </p:spPr>
      </p:sp>
      <p:sp>
        <p:nvSpPr>
          <p:cNvPr id="23" name="가상투어 구성 제목">
            <a:extLst xmlns:a="http://schemas.openxmlformats.org/drawingml/2006/main">
              <a:ext uri="{FF2B5EF4-FFF2-40B4-BE49-F238E27FC236}">
                <a16:creationId xmlns:a16="http://schemas.microsoft.com/office/drawing/2014/main" id="{1EC615AD-E48A-4062-87FA-27B3892F3DF5}"/>
              </a:ext>
            </a:extLst>
          </p:cNvPr>
          <p:cNvSpPr>
            <a:spLocks xmlns:a="http://schemas.openxmlformats.org/drawingml/2006/main" noGrp="1"/>
          </p:cNvSpPr>
          <p:nvPr/>
        </p:nvSpPr>
        <p:spPr>
          <a:xfrm xmlns:a="http://schemas.openxmlformats.org/drawingml/2006/main">
            <a:off x="8801100" y="2581275"/>
            <a:ext cx="2781300" cy="485775"/>
          </a:xfrm>
          <a:prstGeom xmlns:a="http://schemas.openxmlformats.org/drawingml/2006/main" prst="rect">
            <a:avLst/>
          </a:prstGeom>
          <a:solidFill xmlns:a="http://schemas.openxmlformats.org/drawingml/2006/main">
            <a:srgbClr val="6354C6"/>
          </a:solidFill>
          <a:ln xmlns:a="http://schemas.openxmlformats.org/drawingml/2006/main" w="0">
            <a:solidFill>
              <a:srgbClr val="6354C6"/>
            </a:solidFill>
          </a:ln>
        </p:spPr>
      </p:sp>
      <p:sp>
        <p:nvSpPr>
          <p:cNvPr id="24" name="가상투어 구성">
            <a:extLst xmlns:a="http://schemas.openxmlformats.org/drawingml/2006/main">
              <a:ext uri="{FF2B5EF4-FFF2-40B4-BE49-F238E27FC236}">
                <a16:creationId xmlns:a16="http://schemas.microsoft.com/office/drawing/2014/main" id="{28599C88-3EBC-44F3-A8D6-9D563461CE0C}"/>
              </a:ext>
            </a:extLst>
          </p:cNvPr>
          <p:cNvSpPr>
            <a:spLocks xmlns:a="http://schemas.openxmlformats.org/drawingml/2006/main" noGrp="1"/>
          </p:cNvSpPr>
          <p:nvPr/>
        </p:nvSpPr>
        <p:spPr>
          <a:xfrm xmlns:a="http://schemas.openxmlformats.org/drawingml/2006/main">
            <a:off x="8943975" y="2676525"/>
            <a:ext cx="2495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가상투어 구성</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0f438653d6e45c4"/>
          <a:srcRect xmlns:a="http://schemas.openxmlformats.org/drawingml/2006/main" l="0" t="221" r="0" b="221"/>
          <a:stretch xmlns:a="http://schemas.openxmlformats.org/drawingml/2006/main">
            <a:fillRect l="0" t="0" r="0" b="0"/>
          </a:stretch>
        </p:blipFill>
        <p:spPr>
          <a:xfrm xmlns:a="http://schemas.openxmlformats.org/drawingml/2006/main">
            <a:off x="8963025" y="3209925"/>
            <a:ext cx="2447925" cy="1371600"/>
          </a:xfrm>
          <a:prstGeom xmlns:a="http://schemas.openxmlformats.org/drawingml/2006/main" prst="rect">
            <a:avLst/>
          </a:prstGeom>
        </p:spPr>
      </p:pic>
      <p:sp>
        <p:nvSpPr>
          <p:cNvPr id="26" name="투어 노드 1">
            <a:extLst xmlns:a="http://schemas.openxmlformats.org/drawingml/2006/main">
              <a:ext uri="{FF2B5EF4-FFF2-40B4-BE49-F238E27FC236}">
                <a16:creationId xmlns:a16="http://schemas.microsoft.com/office/drawing/2014/main" id="{B802E75A-AC0A-4FEB-AFD8-2CC827E257A5}"/>
              </a:ext>
            </a:extLst>
          </p:cNvPr>
          <p:cNvSpPr>
            <a:spLocks xmlns:a="http://schemas.openxmlformats.org/drawingml/2006/main" noGrp="1"/>
          </p:cNvSpPr>
          <p:nvPr/>
        </p:nvSpPr>
        <p:spPr>
          <a:xfrm xmlns:a="http://schemas.openxmlformats.org/drawingml/2006/main">
            <a:off x="9210675"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1</a:t>
            </a:r>
          </a:p>
        </p:txBody>
      </p:sp>
      <p:sp>
        <p:nvSpPr>
          <p:cNvPr id="27" name="투어 노드 2">
            <a:extLst xmlns:a="http://schemas.openxmlformats.org/drawingml/2006/main">
              <a:ext uri="{FF2B5EF4-FFF2-40B4-BE49-F238E27FC236}">
                <a16:creationId xmlns:a16="http://schemas.microsoft.com/office/drawing/2014/main" id="{2B006A19-799F-4C43-880E-8C826EFCA645}"/>
              </a:ext>
            </a:extLst>
          </p:cNvPr>
          <p:cNvSpPr>
            <a:spLocks xmlns:a="http://schemas.openxmlformats.org/drawingml/2006/main" noGrp="1"/>
          </p:cNvSpPr>
          <p:nvPr/>
        </p:nvSpPr>
        <p:spPr>
          <a:xfrm xmlns:a="http://schemas.openxmlformats.org/drawingml/2006/main">
            <a:off x="9696450" y="4893945"/>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2</a:t>
            </a:r>
          </a:p>
        </p:txBody>
      </p:sp>
      <p:sp>
        <p:nvSpPr>
          <p:cNvPr id="28" name="투어 노드 3">
            <a:extLst xmlns:a="http://schemas.openxmlformats.org/drawingml/2006/main">
              <a:ext uri="{FF2B5EF4-FFF2-40B4-BE49-F238E27FC236}">
                <a16:creationId xmlns:a16="http://schemas.microsoft.com/office/drawing/2014/main" id="{0794C432-C949-4116-8C7A-95BADC3DBA4A}"/>
              </a:ext>
            </a:extLst>
          </p:cNvPr>
          <p:cNvSpPr>
            <a:spLocks xmlns:a="http://schemas.openxmlformats.org/drawingml/2006/main" noGrp="1"/>
          </p:cNvSpPr>
          <p:nvPr/>
        </p:nvSpPr>
        <p:spPr>
          <a:xfrm xmlns:a="http://schemas.openxmlformats.org/drawingml/2006/main">
            <a:off x="10214610" y="4667250"/>
            <a:ext cx="272034" cy="272034"/>
          </a:xfrm>
          <a:prstGeom xmlns:a="http://schemas.openxmlformats.org/drawingml/2006/main" prst="ellipse">
            <a:avLst/>
          </a:prstGeom>
          <a:solidFill xmlns:a="http://schemas.openxmlformats.org/drawingml/2006/main">
            <a:srgbClr val="E9F1FF"/>
          </a:solidFill>
          <a:ln xmlns:a="http://schemas.openxmlformats.org/drawingml/2006/main" w="19050">
            <a:solidFill>
              <a:srgbClr val="2463EB"/>
            </a:solidFill>
          </a:ln>
        </p:spPr>
        <p:txBody>
          <a:bodyPr xmlns:a="http://schemas.openxmlformats.org/drawingml/2006/main" anchor="ctr"/>
          <a:lstStyle xmlns:a="http://schemas.openxmlformats.org/drawingml/2006/main"/>
          <a:p xmlns:a="http://schemas.openxmlformats.org/drawingml/2006/main">
            <a:pPr algn="ctr">
              <a:defRPr sz="1122" b="1">
                <a:solidFill>
                  <a:srgbClr val="2463EB"/>
                </a:solidFill>
                <a:latin typeface="Malgun Gothic"/>
                <a:ea typeface="Malgun Gothic"/>
                <a:cs typeface="Malgun Gothic"/>
              </a:defRPr>
            </a:pPr>
            <a:r>
              <a:rPr sz="1122" b="1">
                <a:solidFill>
                  <a:srgbClr val="2463EB"/>
                </a:solidFill>
                <a:latin typeface="Malgun Gothic"/>
                <a:ea typeface="Malgun Gothic"/>
                <a:cs typeface="Malgun Gothic"/>
              </a:rPr>
              <a:t>3</a:t>
            </a:r>
          </a:p>
        </p:txBody>
      </p:sp>
      <p:cxnSp>
        <p:nvCxnSpPr>
          <p:cNvPr id="73" name=""/>
          <p:cNvCxnSpPr>
            <a:stCxn xmlns:a="http://schemas.openxmlformats.org/drawingml/2006/main" id="26" idx="6"/>
            <a:endCxn xmlns:a="http://schemas.openxmlformats.org/drawingml/2006/main" id="27" idx="2"/>
          </p:cNvCxnSpPr>
          <p:nvPr/>
        </p:nvCxnSpPr>
        <p:spPr>
          <a:xfrm xmlns:a="http://schemas.openxmlformats.org/drawingml/2006/main">
            <a:off x="9482709" y="4803267"/>
            <a:ext cx="213741" cy="226695"/>
          </a:xfrm>
          <a:prstGeom xmlns:a="http://schemas.openxmlformats.org/drawingml/2006/main" prst="straightConnector1">
            <a:avLst/>
          </a:prstGeom>
          <a:ln xmlns:a="http://schemas.openxmlformats.org/drawingml/2006/main" w="19050">
            <a:solidFill>
              <a:srgbClr val="2463EB"/>
            </a:solidFill>
            <a:tailEnd type="triangle" w="sm" len="sm"/>
          </a:ln>
        </p:spPr>
      </p:cxnSp>
      <p:cxnSp>
        <p:nvCxnSpPr>
          <p:cNvPr id="74" name=""/>
          <p:cNvCxnSpPr>
            <a:stCxn xmlns:a="http://schemas.openxmlformats.org/drawingml/2006/main" id="27" idx="6"/>
            <a:endCxn xmlns:a="http://schemas.openxmlformats.org/drawingml/2006/main" id="28" idx="2"/>
          </p:cNvCxnSpPr>
          <p:nvPr/>
        </p:nvCxnSpPr>
        <p:spPr>
          <a:xfrm xmlns:a="http://schemas.openxmlformats.org/drawingml/2006/main" flipV="1">
            <a:off x="9968484" y="4803267"/>
            <a:ext cx="246126" cy="226695"/>
          </a:xfrm>
          <a:prstGeom xmlns:a="http://schemas.openxmlformats.org/drawingml/2006/main" prst="straightConnector1">
            <a:avLst/>
          </a:prstGeom>
          <a:ln xmlns:a="http://schemas.openxmlformats.org/drawingml/2006/main" w="19050">
            <a:solidFill>
              <a:srgbClr val="2463EB"/>
            </a:solidFill>
            <a:tailEnd type="triangle" w="sm" len="sm"/>
          </a:ln>
        </p:spPr>
      </p:cxnSp>
      <p:sp>
        <p:nvSpPr>
          <p:cNvPr id="31" name="대표 장면·이동 링크">
            <a:extLst xmlns:a="http://schemas.openxmlformats.org/drawingml/2006/main">
              <a:ext uri="{FF2B5EF4-FFF2-40B4-BE49-F238E27FC236}">
                <a16:creationId xmlns:a16="http://schemas.microsoft.com/office/drawing/2014/main" id="{9D8107A6-0EE3-46E4-9542-9BA7784B5923}"/>
              </a:ext>
            </a:extLst>
          </p:cNvPr>
          <p:cNvSpPr>
            <a:spLocks xmlns:a="http://schemas.openxmlformats.org/drawingml/2006/main" noGrp="1"/>
          </p:cNvSpPr>
          <p:nvPr/>
        </p:nvSpPr>
        <p:spPr>
          <a:xfrm xmlns:a="http://schemas.openxmlformats.org/drawingml/2006/main">
            <a:off x="8963025" y="5229225"/>
            <a:ext cx="2466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대표 장면·이동 링크</a:t>
            </a:r>
          </a:p>
        </p:txBody>
      </p:sp>
      <p:cxnSp>
        <p:nvCxnSpPr>
          <p:cNvPr id="76" name=""/>
          <p:cNvCxnSpPr>
            <a:stCxn xmlns:a="http://schemas.openxmlformats.org/drawingml/2006/main" id="6" idx="3"/>
            <a:endCxn xmlns:a="http://schemas.openxmlformats.org/drawingml/2006/main" id="11" idx="1"/>
          </p:cNvCxnSpPr>
          <p:nvPr/>
        </p:nvCxnSpPr>
        <p:spPr>
          <a:xfrm xmlns:a="http://schemas.openxmlformats.org/drawingml/2006/main">
            <a:off x="2886075" y="4033838"/>
            <a:ext cx="39052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77" name=""/>
          <p:cNvCxnSpPr>
            <a:stCxn xmlns:a="http://schemas.openxmlformats.org/drawingml/2006/main" id="11" idx="3"/>
            <a:endCxn xmlns:a="http://schemas.openxmlformats.org/drawingml/2006/main" id="16" idx="1"/>
          </p:cNvCxnSpPr>
          <p:nvPr/>
        </p:nvCxnSpPr>
        <p:spPr>
          <a:xfrm xmlns:a="http://schemas.openxmlformats.org/drawingml/2006/main">
            <a:off x="5667375" y="4033838"/>
            <a:ext cx="39052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34" name="투어 입력 연결점">
            <a:extLst xmlns:a="http://schemas.openxmlformats.org/drawingml/2006/main">
              <a:ext uri="{FF2B5EF4-FFF2-40B4-BE49-F238E27FC236}">
                <a16:creationId xmlns:a16="http://schemas.microsoft.com/office/drawing/2014/main" id="{C3698382-FED3-4B53-9F9B-443D5A5E663B}"/>
              </a:ext>
            </a:extLst>
          </p:cNvPr>
          <p:cNvSpPr>
            <a:spLocks xmlns:a="http://schemas.openxmlformats.org/drawingml/2006/main" noGrp="1"/>
          </p:cNvSpPr>
          <p:nvPr/>
        </p:nvSpPr>
        <p:spPr>
          <a:xfrm xmlns:a="http://schemas.openxmlformats.org/drawingml/2006/main">
            <a:off x="4476750" y="25812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투어 입력 연결점">
            <a:extLst xmlns:a="http://schemas.openxmlformats.org/drawingml/2006/main">
              <a:ext uri="{FF2B5EF4-FFF2-40B4-BE49-F238E27FC236}">
                <a16:creationId xmlns:a16="http://schemas.microsoft.com/office/drawing/2014/main" id="{7B23F37E-9C54-4876-9668-C642B9CEFD14}"/>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4" idx="0"/>
            <a:endCxn xmlns:a="http://schemas.openxmlformats.org/drawingml/2006/main" id="35" idx="2"/>
          </p:cNvCxnSpPr>
          <p:nvPr/>
        </p:nvCxnSpPr>
        <p:spPr>
          <a:xfrm xmlns:a="http://schemas.openxmlformats.org/drawingml/2006/main" flipV="1">
            <a:off x="4481513" y="2295525"/>
            <a:ext cx="0" cy="285750"/>
          </a:xfrm>
          <a:prstGeom xmlns:a="http://schemas.openxmlformats.org/drawingml/2006/main" prst="straightConnector1">
            <a:avLst/>
          </a:prstGeom>
          <a:ln xmlns:a="http://schemas.openxmlformats.org/drawingml/2006/main" w="19050">
            <a:solidFill>
              <a:srgbClr val="6354C6"/>
            </a:solidFill>
          </a:ln>
        </p:spPr>
      </p:cxnSp>
      <p:sp>
        <p:nvSpPr>
          <p:cNvPr id="37" name="투어 입력 연결점">
            <a:extLst xmlns:a="http://schemas.openxmlformats.org/drawingml/2006/main">
              <a:ext uri="{FF2B5EF4-FFF2-40B4-BE49-F238E27FC236}">
                <a16:creationId xmlns:a16="http://schemas.microsoft.com/office/drawing/2014/main" id="{CD5411F4-61D2-4CF7-B5EC-1E34C289AE36}"/>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38" name="투어 입력 연결점">
            <a:extLst xmlns:a="http://schemas.openxmlformats.org/drawingml/2006/main">
              <a:ext uri="{FF2B5EF4-FFF2-40B4-BE49-F238E27FC236}">
                <a16:creationId xmlns:a16="http://schemas.microsoft.com/office/drawing/2014/main" id="{4033B59B-5680-4549-9E2F-248E22789547}"/>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3" name=""/>
          <p:cNvCxnSpPr>
            <a:stCxn xmlns:a="http://schemas.openxmlformats.org/drawingml/2006/main" id="37" idx="3"/>
            <a:endCxn xmlns:a="http://schemas.openxmlformats.org/drawingml/2006/main" id="38" idx="1"/>
          </p:cNvCxnSpPr>
          <p:nvPr/>
        </p:nvCxnSpPr>
        <p:spPr>
          <a:xfrm xmlns:a="http://schemas.openxmlformats.org/drawingml/2006/main">
            <a:off x="4486275" y="2290763"/>
            <a:ext cx="5705475" cy="0"/>
          </a:xfrm>
          <a:prstGeom xmlns:a="http://schemas.openxmlformats.org/drawingml/2006/main" prst="straightConnector1">
            <a:avLst/>
          </a:prstGeom>
          <a:ln xmlns:a="http://schemas.openxmlformats.org/drawingml/2006/main" w="19050">
            <a:solidFill>
              <a:srgbClr val="6354C6"/>
            </a:solidFill>
          </a:ln>
        </p:spPr>
      </p:cxnSp>
      <p:sp>
        <p:nvSpPr>
          <p:cNvPr id="40" name="투어 입력 연결점">
            <a:extLst xmlns:a="http://schemas.openxmlformats.org/drawingml/2006/main">
              <a:ext uri="{FF2B5EF4-FFF2-40B4-BE49-F238E27FC236}">
                <a16:creationId xmlns:a16="http://schemas.microsoft.com/office/drawing/2014/main" id="{61B039C1-1DD9-4BA2-9312-5DFB3E3F44BD}"/>
              </a:ext>
            </a:extLst>
          </p:cNvPr>
          <p:cNvSpPr>
            <a:spLocks xmlns:a="http://schemas.openxmlformats.org/drawingml/2006/main" noGrp="1"/>
          </p:cNvSpPr>
          <p:nvPr/>
        </p:nvSpPr>
        <p:spPr>
          <a:xfrm xmlns:a="http://schemas.openxmlformats.org/drawingml/2006/main">
            <a:off x="10191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투어 입력 연결점">
            <a:extLst xmlns:a="http://schemas.openxmlformats.org/drawingml/2006/main">
              <a:ext uri="{FF2B5EF4-FFF2-40B4-BE49-F238E27FC236}">
                <a16:creationId xmlns:a16="http://schemas.microsoft.com/office/drawing/2014/main" id="{A56462DC-129E-4AF5-B869-81E766678DBD}"/>
              </a:ext>
            </a:extLst>
          </p:cNvPr>
          <p:cNvSpPr>
            <a:spLocks xmlns:a="http://schemas.openxmlformats.org/drawingml/2006/main" noGrp="1"/>
          </p:cNvSpPr>
          <p:nvPr/>
        </p:nvSpPr>
        <p:spPr>
          <a:xfrm xmlns:a="http://schemas.openxmlformats.org/drawingml/2006/main">
            <a:off x="10191750" y="25812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40" idx="2"/>
            <a:endCxn xmlns:a="http://schemas.openxmlformats.org/drawingml/2006/main" id="41" idx="0"/>
          </p:cNvCxnSpPr>
          <p:nvPr/>
        </p:nvCxnSpPr>
        <p:spPr>
          <a:xfrm xmlns:a="http://schemas.openxmlformats.org/drawingml/2006/main">
            <a:off x="10196513" y="2295525"/>
            <a:ext cx="0" cy="285750"/>
          </a:xfrm>
          <a:prstGeom xmlns:a="http://schemas.openxmlformats.org/drawingml/2006/main" prst="straightConnector1">
            <a:avLst/>
          </a:prstGeom>
          <a:ln xmlns:a="http://schemas.openxmlformats.org/drawingml/2006/main" w="19050">
            <a:solidFill>
              <a:srgbClr val="6354C6"/>
            </a:solidFill>
            <a:tailEnd type="triangle" w="med" len="med"/>
          </a:ln>
        </p:spPr>
      </p:cxnSp>
      <p:sp>
        <p:nvSpPr>
          <p:cNvPr id="43" name="자세·프레임 전달">
            <a:extLst xmlns:a="http://schemas.openxmlformats.org/drawingml/2006/main">
              <a:ext uri="{FF2B5EF4-FFF2-40B4-BE49-F238E27FC236}">
                <a16:creationId xmlns:a16="http://schemas.microsoft.com/office/drawing/2014/main" id="{3AD403BC-41C2-460A-9348-AAF699BEDEB1}"/>
              </a:ext>
            </a:extLst>
          </p:cNvPr>
          <p:cNvSpPr>
            <a:spLocks xmlns:a="http://schemas.openxmlformats.org/drawingml/2006/main" noGrp="1"/>
          </p:cNvSpPr>
          <p:nvPr/>
        </p:nvSpPr>
        <p:spPr>
          <a:xfrm xmlns:a="http://schemas.openxmlformats.org/drawingml/2006/main">
            <a:off x="6657975" y="1990725"/>
            <a:ext cx="3152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354C6"/>
                </a:solidFill>
                <a:latin typeface="Malgun Gothic"/>
                <a:ea typeface="Malgun Gothic"/>
                <a:cs typeface="Malgun Gothic"/>
              </a:defRPr>
            </a:pPr>
            <a:r>
              <a:rPr sz="1500" b="1">
                <a:solidFill>
                  <a:srgbClr val="6354C6"/>
                </a:solidFill>
                <a:latin typeface="Malgun Gothic"/>
                <a:ea typeface="Malgun Gothic"/>
                <a:cs typeface="Malgun Gothic"/>
              </a:rPr>
              <a:t>자세·프레임 전달</a:t>
            </a:r>
          </a:p>
        </p:txBody>
      </p:sp>
      <p:sp>
        <p:nvSpPr>
          <p:cNvPr id="44" name="투어는 SfM의 자세·프레임을 사용하며, 조밀 복원 완료를 기다릴 필요는 없습니다">
            <a:extLst xmlns:a="http://schemas.openxmlformats.org/drawingml/2006/main">
              <a:ext uri="{FF2B5EF4-FFF2-40B4-BE49-F238E27FC236}">
                <a16:creationId xmlns:a16="http://schemas.microsoft.com/office/drawing/2014/main" id="{9216A4D7-A420-47F6-9F69-D482D1E6BD05}"/>
              </a:ext>
            </a:extLst>
          </p:cNvPr>
          <p:cNvSpPr>
            <a:spLocks xmlns:a="http://schemas.openxmlformats.org/drawingml/2006/main" noGrp="1"/>
          </p:cNvSpPr>
          <p:nvPr/>
        </p:nvSpPr>
        <p:spPr>
          <a:xfrm xmlns:a="http://schemas.openxmlformats.org/drawingml/2006/main">
            <a:off x="609600" y="5753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투어는 SfM의 자세·프레임을 사용하며, 조밀 복원 완료를 기다릴 필요는 없습니다</a:t>
            </a:r>
          </a:p>
        </p:txBody>
      </p:sp>
    </p:spTree>
    <p:extLst>
      <p:ext uri="{BB962C8B-B14F-4D97-AF65-F5344CB8AC3E}">
        <p14:creationId xmlns:p14="http://schemas.microsoft.com/office/powerpoint/2010/main" val="1828858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과제내용 및 추진방법 / 실제 복원 결과">
            <a:extLst xmlns:a="http://schemas.openxmlformats.org/drawingml/2006/main">
              <a:ext uri="{FF2B5EF4-FFF2-40B4-BE49-F238E27FC236}">
                <a16:creationId xmlns:a16="http://schemas.microsoft.com/office/drawing/2014/main" id="{11256C12-B5F9-4170-881B-D2462E86AFE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현재 검증 결과</a:t>
            </a:r>
          </a:p>
        </p:txBody>
      </p:sp>
      <p:sp>
        <p:nvSpPr>
          <p:cNvPr id="2" name="동일 RGB 데이터의 희소·조밀 복원 결과">
            <a:extLst xmlns:a="http://schemas.openxmlformats.org/drawingml/2006/main">
              <a:ext uri="{FF2B5EF4-FFF2-40B4-BE49-F238E27FC236}">
                <a16:creationId xmlns:a16="http://schemas.microsoft.com/office/drawing/2014/main" id="{10F1717B-5238-4745-9BD3-87A3F7D04119}"/>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동일 RGB 데이터의 희소·조밀 복원 결과</a:t>
            </a:r>
          </a:p>
        </p:txBody>
      </p:sp>
      <p:sp>
        <p:nvSpPr>
          <p:cNvPr id="3" name="kdj 실제 결과 · TUM freiburg1_xyz · 2026-09-13 · 일반 RGB 영상으">
            <a:extLst xmlns:a="http://schemas.openxmlformats.org/drawingml/2006/main">
              <a:ext uri="{FF2B5EF4-FFF2-40B4-BE49-F238E27FC236}">
                <a16:creationId xmlns:a16="http://schemas.microsoft.com/office/drawing/2014/main" id="{13ECB8BE-C3BA-4FDC-B4CD-53C36B0B4F2A}"/>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kdj 실제 결과 · TUM freiburg1_xyz · 2026-09-13 · 일반 RGB 영상으로 복원</a:t>
            </a:r>
          </a:p>
        </p:txBody>
      </p:sp>
      <p:sp>
        <p:nvSpPr>
          <p:cNvPr id="4" name="SpaceWatch3D  ·  산학협력프로젝트 계획발표">
            <a:extLst xmlns:a="http://schemas.openxmlformats.org/drawingml/2006/main">
              <a:ext uri="{FF2B5EF4-FFF2-40B4-BE49-F238E27FC236}">
                <a16:creationId xmlns:a16="http://schemas.microsoft.com/office/drawing/2014/main" id="{5F11A539-9DC3-4250-A468-B259D4F87B7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6">
            <a:extLst xmlns:a="http://schemas.openxmlformats.org/drawingml/2006/main">
              <a:ext uri="{FF2B5EF4-FFF2-40B4-BE49-F238E27FC236}">
                <a16:creationId xmlns:a16="http://schemas.microsoft.com/office/drawing/2014/main" id="{E242B6E7-1304-42D7-AF8E-BFE5C5788A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da4737cffab44a7"/>
          <a:stretch xmlns:a="http://schemas.openxmlformats.org/drawingml/2006/main"/>
        </p:blipFill>
        <p:spPr>
          <a:xfrm xmlns:a="http://schemas.openxmlformats.org/drawingml/2006/main">
            <a:off x="609600" y="2096135"/>
            <a:ext cx="8105775" cy="4323080"/>
          </a:xfrm>
          <a:prstGeom xmlns:a="http://schemas.openxmlformats.org/drawingml/2006/main" prst="rect">
            <a:avLst/>
          </a:prstGeom>
        </p:spPr>
      </p:pic>
      <p:graphicFrame>
        <p:nvGraphicFramePr>
          <p:cNvPr id="15" name=""/>
          <p:cNvGraphicFramePr/>
          <p:nvPr/>
        </p:nvGraphicFramePr>
        <p:xfrm>
          <a:off xmlns:a="http://schemas.openxmlformats.org/drawingml/2006/main" x="8972550" y="2543175"/>
          <a:ext xmlns:a="http://schemas.openxmlformats.org/drawingml/2006/main" cx="2609850" cy="2809875"/>
        </p:xfrm>
        <a:graphic xmlns:a="http://schemas.openxmlformats.org/drawingml/2006/main">
          <a:graphicData uri="http://schemas.openxmlformats.org/drawingml/2006/table">
            <a:tbl>
              <a:tblPr/>
              <a:tblGrid>
                <a:gridCol w="1304925"/>
                <a:gridCol w="1304925"/>
              </a:tblGrid>
              <a:tr h="561975">
                <a:tc>
                  <a:txBody>
                    <a:bodyPr lIns="152400" tIns="114300" rIns="114300" bIns="95250"/>
                    <a:lstStyle/>
                    <a:p>
                      <a:r>
                        <a:rPr sz="1500" b="1">
                          <a:solidFill>
                            <a:srgbClr val="FFFFFF"/>
                          </a:solidFill>
                          <a:latin typeface="Malgun Gothic"/>
                          <a:ea typeface="Malgun Gothic"/>
                          <a:cs typeface="Malgun Gothic"/>
                        </a:rPr>
                        <a:t>검증 항목</a:t>
                      </a:r>
                    </a:p>
                  </a:txBody>
                  <a:tcPr marL="91440" marR="91440" marT="45720" marB="45720" anchor="ctr">
                    <a:solidFill>
                      <a:srgbClr val="102644"/>
                    </a:solidFill>
                  </a:tcPr>
                </a:tc>
                <a:tc>
                  <a:txBody>
                    <a:bodyPr lIns="152400" tIns="114300" rIns="114300" bIns="95250"/>
                    <a:lstStyle/>
                    <a:p>
                      <a:r>
                        <a:rPr sz="1500" b="1">
                          <a:solidFill>
                            <a:srgbClr val="FFFFFF"/>
                          </a:solidFill>
                          <a:latin typeface="Malgun Gothic"/>
                          <a:ea typeface="Malgun Gothic"/>
                          <a:cs typeface="Malgun Gothic"/>
                        </a:rPr>
                        <a:t>결과</a:t>
                      </a:r>
                    </a:p>
                  </a:txBody>
                  <a:tcPr marL="91440" marR="91440" marT="45720" marB="45720" anchor="ctr">
                    <a:solidFill>
                      <a:srgbClr val="102644"/>
                    </a:solidFill>
                  </a:tcPr>
                </a:tc>
              </a:tr>
              <a:tr h="561975">
                <a:tc>
                  <a:txBody>
                    <a:bodyPr lIns="152400" tIns="114300" rIns="114300" bIns="95250"/>
                    <a:lstStyle/>
                    <a:p>
                      <a:r>
                        <a:rPr sz="1500" b="0">
                          <a:solidFill>
                            <a:srgbClr val="102A43"/>
                          </a:solidFill>
                          <a:latin typeface="Malgun Gothic"/>
                          <a:ea typeface="Malgun Gothic"/>
                          <a:cs typeface="Malgun Gothic"/>
                        </a:rPr>
                        <a:t>등록 영상</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133/133장</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재투영 오차</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1.373px</a:t>
                      </a:r>
                    </a:p>
                  </a:txBody>
                  <a:tcPr marL="91440" marR="91440" marT="45720" marB="45720" anchor="ctr">
                    <a:solidFill>
                      <a:srgbClr val="F5F8FC"/>
                    </a:solidFill>
                  </a:tcPr>
                </a:tc>
              </a:tr>
              <a:tr h="561975">
                <a:tc>
                  <a:txBody>
                    <a:bodyPr lIns="152400" tIns="114300" rIns="114300" bIns="95250"/>
                    <a:lstStyle/>
                    <a:p>
                      <a:r>
                        <a:rPr sz="1500" b="0">
                          <a:solidFill>
                            <a:srgbClr val="102A43"/>
                          </a:solidFill>
                          <a:latin typeface="Malgun Gothic"/>
                          <a:ea typeface="Malgun Gothic"/>
                          <a:cs typeface="Malgun Gothic"/>
                        </a:rPr>
                        <a:t>깊이 지도</a:t>
                      </a:r>
                    </a:p>
                  </a:txBody>
                  <a:tcPr marL="91440" marR="91440" marT="45720" marB="45720" anchor="ctr">
                    <a:solidFill>
                      <a:srgbClr val="FFFFFF"/>
                    </a:solidFill>
                  </a:tcPr>
                </a:tc>
                <a:tc>
                  <a:txBody>
                    <a:bodyPr lIns="152400" tIns="114300" rIns="114300" bIns="95250"/>
                    <a:lstStyle/>
                    <a:p>
                      <a:r>
                        <a:rPr sz="1500" b="0">
                          <a:solidFill>
                            <a:srgbClr val="102A43"/>
                          </a:solidFill>
                          <a:latin typeface="Malgun Gothic"/>
                          <a:ea typeface="Malgun Gothic"/>
                          <a:cs typeface="Malgun Gothic"/>
                        </a:rPr>
                        <a:t>133개</a:t>
                      </a:r>
                    </a:p>
                  </a:txBody>
                  <a:tcPr marL="91440" marR="91440" marT="45720" marB="45720" anchor="ctr">
                    <a:solidFill>
                      <a:srgbClr val="FFFFFF"/>
                    </a:solidFill>
                  </a:tcPr>
                </a:tc>
              </a:tr>
              <a:tr h="561975">
                <a:tc>
                  <a:txBody>
                    <a:bodyPr lIns="152400" tIns="114300" rIns="114300" bIns="95250"/>
                    <a:lstStyle/>
                    <a:p>
                      <a:r>
                        <a:rPr sz="1500" b="0">
                          <a:solidFill>
                            <a:srgbClr val="102A43"/>
                          </a:solidFill>
                          <a:latin typeface="Malgun Gothic"/>
                          <a:ea typeface="Malgun Gothic"/>
                          <a:cs typeface="Malgun Gothic"/>
                        </a:rPr>
                        <a:t>MVS 시간</a:t>
                      </a:r>
                    </a:p>
                  </a:txBody>
                  <a:tcPr marL="91440" marR="91440" marT="45720" marB="45720" anchor="ctr">
                    <a:solidFill>
                      <a:srgbClr val="F5F8FC"/>
                    </a:solidFill>
                  </a:tcPr>
                </a:tc>
                <a:tc>
                  <a:txBody>
                    <a:bodyPr lIns="152400" tIns="114300" rIns="114300" bIns="95250"/>
                    <a:lstStyle/>
                    <a:p>
                      <a:r>
                        <a:rPr sz="1500" b="0">
                          <a:solidFill>
                            <a:srgbClr val="102A43"/>
                          </a:solidFill>
                          <a:latin typeface="Malgun Gothic"/>
                          <a:ea typeface="Malgun Gothic"/>
                          <a:cs typeface="Malgun Gothic"/>
                        </a:rPr>
                        <a:t>8분 27초</a:t>
                      </a:r>
                    </a:p>
                  </a:txBody>
                  <a:tcPr marL="91440" marR="91440" marT="45720" marB="45720" anchor="ctr">
                    <a:solidFill>
                      <a:srgbClr val="F5F8FC"/>
                    </a:solidFill>
                  </a:tcPr>
                </a:tc>
              </a:tr>
            </a:tbl>
          </a:graphicData>
        </a:graphic>
      </p:graphicFrame>
      <p:sp>
        <p:nvSpPr>
          <p:cNvPr id="8" name="임의 스케일 정답 정확도 평가 전">
            <a:extLst xmlns:a="http://schemas.openxmlformats.org/drawingml/2006/main">
              <a:ext uri="{FF2B5EF4-FFF2-40B4-BE49-F238E27FC236}">
                <a16:creationId xmlns:a16="http://schemas.microsoft.com/office/drawing/2014/main" id="{3EDC4541-44BE-403E-8B33-6811FBA834CE}"/>
              </a:ext>
            </a:extLst>
          </p:cNvPr>
          <p:cNvSpPr>
            <a:spLocks xmlns:a="http://schemas.openxmlformats.org/drawingml/2006/main" noGrp="1"/>
          </p:cNvSpPr>
          <p:nvPr/>
        </p:nvSpPr>
        <p:spPr>
          <a:xfrm xmlns:a="http://schemas.openxmlformats.org/drawingml/2006/main">
            <a:off x="8972550" y="5572125"/>
            <a:ext cx="2600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임의 스케일</a:t>
            </a:r>
          </a:p>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정답 정확도 평가 전</a:t>
            </a:r>
          </a:p>
        </p:txBody>
      </p:sp>
    </p:spTree>
    <p:extLst>
      <p:ext uri="{BB962C8B-B14F-4D97-AF65-F5344CB8AC3E}">
        <p14:creationId xmlns:p14="http://schemas.microsoft.com/office/powerpoint/2010/main" val="1447929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과제내용 및 추진방법 / 의미 지도 구축 계획">
            <a:extLst xmlns:a="http://schemas.openxmlformats.org/drawingml/2006/main">
              <a:ext uri="{FF2B5EF4-FFF2-40B4-BE49-F238E27FC236}">
                <a16:creationId xmlns:a16="http://schemas.microsoft.com/office/drawing/2014/main" id="{E04CA536-C938-41AB-9E82-C02734A057D9}"/>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의미 지도 구축 계획</a:t>
            </a:r>
          </a:p>
        </p:txBody>
      </p:sp>
      <p:sp>
        <p:nvSpPr>
          <p:cNvPr id="2" name="3D 복원과 2D 분할을 연결해 의미 지도를 생성">
            <a:extLst xmlns:a="http://schemas.openxmlformats.org/drawingml/2006/main">
              <a:ext uri="{FF2B5EF4-FFF2-40B4-BE49-F238E27FC236}">
                <a16:creationId xmlns:a16="http://schemas.microsoft.com/office/drawing/2014/main" id="{CF77FBFF-1AF2-4BBD-8C06-75E420363298}"/>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3D 복원과 2D 분할을 연결해 의미 지도를 생성</a:t>
            </a:r>
          </a:p>
        </p:txBody>
      </p:sp>
      <p:sp>
        <p:nvSpPr>
          <p:cNvPr id="3" name="현재: 조밀 점군 복원 완료 / 후속: SAM2·SAM3 후보 검증과 관측·라벨 통합">
            <a:extLst xmlns:a="http://schemas.openxmlformats.org/drawingml/2006/main">
              <a:ext uri="{FF2B5EF4-FFF2-40B4-BE49-F238E27FC236}">
                <a16:creationId xmlns:a16="http://schemas.microsoft.com/office/drawing/2014/main" id="{7E921CC3-B255-412F-9DFF-973C780C7C2C}"/>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현재: 조밀 점군 복원 완료 / 후속: SAM2·SAM3 후보 검증과 관측·라벨 통합</a:t>
            </a:r>
          </a:p>
        </p:txBody>
      </p:sp>
      <p:sp>
        <p:nvSpPr>
          <p:cNvPr id="4" name="SpaceWatch3D  ·  산학협력프로젝트 계획발표">
            <a:extLst xmlns:a="http://schemas.openxmlformats.org/drawingml/2006/main">
              <a:ext uri="{FF2B5EF4-FFF2-40B4-BE49-F238E27FC236}">
                <a16:creationId xmlns:a16="http://schemas.microsoft.com/office/drawing/2014/main" id="{7A15F512-9DB2-4AC1-8B39-695984E0FDA3}"/>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7">
            <a:extLst xmlns:a="http://schemas.openxmlformats.org/drawingml/2006/main">
              <a:ext uri="{FF2B5EF4-FFF2-40B4-BE49-F238E27FC236}">
                <a16:creationId xmlns:a16="http://schemas.microsoft.com/office/drawing/2014/main" id="{021E24CE-AEC0-496B-90D8-14BD17286C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09</a:t>
            </a:r>
          </a:p>
        </p:txBody>
      </p:sp>
      <p:sp>
        <p:nvSpPr>
          <p:cNvPr id="6" name="입력 프레임">
            <a:extLst xmlns:a="http://schemas.openxmlformats.org/drawingml/2006/main">
              <a:ext uri="{FF2B5EF4-FFF2-40B4-BE49-F238E27FC236}">
                <a16:creationId xmlns:a16="http://schemas.microsoft.com/office/drawing/2014/main" id="{44E237E7-472E-4780-8AA7-3C39312F51B5}"/>
              </a:ext>
            </a:extLst>
          </p:cNvPr>
          <p:cNvSpPr>
            <a:spLocks xmlns:a="http://schemas.openxmlformats.org/drawingml/2006/main" noGrp="1"/>
          </p:cNvSpPr>
          <p:nvPr/>
        </p:nvSpPr>
        <p:spPr>
          <a:xfrm xmlns:a="http://schemas.openxmlformats.org/drawingml/2006/main">
            <a:off x="609600" y="3238500"/>
            <a:ext cx="2095500" cy="1704975"/>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입력 프레임 제목">
            <a:extLst xmlns:a="http://schemas.openxmlformats.org/drawingml/2006/main">
              <a:ext uri="{FF2B5EF4-FFF2-40B4-BE49-F238E27FC236}">
                <a16:creationId xmlns:a16="http://schemas.microsoft.com/office/drawing/2014/main" id="{DE805AAA-26CA-4BE6-B3DC-39036DB757DD}"/>
              </a:ext>
            </a:extLst>
          </p:cNvPr>
          <p:cNvSpPr>
            <a:spLocks xmlns:a="http://schemas.openxmlformats.org/drawingml/2006/main" noGrp="1"/>
          </p:cNvSpPr>
          <p:nvPr/>
        </p:nvSpPr>
        <p:spPr>
          <a:xfrm xmlns:a="http://schemas.openxmlformats.org/drawingml/2006/main">
            <a:off x="609600" y="3238500"/>
            <a:ext cx="209550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입력 프레임">
            <a:extLst xmlns:a="http://schemas.openxmlformats.org/drawingml/2006/main">
              <a:ext uri="{FF2B5EF4-FFF2-40B4-BE49-F238E27FC236}">
                <a16:creationId xmlns:a16="http://schemas.microsoft.com/office/drawing/2014/main" id="{3D073B29-3E4B-4580-8ED6-41B96D345CCC}"/>
              </a:ext>
            </a:extLst>
          </p:cNvPr>
          <p:cNvSpPr>
            <a:spLocks xmlns:a="http://schemas.openxmlformats.org/drawingml/2006/main" noGrp="1"/>
          </p:cNvSpPr>
          <p:nvPr/>
        </p:nvSpPr>
        <p:spPr>
          <a:xfrm xmlns:a="http://schemas.openxmlformats.org/drawingml/2006/main">
            <a:off x="752475" y="333375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입력 프레임</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7f70f776e9f4b55"/>
          <a:stretch xmlns:a="http://schemas.openxmlformats.org/drawingml/2006/main"/>
        </p:blipFill>
        <p:spPr>
          <a:xfrm xmlns:a="http://schemas.openxmlformats.org/drawingml/2006/main">
            <a:off x="752475" y="3944541"/>
            <a:ext cx="885825" cy="664369"/>
          </a:xfrm>
          <a:prstGeom xmlns:a="http://schemas.openxmlformats.org/drawingml/2006/main" prst="rect">
            <a:avLst/>
          </a:prstGeom>
        </p:spPr>
      </p:pic>
      <p:sp>
        <p:nvSpPr>
          <p:cNvPr id="10" name="RGB 3~5fps">
            <a:extLst xmlns:a="http://schemas.openxmlformats.org/drawingml/2006/main">
              <a:ext uri="{FF2B5EF4-FFF2-40B4-BE49-F238E27FC236}">
                <a16:creationId xmlns:a16="http://schemas.microsoft.com/office/drawing/2014/main" id="{15AE44A4-8BFC-4A63-8F7E-6E3E573A8DB3}"/>
              </a:ext>
            </a:extLst>
          </p:cNvPr>
          <p:cNvSpPr>
            <a:spLocks xmlns:a="http://schemas.openxmlformats.org/drawingml/2006/main" noGrp="1"/>
          </p:cNvSpPr>
          <p:nvPr/>
        </p:nvSpPr>
        <p:spPr>
          <a:xfrm xmlns:a="http://schemas.openxmlformats.org/drawingml/2006/main">
            <a:off x="1733550" y="3886200"/>
            <a:ext cx="8858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RGB</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3~5fps</a:t>
            </a:r>
          </a:p>
        </p:txBody>
      </p:sp>
      <p:sp>
        <p:nvSpPr>
          <p:cNvPr id="11" name="COLMAP → OpenMVS">
            <a:extLst xmlns:a="http://schemas.openxmlformats.org/drawingml/2006/main">
              <a:ext uri="{FF2B5EF4-FFF2-40B4-BE49-F238E27FC236}">
                <a16:creationId xmlns:a16="http://schemas.microsoft.com/office/drawing/2014/main" id="{6B7F2D18-5041-4C18-96B8-46B72DF84C7E}"/>
              </a:ext>
            </a:extLst>
          </p:cNvPr>
          <p:cNvSpPr>
            <a:spLocks xmlns:a="http://schemas.openxmlformats.org/drawingml/2006/main" noGrp="1"/>
          </p:cNvSpPr>
          <p:nvPr/>
        </p:nvSpPr>
        <p:spPr>
          <a:xfrm xmlns:a="http://schemas.openxmlformats.org/drawingml/2006/main">
            <a:off x="3333750" y="2400300"/>
            <a:ext cx="3295650" cy="1457325"/>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2" name="COLMAP → OpenMVS 제목">
            <a:extLst xmlns:a="http://schemas.openxmlformats.org/drawingml/2006/main">
              <a:ext uri="{FF2B5EF4-FFF2-40B4-BE49-F238E27FC236}">
                <a16:creationId xmlns:a16="http://schemas.microsoft.com/office/drawing/2014/main" id="{06139F63-2E5D-4C4A-98A6-5A5A8328E143}"/>
              </a:ext>
            </a:extLst>
          </p:cNvPr>
          <p:cNvSpPr>
            <a:spLocks xmlns:a="http://schemas.openxmlformats.org/drawingml/2006/main" noGrp="1"/>
          </p:cNvSpPr>
          <p:nvPr/>
        </p:nvSpPr>
        <p:spPr>
          <a:xfrm xmlns:a="http://schemas.openxmlformats.org/drawingml/2006/main">
            <a:off x="3333750" y="2400300"/>
            <a:ext cx="3295650"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3" name="COLMAP → OpenMVS">
            <a:extLst xmlns:a="http://schemas.openxmlformats.org/drawingml/2006/main">
              <a:ext uri="{FF2B5EF4-FFF2-40B4-BE49-F238E27FC236}">
                <a16:creationId xmlns:a16="http://schemas.microsoft.com/office/drawing/2014/main" id="{636A5DFC-73FF-47AE-B2D3-5B5D9CD4A4D3}"/>
              </a:ext>
            </a:extLst>
          </p:cNvPr>
          <p:cNvSpPr>
            <a:spLocks xmlns:a="http://schemas.openxmlformats.org/drawingml/2006/main" noGrp="1"/>
          </p:cNvSpPr>
          <p:nvPr/>
        </p:nvSpPr>
        <p:spPr>
          <a:xfrm xmlns:a="http://schemas.openxmlformats.org/drawingml/2006/main">
            <a:off x="3476625" y="249555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COLMAP → OpenMVS</a:t>
            </a:r>
          </a:p>
        </p:txBody>
      </p:sp>
      <p:sp>
        <p:nvSpPr>
          <p:cNvPr id="14" name="SfM 자세·희소점 → 깊이·조밀점">
            <a:extLst xmlns:a="http://schemas.openxmlformats.org/drawingml/2006/main">
              <a:ext uri="{FF2B5EF4-FFF2-40B4-BE49-F238E27FC236}">
                <a16:creationId xmlns:a16="http://schemas.microsoft.com/office/drawing/2014/main" id="{8E0D16CA-3383-4878-B479-B663847757AD}"/>
              </a:ext>
            </a:extLst>
          </p:cNvPr>
          <p:cNvSpPr>
            <a:spLocks xmlns:a="http://schemas.openxmlformats.org/drawingml/2006/main" noGrp="1"/>
          </p:cNvSpPr>
          <p:nvPr/>
        </p:nvSpPr>
        <p:spPr>
          <a:xfrm xmlns:a="http://schemas.openxmlformats.org/drawingml/2006/main">
            <a:off x="3495675" y="3028950"/>
            <a:ext cx="2962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SfM 자세·희소점 → 깊이·조밀점</a:t>
            </a:r>
          </a:p>
        </p:txBody>
      </p:sp>
      <p:sp>
        <p:nvSpPr>
          <p:cNvPr id="15" name="카메라·깊이·관측 정보 보관">
            <a:extLst xmlns:a="http://schemas.openxmlformats.org/drawingml/2006/main">
              <a:ext uri="{FF2B5EF4-FFF2-40B4-BE49-F238E27FC236}">
                <a16:creationId xmlns:a16="http://schemas.microsoft.com/office/drawing/2014/main" id="{CD3BE092-4026-4DC6-BBD5-91E95BE400FF}"/>
              </a:ext>
            </a:extLst>
          </p:cNvPr>
          <p:cNvSpPr>
            <a:spLocks xmlns:a="http://schemas.openxmlformats.org/drawingml/2006/main" noGrp="1"/>
          </p:cNvSpPr>
          <p:nvPr/>
        </p:nvSpPr>
        <p:spPr>
          <a:xfrm xmlns:a="http://schemas.openxmlformats.org/drawingml/2006/main">
            <a:off x="3495675" y="3467100"/>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카메라·깊이·관측 정보 보관</a:t>
            </a:r>
          </a:p>
        </p:txBody>
      </p:sp>
      <p:sp>
        <p:nvSpPr>
          <p:cNvPr id="16" name="SAM2 또는 SAM3">
            <a:extLst xmlns:a="http://schemas.openxmlformats.org/drawingml/2006/main">
              <a:ext uri="{FF2B5EF4-FFF2-40B4-BE49-F238E27FC236}">
                <a16:creationId xmlns:a16="http://schemas.microsoft.com/office/drawing/2014/main" id="{3EAADA56-B221-4DFD-8115-56D8F7611901}"/>
              </a:ext>
            </a:extLst>
          </p:cNvPr>
          <p:cNvSpPr>
            <a:spLocks xmlns:a="http://schemas.openxmlformats.org/drawingml/2006/main" noGrp="1"/>
          </p:cNvSpPr>
          <p:nvPr/>
        </p:nvSpPr>
        <p:spPr>
          <a:xfrm xmlns:a="http://schemas.openxmlformats.org/drawingml/2006/main">
            <a:off x="3333750" y="4295775"/>
            <a:ext cx="3295650" cy="1457325"/>
          </a:xfrm>
          <a:prstGeom xmlns:a="http://schemas.openxmlformats.org/drawingml/2006/main" prst="rect">
            <a:avLst/>
          </a:prstGeom>
          <a:solidFill xmlns:a="http://schemas.openxmlformats.org/drawingml/2006/main">
            <a:srgbClr val="F5EFFB"/>
          </a:solidFill>
          <a:ln xmlns:a="http://schemas.openxmlformats.org/drawingml/2006/main" w="14288">
            <a:solidFill>
              <a:srgbClr val="8757B9"/>
            </a:solidFill>
          </a:ln>
        </p:spPr>
      </p:sp>
      <p:sp>
        <p:nvSpPr>
          <p:cNvPr id="17" name="SAM2 또는 SAM3 제목">
            <a:extLst xmlns:a="http://schemas.openxmlformats.org/drawingml/2006/main">
              <a:ext uri="{FF2B5EF4-FFF2-40B4-BE49-F238E27FC236}">
                <a16:creationId xmlns:a16="http://schemas.microsoft.com/office/drawing/2014/main" id="{5AB44207-CA1C-4E04-8FE5-686D5FA880DD}"/>
              </a:ext>
            </a:extLst>
          </p:cNvPr>
          <p:cNvSpPr>
            <a:spLocks xmlns:a="http://schemas.openxmlformats.org/drawingml/2006/main" noGrp="1"/>
          </p:cNvSpPr>
          <p:nvPr/>
        </p:nvSpPr>
        <p:spPr>
          <a:xfrm xmlns:a="http://schemas.openxmlformats.org/drawingml/2006/main">
            <a:off x="3333750" y="4295775"/>
            <a:ext cx="3295650" cy="485775"/>
          </a:xfrm>
          <a:prstGeom xmlns:a="http://schemas.openxmlformats.org/drawingml/2006/main" prst="rect">
            <a:avLst/>
          </a:prstGeom>
          <a:solidFill xmlns:a="http://schemas.openxmlformats.org/drawingml/2006/main">
            <a:srgbClr val="8757B9"/>
          </a:solidFill>
          <a:ln xmlns:a="http://schemas.openxmlformats.org/drawingml/2006/main" w="0">
            <a:solidFill>
              <a:srgbClr val="8757B9"/>
            </a:solidFill>
          </a:ln>
        </p:spPr>
      </p:sp>
      <p:sp>
        <p:nvSpPr>
          <p:cNvPr id="18" name="SAM2 또는 SAM3">
            <a:extLst xmlns:a="http://schemas.openxmlformats.org/drawingml/2006/main">
              <a:ext uri="{FF2B5EF4-FFF2-40B4-BE49-F238E27FC236}">
                <a16:creationId xmlns:a16="http://schemas.microsoft.com/office/drawing/2014/main" id="{86E4A5C2-FF52-4B2A-A704-AB599EB99BEA}"/>
              </a:ext>
            </a:extLst>
          </p:cNvPr>
          <p:cNvSpPr>
            <a:spLocks xmlns:a="http://schemas.openxmlformats.org/drawingml/2006/main" noGrp="1"/>
          </p:cNvSpPr>
          <p:nvPr/>
        </p:nvSpPr>
        <p:spPr>
          <a:xfrm xmlns:a="http://schemas.openxmlformats.org/drawingml/2006/main">
            <a:off x="3476625" y="4391025"/>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SAM2 또는 SAM3</a:t>
            </a:r>
          </a:p>
        </p:txBody>
      </p:sp>
      <p:sp>
        <p:nvSpPr>
          <p:cNvPr id="19" name="2D 마스크 생성 · 클래스 연결">
            <a:extLst xmlns:a="http://schemas.openxmlformats.org/drawingml/2006/main">
              <a:ext uri="{FF2B5EF4-FFF2-40B4-BE49-F238E27FC236}">
                <a16:creationId xmlns:a16="http://schemas.microsoft.com/office/drawing/2014/main" id="{C6659AC4-6A84-49AC-8D91-B7E496999272}"/>
              </a:ext>
            </a:extLst>
          </p:cNvPr>
          <p:cNvSpPr>
            <a:spLocks xmlns:a="http://schemas.openxmlformats.org/drawingml/2006/main" noGrp="1"/>
          </p:cNvSpPr>
          <p:nvPr/>
        </p:nvSpPr>
        <p:spPr>
          <a:xfrm xmlns:a="http://schemas.openxmlformats.org/drawingml/2006/main">
            <a:off x="3495675" y="4914900"/>
            <a:ext cx="296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2D 마스크 생성 · 클래스 연결</a:t>
            </a:r>
          </a:p>
        </p:txBody>
      </p:sp>
      <p:sp>
        <p:nvSpPr>
          <p:cNvPr id="20" name="모델·프롬프트·클래스 방식 검증">
            <a:extLst xmlns:a="http://schemas.openxmlformats.org/drawingml/2006/main">
              <a:ext uri="{FF2B5EF4-FFF2-40B4-BE49-F238E27FC236}">
                <a16:creationId xmlns:a16="http://schemas.microsoft.com/office/drawing/2014/main" id="{9756D012-839D-4EA0-B552-78B9034F40CF}"/>
              </a:ext>
            </a:extLst>
          </p:cNvPr>
          <p:cNvSpPr>
            <a:spLocks xmlns:a="http://schemas.openxmlformats.org/drawingml/2006/main" noGrp="1"/>
          </p:cNvSpPr>
          <p:nvPr/>
        </p:nvSpPr>
        <p:spPr>
          <a:xfrm xmlns:a="http://schemas.openxmlformats.org/drawingml/2006/main">
            <a:off x="3495675" y="5362575"/>
            <a:ext cx="2962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577"/>
                </a:solidFill>
                <a:latin typeface="Malgun Gothic"/>
                <a:ea typeface="Malgun Gothic"/>
                <a:cs typeface="Malgun Gothic"/>
              </a:defRPr>
            </a:pPr>
            <a:r>
              <a:rPr sz="1500" b="0">
                <a:solidFill>
                  <a:srgbClr val="526577"/>
                </a:solidFill>
                <a:latin typeface="Malgun Gothic"/>
                <a:ea typeface="Malgun Gothic"/>
                <a:cs typeface="Malgun Gothic"/>
              </a:rPr>
              <a:t>모델·프롬프트·클래스 방식 검증</a:t>
            </a:r>
          </a:p>
        </p:txBody>
      </p:sp>
      <p:sp>
        <p:nvSpPr>
          <p:cNvPr id="21" name="관측 연결 → 의미 통합">
            <a:extLst xmlns:a="http://schemas.openxmlformats.org/drawingml/2006/main">
              <a:ext uri="{FF2B5EF4-FFF2-40B4-BE49-F238E27FC236}">
                <a16:creationId xmlns:a16="http://schemas.microsoft.com/office/drawing/2014/main" id="{073A454F-4C2E-4836-AF75-D9B20B0EE30D}"/>
              </a:ext>
            </a:extLst>
          </p:cNvPr>
          <p:cNvSpPr>
            <a:spLocks xmlns:a="http://schemas.openxmlformats.org/drawingml/2006/main" noGrp="1"/>
          </p:cNvSpPr>
          <p:nvPr/>
        </p:nvSpPr>
        <p:spPr>
          <a:xfrm xmlns:a="http://schemas.openxmlformats.org/drawingml/2006/main">
            <a:off x="7353300" y="2819400"/>
            <a:ext cx="4229100" cy="2600325"/>
          </a:xfrm>
          <a:prstGeom xmlns:a="http://schemas.openxmlformats.org/drawingml/2006/main" prst="rect">
            <a:avLst/>
          </a:prstGeom>
          <a:solidFill xmlns:a="http://schemas.openxmlformats.org/drawingml/2006/main">
            <a:srgbClr val="ECF8F5"/>
          </a:solidFill>
          <a:ln xmlns:a="http://schemas.openxmlformats.org/drawingml/2006/main" w="14288">
            <a:solidFill>
              <a:srgbClr val="087F8C"/>
            </a:solidFill>
          </a:ln>
        </p:spPr>
      </p:sp>
      <p:sp>
        <p:nvSpPr>
          <p:cNvPr id="22" name="관측 연결 → 의미 통합 제목">
            <a:extLst xmlns:a="http://schemas.openxmlformats.org/drawingml/2006/main">
              <a:ext uri="{FF2B5EF4-FFF2-40B4-BE49-F238E27FC236}">
                <a16:creationId xmlns:a16="http://schemas.microsoft.com/office/drawing/2014/main" id="{ED32F0A1-B2A0-470A-B867-D459E3C2232F}"/>
              </a:ext>
            </a:extLst>
          </p:cNvPr>
          <p:cNvSpPr>
            <a:spLocks xmlns:a="http://schemas.openxmlformats.org/drawingml/2006/main" noGrp="1"/>
          </p:cNvSpPr>
          <p:nvPr/>
        </p:nvSpPr>
        <p:spPr>
          <a:xfrm xmlns:a="http://schemas.openxmlformats.org/drawingml/2006/main">
            <a:off x="7353300" y="2819400"/>
            <a:ext cx="4229100" cy="485775"/>
          </a:xfrm>
          <a:prstGeom xmlns:a="http://schemas.openxmlformats.org/drawingml/2006/main" prst="rect">
            <a:avLst/>
          </a:prstGeom>
          <a:solidFill xmlns:a="http://schemas.openxmlformats.org/drawingml/2006/main">
            <a:srgbClr val="087F8C"/>
          </a:solidFill>
          <a:ln xmlns:a="http://schemas.openxmlformats.org/drawingml/2006/main" w="0">
            <a:solidFill>
              <a:srgbClr val="087F8C"/>
            </a:solidFill>
          </a:ln>
        </p:spPr>
      </p:sp>
      <p:sp>
        <p:nvSpPr>
          <p:cNvPr id="23" name="관측 연결 → 의미 통합">
            <a:extLst xmlns:a="http://schemas.openxmlformats.org/drawingml/2006/main">
              <a:ext uri="{FF2B5EF4-FFF2-40B4-BE49-F238E27FC236}">
                <a16:creationId xmlns:a16="http://schemas.microsoft.com/office/drawing/2014/main" id="{17803B64-4021-4EF6-AC0C-3A24463512B2}"/>
              </a:ext>
            </a:extLst>
          </p:cNvPr>
          <p:cNvSpPr>
            <a:spLocks xmlns:a="http://schemas.openxmlformats.org/drawingml/2006/main" noGrp="1"/>
          </p:cNvSpPr>
          <p:nvPr/>
        </p:nvSpPr>
        <p:spPr>
          <a:xfrm xmlns:a="http://schemas.openxmlformats.org/drawingml/2006/main">
            <a:off x="7496175" y="29146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관측 연결 → 의미 통합</a:t>
            </a:r>
          </a:p>
        </p:txBody>
      </p:sp>
      <p:sp>
        <p:nvSpPr>
          <p:cNvPr id="24" name="3D 점 ↔ 이미지 화소 대응">
            <a:extLst xmlns:a="http://schemas.openxmlformats.org/drawingml/2006/main">
              <a:ext uri="{FF2B5EF4-FFF2-40B4-BE49-F238E27FC236}">
                <a16:creationId xmlns:a16="http://schemas.microsoft.com/office/drawing/2014/main" id="{8F929606-13AA-48AF-B675-9EE78713C863}"/>
              </a:ext>
            </a:extLst>
          </p:cNvPr>
          <p:cNvSpPr>
            <a:spLocks xmlns:a="http://schemas.openxmlformats.org/drawingml/2006/main" noGrp="1"/>
          </p:cNvSpPr>
          <p:nvPr/>
        </p:nvSpPr>
        <p:spPr>
          <a:xfrm xmlns:a="http://schemas.openxmlformats.org/drawingml/2006/main">
            <a:off x="7524750" y="3486150"/>
            <a:ext cx="3886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Malgun Gothic"/>
                <a:ea typeface="Malgun Gothic"/>
                <a:cs typeface="Malgun Gothic"/>
              </a:defRPr>
            </a:pPr>
            <a:r>
              <a:rPr sz="2025" b="1">
                <a:solidFill>
                  <a:srgbClr val="087F8C"/>
                </a:solidFill>
                <a:latin typeface="Malgun Gothic"/>
                <a:ea typeface="Malgun Gothic"/>
                <a:cs typeface="Malgun Gothic"/>
              </a:rPr>
              <a:t>3D 점 ↔ 이미지 화소 대응</a:t>
            </a:r>
          </a:p>
        </p:txBody>
      </p:sp>
      <p:sp>
        <p:nvSpPr>
          <p:cNvPr id="25" name="카메라 투영 + 깊이·가림 검사 여러 시점의 클래스·신뢰도 통합 관측 부족·충돌은 unknown">
            <a:extLst xmlns:a="http://schemas.openxmlformats.org/drawingml/2006/main">
              <a:ext uri="{FF2B5EF4-FFF2-40B4-BE49-F238E27FC236}">
                <a16:creationId xmlns:a16="http://schemas.microsoft.com/office/drawing/2014/main" id="{13862C8A-A533-4F92-8ED5-A0A1A6C65E68}"/>
              </a:ext>
            </a:extLst>
          </p:cNvPr>
          <p:cNvSpPr>
            <a:spLocks xmlns:a="http://schemas.openxmlformats.org/drawingml/2006/main" noGrp="1"/>
          </p:cNvSpPr>
          <p:nvPr/>
        </p:nvSpPr>
        <p:spPr>
          <a:xfrm xmlns:a="http://schemas.openxmlformats.org/drawingml/2006/main">
            <a:off x="7524750" y="4029075"/>
            <a:ext cx="3886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카메라 투영 + 깊이·가림 검사</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여러 시점의 클래스·신뢰도 통합</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관측 부족·충돌은 unknown</a:t>
            </a:r>
          </a:p>
        </p:txBody>
      </p:sp>
      <p:cxnSp>
        <p:nvCxnSpPr>
          <p:cNvPr id="56" name=""/>
          <p:cNvCxnSpPr>
            <a:stCxn xmlns:a="http://schemas.openxmlformats.org/drawingml/2006/main" id="6" idx="3"/>
            <a:endCxn xmlns:a="http://schemas.openxmlformats.org/drawingml/2006/main" id="11" idx="1"/>
          </p:cNvCxnSpPr>
          <p:nvPr/>
        </p:nvCxnSpPr>
        <p:spPr>
          <a:xfrm xmlns:a="http://schemas.openxmlformats.org/drawingml/2006/main" flipV="1">
            <a:off x="2705100" y="3128963"/>
            <a:ext cx="628650" cy="962025"/>
          </a:xfrm>
          <a:prstGeom xmlns:a="http://schemas.openxmlformats.org/drawingml/2006/main" prst="bentConnector3">
            <a:avLst>
              <a:gd name="adj1" fmla="val 50000"/>
            </a:avLst>
          </a:prstGeom>
          <a:ln xmlns:a="http://schemas.openxmlformats.org/drawingml/2006/main" w="23813">
            <a:solidFill>
              <a:srgbClr val="2463EB"/>
            </a:solidFill>
            <a:tailEnd type="triangle" w="med" len="med"/>
          </a:ln>
        </p:spPr>
      </p:cxnSp>
      <p:cxnSp>
        <p:nvCxnSpPr>
          <p:cNvPr id="57" name=""/>
          <p:cNvCxnSpPr>
            <a:stCxn xmlns:a="http://schemas.openxmlformats.org/drawingml/2006/main" id="6" idx="3"/>
            <a:endCxn xmlns:a="http://schemas.openxmlformats.org/drawingml/2006/main" id="16" idx="1"/>
          </p:cNvCxnSpPr>
          <p:nvPr/>
        </p:nvCxnSpPr>
        <p:spPr>
          <a:xfrm xmlns:a="http://schemas.openxmlformats.org/drawingml/2006/main">
            <a:off x="2705100" y="4090988"/>
            <a:ext cx="628650" cy="933450"/>
          </a:xfrm>
          <a:prstGeom xmlns:a="http://schemas.openxmlformats.org/drawingml/2006/main" prst="bentConnector3">
            <a:avLst>
              <a:gd name="adj1" fmla="val 50000"/>
            </a:avLst>
          </a:prstGeom>
          <a:ln xmlns:a="http://schemas.openxmlformats.org/drawingml/2006/main" w="23813">
            <a:solidFill>
              <a:srgbClr val="8757B9"/>
            </a:solidFill>
            <a:tailEnd type="triangle" w="med" len="med"/>
          </a:ln>
        </p:spPr>
      </p:cxnSp>
      <p:cxnSp>
        <p:nvCxnSpPr>
          <p:cNvPr id="58" name=""/>
          <p:cNvCxnSpPr>
            <a:stCxn xmlns:a="http://schemas.openxmlformats.org/drawingml/2006/main" id="11" idx="3"/>
            <a:endCxn xmlns:a="http://schemas.openxmlformats.org/drawingml/2006/main" id="21" idx="1"/>
          </p:cNvCxnSpPr>
          <p:nvPr/>
        </p:nvCxnSpPr>
        <p:spPr>
          <a:xfrm xmlns:a="http://schemas.openxmlformats.org/drawingml/2006/main">
            <a:off x="6629400" y="3128963"/>
            <a:ext cx="723900" cy="990600"/>
          </a:xfrm>
          <a:prstGeom xmlns:a="http://schemas.openxmlformats.org/drawingml/2006/main" prst="bentConnector3">
            <a:avLst>
              <a:gd name="adj1" fmla="val 50000"/>
            </a:avLst>
          </a:prstGeom>
          <a:ln xmlns:a="http://schemas.openxmlformats.org/drawingml/2006/main" w="23813">
            <a:solidFill>
              <a:srgbClr val="137CA3"/>
            </a:solidFill>
            <a:tailEnd type="triangle" w="med" len="med"/>
          </a:ln>
        </p:spPr>
      </p:cxn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flipV="1">
            <a:off x="6629400" y="4119563"/>
            <a:ext cx="723900" cy="904875"/>
          </a:xfrm>
          <a:prstGeom xmlns:a="http://schemas.openxmlformats.org/drawingml/2006/main" prst="bentConnector3">
            <a:avLst>
              <a:gd name="adj1" fmla="val 50000"/>
            </a:avLst>
          </a:prstGeom>
          <a:ln xmlns:a="http://schemas.openxmlformats.org/drawingml/2006/main" w="23813">
            <a:solidFill>
              <a:srgbClr val="8757B9"/>
            </a:solidFill>
            <a:tailEnd type="triangle" w="med" len="med"/>
          </a:ln>
        </p:spPr>
      </p:cxnSp>
      <p:sp>
        <p:nvSpPr>
          <p:cNvPr id="30" name="저장: 점별 위치·클래스·신뢰도·근거 프레임·시각 → 의미 지도">
            <a:extLst xmlns:a="http://schemas.openxmlformats.org/drawingml/2006/main">
              <a:ext uri="{FF2B5EF4-FFF2-40B4-BE49-F238E27FC236}">
                <a16:creationId xmlns:a16="http://schemas.microsoft.com/office/drawing/2014/main" id="{544C5361-D869-4B12-A9E0-013F16898A61}"/>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저장: 점별 위치·클래스·신뢰도·근거 프레임·시각 → 의미 지도</a:t>
            </a:r>
          </a:p>
        </p:txBody>
      </p:sp>
    </p:spTree>
    <p:extLst>
      <p:ext uri="{BB962C8B-B14F-4D97-AF65-F5344CB8AC3E}">
        <p14:creationId xmlns:p14="http://schemas.microsoft.com/office/powerpoint/2010/main" val="123154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과제내용 및 추진방법 / 키프레임·가상투어 계획">
            <a:extLst xmlns:a="http://schemas.openxmlformats.org/drawingml/2006/main">
              <a:ext uri="{FF2B5EF4-FFF2-40B4-BE49-F238E27FC236}">
                <a16:creationId xmlns:a16="http://schemas.microsoft.com/office/drawing/2014/main" id="{E8B77478-7177-4259-AB3A-AE632354A70F}"/>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키프레임·가상투어</a:t>
            </a:r>
          </a:p>
        </p:txBody>
      </p:sp>
      <p:sp>
        <p:nvSpPr>
          <p:cNvPr id="2" name="실제 입력 프레임을 이용한 대표 장면 선별 계획">
            <a:extLst xmlns:a="http://schemas.openxmlformats.org/drawingml/2006/main">
              <a:ext uri="{FF2B5EF4-FFF2-40B4-BE49-F238E27FC236}">
                <a16:creationId xmlns:a16="http://schemas.microsoft.com/office/drawing/2014/main" id="{0D12C3A0-5574-4256-8EBF-9FFB73F20767}"/>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실제 입력 프레임을 이용한 대표 장면 선별 계획</a:t>
            </a:r>
          </a:p>
        </p:txBody>
      </p:sp>
      <p:sp>
        <p:nvSpPr>
          <p:cNvPr id="3" name="현재: 5fps 균일 추출  /  후속: 자동 선별·투어 연결 + 키프레임만 분할하는 방식 검증">
            <a:extLst xmlns:a="http://schemas.openxmlformats.org/drawingml/2006/main">
              <a:ext uri="{FF2B5EF4-FFF2-40B4-BE49-F238E27FC236}">
                <a16:creationId xmlns:a16="http://schemas.microsoft.com/office/drawing/2014/main" id="{2E220C0E-FBE8-49D7-A417-5224B4443EFA}"/>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현재: 5fps 균일 추출  /  후속: 자동 선별·투어 연결 + 키프레임만 분할하는 방식 검증</a:t>
            </a:r>
          </a:p>
        </p:txBody>
      </p:sp>
      <p:sp>
        <p:nvSpPr>
          <p:cNvPr id="4" name="SpaceWatch3D  ·  산학협력프로젝트 계획발표">
            <a:extLst xmlns:a="http://schemas.openxmlformats.org/drawingml/2006/main">
              <a:ext uri="{FF2B5EF4-FFF2-40B4-BE49-F238E27FC236}">
                <a16:creationId xmlns:a16="http://schemas.microsoft.com/office/drawing/2014/main" id="{CEE3EF64-21CF-44FD-BF6E-22B584BFD342}"/>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8">
            <a:extLst xmlns:a="http://schemas.openxmlformats.org/drawingml/2006/main">
              <a:ext uri="{FF2B5EF4-FFF2-40B4-BE49-F238E27FC236}">
                <a16:creationId xmlns:a16="http://schemas.microsoft.com/office/drawing/2014/main" id="{7FE31246-D7C7-42F5-AB2B-4A3E2F9DFF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10</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fd43403d827427d"/>
          <a:stretch xmlns:a="http://schemas.openxmlformats.org/drawingml/2006/main"/>
        </p:blipFill>
        <p:spPr>
          <a:xfrm xmlns:a="http://schemas.openxmlformats.org/drawingml/2006/main">
            <a:off x="609600" y="2430066"/>
            <a:ext cx="1952625" cy="1464469"/>
          </a:xfrm>
          <a:prstGeom xmlns:a="http://schemas.openxmlformats.org/drawingml/2006/main" prst="rect">
            <a:avLst/>
          </a:prstGeom>
        </p:spPr>
      </p:pic>
      <p:sp>
        <p:nvSpPr>
          <p:cNvPr id="7" name="프레임 1">
            <a:extLst xmlns:a="http://schemas.openxmlformats.org/drawingml/2006/main">
              <a:ext uri="{FF2B5EF4-FFF2-40B4-BE49-F238E27FC236}">
                <a16:creationId xmlns:a16="http://schemas.microsoft.com/office/drawing/2014/main" id="{BE183C55-E668-48CE-9022-44A98996FE36}"/>
              </a:ext>
            </a:extLst>
          </p:cNvPr>
          <p:cNvSpPr>
            <a:spLocks xmlns:a="http://schemas.openxmlformats.org/drawingml/2006/main" noGrp="1"/>
          </p:cNvSpPr>
          <p:nvPr/>
        </p:nvSpPr>
        <p:spPr>
          <a:xfrm xmlns:a="http://schemas.openxmlformats.org/drawingml/2006/main">
            <a:off x="60960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dd344ffc9304f1d"/>
          <a:stretch xmlns:a="http://schemas.openxmlformats.org/drawingml/2006/main"/>
        </p:blipFill>
        <p:spPr>
          <a:xfrm xmlns:a="http://schemas.openxmlformats.org/drawingml/2006/main">
            <a:off x="2676525" y="2430066"/>
            <a:ext cx="1952625" cy="1464469"/>
          </a:xfrm>
          <a:prstGeom xmlns:a="http://schemas.openxmlformats.org/drawingml/2006/main" prst="rect">
            <a:avLst/>
          </a:prstGeom>
        </p:spPr>
      </p:pic>
      <p:sp>
        <p:nvSpPr>
          <p:cNvPr id="9" name="프레임 2">
            <a:extLst xmlns:a="http://schemas.openxmlformats.org/drawingml/2006/main">
              <a:ext uri="{FF2B5EF4-FFF2-40B4-BE49-F238E27FC236}">
                <a16:creationId xmlns:a16="http://schemas.microsoft.com/office/drawing/2014/main" id="{2B0C835E-9133-41C9-AFF5-F5FFB0BC3FA1}"/>
              </a:ext>
            </a:extLst>
          </p:cNvPr>
          <p:cNvSpPr>
            <a:spLocks xmlns:a="http://schemas.openxmlformats.org/drawingml/2006/main" noGrp="1"/>
          </p:cNvSpPr>
          <p:nvPr/>
        </p:nvSpPr>
        <p:spPr>
          <a:xfrm xmlns:a="http://schemas.openxmlformats.org/drawingml/2006/main">
            <a:off x="2676525"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2</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f17fdb3f71b4dcc"/>
          <a:stretch xmlns:a="http://schemas.openxmlformats.org/drawingml/2006/main"/>
        </p:blipFill>
        <p:spPr>
          <a:xfrm xmlns:a="http://schemas.openxmlformats.org/drawingml/2006/main">
            <a:off x="4743450" y="2430066"/>
            <a:ext cx="1952625" cy="1464469"/>
          </a:xfrm>
          <a:prstGeom xmlns:a="http://schemas.openxmlformats.org/drawingml/2006/main" prst="rect">
            <a:avLst/>
          </a:prstGeom>
        </p:spPr>
      </p:pic>
      <p:sp>
        <p:nvSpPr>
          <p:cNvPr id="11" name="프레임 34">
            <a:extLst xmlns:a="http://schemas.openxmlformats.org/drawingml/2006/main">
              <a:ext uri="{FF2B5EF4-FFF2-40B4-BE49-F238E27FC236}">
                <a16:creationId xmlns:a16="http://schemas.microsoft.com/office/drawing/2014/main" id="{1F4C4C02-F984-46DB-A86C-88C4DB1ADE78}"/>
              </a:ext>
            </a:extLst>
          </p:cNvPr>
          <p:cNvSpPr>
            <a:spLocks xmlns:a="http://schemas.openxmlformats.org/drawingml/2006/main" noGrp="1"/>
          </p:cNvSpPr>
          <p:nvPr/>
        </p:nvSpPr>
        <p:spPr>
          <a:xfrm xmlns:a="http://schemas.openxmlformats.org/drawingml/2006/main">
            <a:off x="4743450" y="39243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34</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7a1d830b14a49b5"/>
          <a:stretch xmlns:a="http://schemas.openxmlformats.org/drawingml/2006/main"/>
        </p:blipFill>
        <p:spPr>
          <a:xfrm xmlns:a="http://schemas.openxmlformats.org/drawingml/2006/main">
            <a:off x="609600" y="4230291"/>
            <a:ext cx="1952625" cy="1464469"/>
          </a:xfrm>
          <a:prstGeom xmlns:a="http://schemas.openxmlformats.org/drawingml/2006/main" prst="rect">
            <a:avLst/>
          </a:prstGeom>
        </p:spPr>
      </p:pic>
      <p:sp>
        <p:nvSpPr>
          <p:cNvPr id="13" name="프레임 67">
            <a:extLst xmlns:a="http://schemas.openxmlformats.org/drawingml/2006/main">
              <a:ext uri="{FF2B5EF4-FFF2-40B4-BE49-F238E27FC236}">
                <a16:creationId xmlns:a16="http://schemas.microsoft.com/office/drawing/2014/main" id="{B09DD4CD-BFBB-4DFD-8668-E401A4047483}"/>
              </a:ext>
            </a:extLst>
          </p:cNvPr>
          <p:cNvSpPr>
            <a:spLocks xmlns:a="http://schemas.openxmlformats.org/drawingml/2006/main" noGrp="1"/>
          </p:cNvSpPr>
          <p:nvPr/>
        </p:nvSpPr>
        <p:spPr>
          <a:xfrm xmlns:a="http://schemas.openxmlformats.org/drawingml/2006/main">
            <a:off x="60960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67</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26f388f2a8340e1"/>
          <a:stretch xmlns:a="http://schemas.openxmlformats.org/drawingml/2006/main"/>
        </p:blipFill>
        <p:spPr>
          <a:xfrm xmlns:a="http://schemas.openxmlformats.org/drawingml/2006/main">
            <a:off x="2676525" y="4230291"/>
            <a:ext cx="1952625" cy="1464469"/>
          </a:xfrm>
          <a:prstGeom xmlns:a="http://schemas.openxmlformats.org/drawingml/2006/main" prst="rect">
            <a:avLst/>
          </a:prstGeom>
        </p:spPr>
      </p:pic>
      <p:sp>
        <p:nvSpPr>
          <p:cNvPr id="15" name="프레임 100">
            <a:extLst xmlns:a="http://schemas.openxmlformats.org/drawingml/2006/main">
              <a:ext uri="{FF2B5EF4-FFF2-40B4-BE49-F238E27FC236}">
                <a16:creationId xmlns:a16="http://schemas.microsoft.com/office/drawing/2014/main" id="{D2920917-F4E3-447B-89D6-43CE0BB31CFA}"/>
              </a:ext>
            </a:extLst>
          </p:cNvPr>
          <p:cNvSpPr>
            <a:spLocks xmlns:a="http://schemas.openxmlformats.org/drawingml/2006/main" noGrp="1"/>
          </p:cNvSpPr>
          <p:nvPr/>
        </p:nvSpPr>
        <p:spPr>
          <a:xfrm xmlns:a="http://schemas.openxmlformats.org/drawingml/2006/main">
            <a:off x="2676525"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100</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5bb61f9c6464759"/>
          <a:stretch xmlns:a="http://schemas.openxmlformats.org/drawingml/2006/main"/>
        </p:blipFill>
        <p:spPr>
          <a:xfrm xmlns:a="http://schemas.openxmlformats.org/drawingml/2006/main">
            <a:off x="4743450" y="4230291"/>
            <a:ext cx="1952625" cy="1464469"/>
          </a:xfrm>
          <a:prstGeom xmlns:a="http://schemas.openxmlformats.org/drawingml/2006/main" prst="rect">
            <a:avLst/>
          </a:prstGeom>
        </p:spPr>
      </p:pic>
      <p:sp>
        <p:nvSpPr>
          <p:cNvPr id="17" name="프레임 133">
            <a:extLst xmlns:a="http://schemas.openxmlformats.org/drawingml/2006/main">
              <a:ext uri="{FF2B5EF4-FFF2-40B4-BE49-F238E27FC236}">
                <a16:creationId xmlns:a16="http://schemas.microsoft.com/office/drawing/2014/main" id="{ADEABDC0-FE72-4B48-AAFF-EE88BB65DA7D}"/>
              </a:ext>
            </a:extLst>
          </p:cNvPr>
          <p:cNvSpPr>
            <a:spLocks xmlns:a="http://schemas.openxmlformats.org/drawingml/2006/main" noGrp="1"/>
          </p:cNvSpPr>
          <p:nvPr/>
        </p:nvSpPr>
        <p:spPr>
          <a:xfrm xmlns:a="http://schemas.openxmlformats.org/drawingml/2006/main">
            <a:off x="4743450" y="57245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프레임 133</a:t>
            </a:r>
          </a:p>
        </p:txBody>
      </p:sp>
      <p:sp>
        <p:nvSpPr>
          <p:cNvPr id="18" name="선별 기준">
            <a:extLst xmlns:a="http://schemas.openxmlformats.org/drawingml/2006/main">
              <a:ext uri="{FF2B5EF4-FFF2-40B4-BE49-F238E27FC236}">
                <a16:creationId xmlns:a16="http://schemas.microsoft.com/office/drawing/2014/main" id="{55D8724C-8375-4A35-AF5B-FFCA1BFA70B5}"/>
              </a:ext>
            </a:extLst>
          </p:cNvPr>
          <p:cNvSpPr>
            <a:spLocks xmlns:a="http://schemas.openxmlformats.org/drawingml/2006/main" noGrp="1"/>
          </p:cNvSpPr>
          <p:nvPr/>
        </p:nvSpPr>
        <p:spPr>
          <a:xfrm xmlns:a="http://schemas.openxmlformats.org/drawingml/2006/main">
            <a:off x="7591425" y="24765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463EB"/>
                </a:solidFill>
                <a:latin typeface="Malgun Gothic"/>
                <a:ea typeface="Malgun Gothic"/>
                <a:cs typeface="Malgun Gothic"/>
              </a:defRPr>
            </a:pPr>
            <a:r>
              <a:rPr sz="2175" b="1">
                <a:solidFill>
                  <a:srgbClr val="2463EB"/>
                </a:solidFill>
                <a:latin typeface="Malgun Gothic"/>
                <a:ea typeface="Malgun Gothic"/>
                <a:cs typeface="Malgun Gothic"/>
              </a:rPr>
              <a:t>선별 기준</a:t>
            </a:r>
          </a:p>
        </p:txBody>
      </p:sp>
      <p:sp>
        <p:nvSpPr>
          <p:cNvPr id="19" name="장면 중복도 선명도 새 관측 영역">
            <a:extLst xmlns:a="http://schemas.openxmlformats.org/drawingml/2006/main">
              <a:ext uri="{FF2B5EF4-FFF2-40B4-BE49-F238E27FC236}">
                <a16:creationId xmlns:a16="http://schemas.microsoft.com/office/drawing/2014/main" id="{0B5532C9-A042-404F-B254-397881C7F83D}"/>
              </a:ext>
            </a:extLst>
          </p:cNvPr>
          <p:cNvSpPr>
            <a:spLocks xmlns:a="http://schemas.openxmlformats.org/drawingml/2006/main" noGrp="1"/>
          </p:cNvSpPr>
          <p:nvPr/>
        </p:nvSpPr>
        <p:spPr>
          <a:xfrm xmlns:a="http://schemas.openxmlformats.org/drawingml/2006/main">
            <a:off x="7591425" y="3019425"/>
            <a:ext cx="3971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장면 중복도</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선명도</a:t>
            </a:r>
          </a:p>
          <a:p xmlns:a="http://schemas.openxmlformats.org/drawingml/2006/main">
            <a:pPr>
              <a:defRPr sz="2025" b="0">
                <a:solidFill>
                  <a:srgbClr val="102A43"/>
                </a:solidFill>
                <a:latin typeface="Malgun Gothic"/>
                <a:ea typeface="Malgun Gothic"/>
                <a:cs typeface="Malgun Gothic"/>
              </a:defRPr>
            </a:pPr>
            <a:r>
              <a:rPr sz="2025" b="0">
                <a:solidFill>
                  <a:srgbClr val="102A43"/>
                </a:solidFill>
                <a:latin typeface="Malgun Gothic"/>
                <a:ea typeface="Malgun Gothic"/>
                <a:cs typeface="Malgun Gothic"/>
              </a:rPr>
              <a:t>새 관측 영역</a:t>
            </a:r>
          </a:p>
        </p:txBody>
      </p:sp>
      <p:sp>
        <p:nvSpPr>
          <p:cNvPr id="20" name="분할 비용 절감 검증">
            <a:extLst xmlns:a="http://schemas.openxmlformats.org/drawingml/2006/main">
              <a:ext uri="{FF2B5EF4-FFF2-40B4-BE49-F238E27FC236}">
                <a16:creationId xmlns:a16="http://schemas.microsoft.com/office/drawing/2014/main" id="{EF250CFF-8F34-4002-BE39-B1F49E749597}"/>
              </a:ext>
            </a:extLst>
          </p:cNvPr>
          <p:cNvSpPr>
            <a:spLocks xmlns:a="http://schemas.openxmlformats.org/drawingml/2006/main" noGrp="1"/>
          </p:cNvSpPr>
          <p:nvPr/>
        </p:nvSpPr>
        <p:spPr>
          <a:xfrm xmlns:a="http://schemas.openxmlformats.org/drawingml/2006/main">
            <a:off x="7591425" y="4476750"/>
            <a:ext cx="3990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463EB"/>
                </a:solidFill>
                <a:latin typeface="Malgun Gothic"/>
                <a:ea typeface="Malgun Gothic"/>
                <a:cs typeface="Malgun Gothic"/>
              </a:defRPr>
            </a:pPr>
            <a:r>
              <a:rPr sz="2025" b="1">
                <a:solidFill>
                  <a:srgbClr val="2463EB"/>
                </a:solidFill>
                <a:latin typeface="Malgun Gothic"/>
                <a:ea typeface="Malgun Gothic"/>
                <a:cs typeface="Malgun Gothic"/>
              </a:rPr>
              <a:t>분할 비용 절감 검증</a:t>
            </a:r>
          </a:p>
        </p:txBody>
      </p:sp>
      <p:sp>
        <p:nvSpPr>
          <p:cNvPr id="21" name="전체 프레임 vs 키프레임 분할 시간·라벨 품질 비교">
            <a:extLst xmlns:a="http://schemas.openxmlformats.org/drawingml/2006/main">
              <a:ext uri="{FF2B5EF4-FFF2-40B4-BE49-F238E27FC236}">
                <a16:creationId xmlns:a16="http://schemas.microsoft.com/office/drawing/2014/main" id="{473E3A6B-652B-4E5B-8EAD-C2CCFF92BD4E}"/>
              </a:ext>
            </a:extLst>
          </p:cNvPr>
          <p:cNvSpPr>
            <a:spLocks xmlns:a="http://schemas.openxmlformats.org/drawingml/2006/main" noGrp="1"/>
          </p:cNvSpPr>
          <p:nvPr/>
        </p:nvSpPr>
        <p:spPr>
          <a:xfrm xmlns:a="http://schemas.openxmlformats.org/drawingml/2006/main">
            <a:off x="7591425" y="4962525"/>
            <a:ext cx="39909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전체 프레임 vs 키프레임</a:t>
            </a:r>
          </a:p>
          <a:p xmlns:a="http://schemas.openxmlformats.org/drawingml/2006/main">
            <a:pPr>
              <a:defRPr sz="1800" b="0">
                <a:solidFill>
                  <a:srgbClr val="102A43"/>
                </a:solidFill>
                <a:latin typeface="Malgun Gothic"/>
                <a:ea typeface="Malgun Gothic"/>
                <a:cs typeface="Malgun Gothic"/>
              </a:defRPr>
            </a:pPr>
            <a:r>
              <a:rPr sz="1800" b="0">
                <a:solidFill>
                  <a:srgbClr val="102A43"/>
                </a:solidFill>
                <a:latin typeface="Malgun Gothic"/>
                <a:ea typeface="Malgun Gothic"/>
                <a:cs typeface="Malgun Gothic"/>
              </a:rPr>
              <a:t>분할 시간·라벨 품질 비교</a:t>
            </a:r>
          </a:p>
        </p:txBody>
      </p:sp>
      <p:sp>
        <p:nvSpPr>
          <p:cNvPr id="22" name="투어용 선별 기준은 별도 관리">
            <a:extLst xmlns:a="http://schemas.openxmlformats.org/drawingml/2006/main">
              <a:ext uri="{FF2B5EF4-FFF2-40B4-BE49-F238E27FC236}">
                <a16:creationId xmlns:a16="http://schemas.microsoft.com/office/drawing/2014/main" id="{A4E271A3-74AE-4C73-B676-0BF57A3B687E}"/>
              </a:ext>
            </a:extLst>
          </p:cNvPr>
          <p:cNvSpPr>
            <a:spLocks xmlns:a="http://schemas.openxmlformats.org/drawingml/2006/main" noGrp="1"/>
          </p:cNvSpPr>
          <p:nvPr/>
        </p:nvSpPr>
        <p:spPr>
          <a:xfrm xmlns:a="http://schemas.openxmlformats.org/drawingml/2006/main">
            <a:off x="7591425" y="5895975"/>
            <a:ext cx="3990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투어용 선별 기준은 별도 관리</a:t>
            </a:r>
          </a:p>
        </p:txBody>
      </p:sp>
    </p:spTree>
    <p:extLst>
      <p:ext uri="{BB962C8B-B14F-4D97-AF65-F5344CB8AC3E}">
        <p14:creationId xmlns:p14="http://schemas.microsoft.com/office/powerpoint/2010/main" val="592989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과제내용 및 추진방법 / 촬영 회차 변화 비교 계획">
            <a:extLst xmlns:a="http://schemas.openxmlformats.org/drawingml/2006/main">
              <a:ext uri="{FF2B5EF4-FFF2-40B4-BE49-F238E27FC236}">
                <a16:creationId xmlns:a16="http://schemas.microsoft.com/office/drawing/2014/main" id="{0FFBC3F3-9320-4223-AF96-CC6340336DE5}"/>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촬영 회차 변화 비교 계획</a:t>
            </a:r>
          </a:p>
        </p:txBody>
      </p:sp>
      <p:sp>
        <p:nvSpPr>
          <p:cNvPr id="2" name="의미 지도 정합과 변화 근거 확인">
            <a:extLst xmlns:a="http://schemas.openxmlformats.org/drawingml/2006/main">
              <a:ext uri="{FF2B5EF4-FFF2-40B4-BE49-F238E27FC236}">
                <a16:creationId xmlns:a16="http://schemas.microsoft.com/office/drawing/2014/main" id="{48015196-4604-47D7-95C2-03021FB5B422}"/>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의미 지도 정합과 변화 근거 확인</a:t>
            </a:r>
          </a:p>
        </p:txBody>
      </p:sp>
      <p:sp>
        <p:nvSpPr>
          <p:cNvPr id="3" name="후속 개발 도식 · 촬영 회차 비교 실험은 아직 수행하지 않았습니다">
            <a:extLst xmlns:a="http://schemas.openxmlformats.org/drawingml/2006/main">
              <a:ext uri="{FF2B5EF4-FFF2-40B4-BE49-F238E27FC236}">
                <a16:creationId xmlns:a16="http://schemas.microsoft.com/office/drawing/2014/main" id="{B029DECE-10DA-4AE0-8152-553797ED45F6}"/>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후속 개발 도식 · 촬영 회차 비교 실험은 아직 수행하지 않았습니다</a:t>
            </a:r>
          </a:p>
        </p:txBody>
      </p:sp>
      <p:sp>
        <p:nvSpPr>
          <p:cNvPr id="4" name="SpaceWatch3D  ·  산학협력프로젝트 계획발표">
            <a:extLst xmlns:a="http://schemas.openxmlformats.org/drawingml/2006/main">
              <a:ext uri="{FF2B5EF4-FFF2-40B4-BE49-F238E27FC236}">
                <a16:creationId xmlns:a16="http://schemas.microsoft.com/office/drawing/2014/main" id="{A422D387-BFBC-4E69-B9FB-253EA646DC2C}"/>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09">
            <a:extLst xmlns:a="http://schemas.openxmlformats.org/drawingml/2006/main">
              <a:ext uri="{FF2B5EF4-FFF2-40B4-BE49-F238E27FC236}">
                <a16:creationId xmlns:a16="http://schemas.microsoft.com/office/drawing/2014/main" id="{525EA860-AA9B-419E-BE5F-3FCBFFC57B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11</a:t>
            </a:r>
          </a:p>
        </p:txBody>
      </p:sp>
      <p:sp>
        <p:nvSpPr>
          <p:cNvPr id="6" name="회차별 의미 지도">
            <a:extLst xmlns:a="http://schemas.openxmlformats.org/drawingml/2006/main">
              <a:ext uri="{FF2B5EF4-FFF2-40B4-BE49-F238E27FC236}">
                <a16:creationId xmlns:a16="http://schemas.microsoft.com/office/drawing/2014/main" id="{55833C3E-5C56-4846-8099-58D0DD642FD9}"/>
              </a:ext>
            </a:extLst>
          </p:cNvPr>
          <p:cNvSpPr>
            <a:spLocks xmlns:a="http://schemas.openxmlformats.org/drawingml/2006/main" noGrp="1"/>
          </p:cNvSpPr>
          <p:nvPr/>
        </p:nvSpPr>
        <p:spPr>
          <a:xfrm xmlns:a="http://schemas.openxmlformats.org/drawingml/2006/main">
            <a:off x="609600" y="2628900"/>
            <a:ext cx="3105150" cy="2724150"/>
          </a:xfrm>
          <a:prstGeom xmlns:a="http://schemas.openxmlformats.org/drawingml/2006/main" prst="rect">
            <a:avLst/>
          </a:prstGeom>
          <a:solidFill xmlns:a="http://schemas.openxmlformats.org/drawingml/2006/main">
            <a:srgbClr val="EEF4FF"/>
          </a:solidFill>
          <a:ln xmlns:a="http://schemas.openxmlformats.org/drawingml/2006/main" w="14288">
            <a:solidFill>
              <a:srgbClr val="2463EB"/>
            </a:solidFill>
          </a:ln>
        </p:spPr>
      </p:sp>
      <p:sp>
        <p:nvSpPr>
          <p:cNvPr id="7" name="회차별 의미 지도 제목">
            <a:extLst xmlns:a="http://schemas.openxmlformats.org/drawingml/2006/main">
              <a:ext uri="{FF2B5EF4-FFF2-40B4-BE49-F238E27FC236}">
                <a16:creationId xmlns:a16="http://schemas.microsoft.com/office/drawing/2014/main" id="{6EF3693A-E5E7-4546-80B8-20A131048F4C}"/>
              </a:ext>
            </a:extLst>
          </p:cNvPr>
          <p:cNvSpPr>
            <a:spLocks xmlns:a="http://schemas.openxmlformats.org/drawingml/2006/main" noGrp="1"/>
          </p:cNvSpPr>
          <p:nvPr/>
        </p:nvSpPr>
        <p:spPr>
          <a:xfrm xmlns:a="http://schemas.openxmlformats.org/drawingml/2006/main">
            <a:off x="609600" y="2628900"/>
            <a:ext cx="3105150" cy="485775"/>
          </a:xfrm>
          <a:prstGeom xmlns:a="http://schemas.openxmlformats.org/drawingml/2006/main" prst="rect">
            <a:avLst/>
          </a:prstGeom>
          <a:solidFill xmlns:a="http://schemas.openxmlformats.org/drawingml/2006/main">
            <a:srgbClr val="2463EB"/>
          </a:solidFill>
          <a:ln xmlns:a="http://schemas.openxmlformats.org/drawingml/2006/main" w="0">
            <a:solidFill>
              <a:srgbClr val="2463EB"/>
            </a:solidFill>
          </a:ln>
        </p:spPr>
      </p:sp>
      <p:sp>
        <p:nvSpPr>
          <p:cNvPr id="8" name="회차별 의미 지도">
            <a:extLst xmlns:a="http://schemas.openxmlformats.org/drawingml/2006/main">
              <a:ext uri="{FF2B5EF4-FFF2-40B4-BE49-F238E27FC236}">
                <a16:creationId xmlns:a16="http://schemas.microsoft.com/office/drawing/2014/main" id="{A2C10383-22D1-4B1A-A6AA-2F46F24519E0}"/>
              </a:ext>
            </a:extLst>
          </p:cNvPr>
          <p:cNvSpPr>
            <a:spLocks xmlns:a="http://schemas.openxmlformats.org/drawingml/2006/main" noGrp="1"/>
          </p:cNvSpPr>
          <p:nvPr/>
        </p:nvSpPr>
        <p:spPr>
          <a:xfrm xmlns:a="http://schemas.openxmlformats.org/drawingml/2006/main">
            <a:off x="752475" y="2724150"/>
            <a:ext cx="2819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회차별 의미 지도</a:t>
            </a:r>
          </a:p>
        </p:txBody>
      </p:sp>
      <p:sp>
        <p:nvSpPr>
          <p:cNvPr id="9" name="촬영 A">
            <a:extLst xmlns:a="http://schemas.openxmlformats.org/drawingml/2006/main">
              <a:ext uri="{FF2B5EF4-FFF2-40B4-BE49-F238E27FC236}">
                <a16:creationId xmlns:a16="http://schemas.microsoft.com/office/drawing/2014/main" id="{F936D472-F6D2-44DF-81D1-C3F38C19A655}"/>
              </a:ext>
            </a:extLst>
          </p:cNvPr>
          <p:cNvSpPr>
            <a:spLocks xmlns:a="http://schemas.openxmlformats.org/drawingml/2006/main" noGrp="1"/>
          </p:cNvSpPr>
          <p:nvPr/>
        </p:nvSpPr>
        <p:spPr>
          <a:xfrm xmlns:a="http://schemas.openxmlformats.org/drawingml/2006/main">
            <a:off x="790575" y="333375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463EB"/>
                </a:solidFill>
                <a:latin typeface="Malgun Gothic"/>
                <a:ea typeface="Malgun Gothic"/>
                <a:cs typeface="Malgun Gothic"/>
              </a:defRPr>
            </a:pPr>
            <a:r>
              <a:rPr sz="1875" b="1">
                <a:solidFill>
                  <a:srgbClr val="2463EB"/>
                </a:solidFill>
                <a:latin typeface="Malgun Gothic"/>
                <a:ea typeface="Malgun Gothic"/>
                <a:cs typeface="Malgun Gothic"/>
              </a:rPr>
              <a:t>촬영 A</a:t>
            </a:r>
          </a:p>
        </p:txBody>
      </p:sp>
      <p:sp>
        <p:nvSpPr>
          <p:cNvPr id="10" name="점·클래스·관측">
            <a:extLst xmlns:a="http://schemas.openxmlformats.org/drawingml/2006/main">
              <a:ext uri="{FF2B5EF4-FFF2-40B4-BE49-F238E27FC236}">
                <a16:creationId xmlns:a16="http://schemas.microsoft.com/office/drawing/2014/main" id="{72844800-1D95-4C50-B809-3B92A59C91A1}"/>
              </a:ext>
            </a:extLst>
          </p:cNvPr>
          <p:cNvSpPr>
            <a:spLocks xmlns:a="http://schemas.openxmlformats.org/drawingml/2006/main" noGrp="1"/>
          </p:cNvSpPr>
          <p:nvPr/>
        </p:nvSpPr>
        <p:spPr>
          <a:xfrm xmlns:a="http://schemas.openxmlformats.org/drawingml/2006/main">
            <a:off x="790575" y="372427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1" name="촬영 B">
            <a:extLst xmlns:a="http://schemas.openxmlformats.org/drawingml/2006/main">
              <a:ext uri="{FF2B5EF4-FFF2-40B4-BE49-F238E27FC236}">
                <a16:creationId xmlns:a16="http://schemas.microsoft.com/office/drawing/2014/main" id="{87FFEAE9-2137-4817-AC2A-AB5142136482}"/>
              </a:ext>
            </a:extLst>
          </p:cNvPr>
          <p:cNvSpPr>
            <a:spLocks xmlns:a="http://schemas.openxmlformats.org/drawingml/2006/main" noGrp="1"/>
          </p:cNvSpPr>
          <p:nvPr/>
        </p:nvSpPr>
        <p:spPr>
          <a:xfrm xmlns:a="http://schemas.openxmlformats.org/drawingml/2006/main">
            <a:off x="790575" y="4305300"/>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87F8C"/>
                </a:solidFill>
                <a:latin typeface="Malgun Gothic"/>
                <a:ea typeface="Malgun Gothic"/>
                <a:cs typeface="Malgun Gothic"/>
              </a:defRPr>
            </a:pPr>
            <a:r>
              <a:rPr sz="1875" b="1">
                <a:solidFill>
                  <a:srgbClr val="087F8C"/>
                </a:solidFill>
                <a:latin typeface="Malgun Gothic"/>
                <a:ea typeface="Malgun Gothic"/>
                <a:cs typeface="Malgun Gothic"/>
              </a:rPr>
              <a:t>촬영 B</a:t>
            </a:r>
          </a:p>
        </p:txBody>
      </p:sp>
      <p:sp>
        <p:nvSpPr>
          <p:cNvPr id="12" name="점·클래스·관측">
            <a:extLst xmlns:a="http://schemas.openxmlformats.org/drawingml/2006/main">
              <a:ext uri="{FF2B5EF4-FFF2-40B4-BE49-F238E27FC236}">
                <a16:creationId xmlns:a16="http://schemas.microsoft.com/office/drawing/2014/main" id="{239D3E79-C0CA-4976-8D50-AC3DC409D1C1}"/>
              </a:ext>
            </a:extLst>
          </p:cNvPr>
          <p:cNvSpPr>
            <a:spLocks xmlns:a="http://schemas.openxmlformats.org/drawingml/2006/main" noGrp="1"/>
          </p:cNvSpPr>
          <p:nvPr/>
        </p:nvSpPr>
        <p:spPr>
          <a:xfrm xmlns:a="http://schemas.openxmlformats.org/drawingml/2006/main">
            <a:off x="790575" y="469582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577"/>
                </a:solidFill>
                <a:latin typeface="Malgun Gothic"/>
                <a:ea typeface="Malgun Gothic"/>
                <a:cs typeface="Malgun Gothic"/>
              </a:defRPr>
            </a:pPr>
            <a:r>
              <a:rPr sz="1800" b="0">
                <a:solidFill>
                  <a:srgbClr val="526577"/>
                </a:solidFill>
                <a:latin typeface="Malgun Gothic"/>
                <a:ea typeface="Malgun Gothic"/>
                <a:cs typeface="Malgun Gothic"/>
              </a:rPr>
              <a:t>점·클래스·관측</a:t>
            </a:r>
          </a:p>
        </p:txBody>
      </p:sp>
      <p:sp>
        <p:nvSpPr>
          <p:cNvPr id="13" name="스케일·좌표 정합">
            <a:extLst xmlns:a="http://schemas.openxmlformats.org/drawingml/2006/main">
              <a:ext uri="{FF2B5EF4-FFF2-40B4-BE49-F238E27FC236}">
                <a16:creationId xmlns:a16="http://schemas.microsoft.com/office/drawing/2014/main" id="{87A3B366-18A6-46B6-86F0-03B69AEAE480}"/>
              </a:ext>
            </a:extLst>
          </p:cNvPr>
          <p:cNvSpPr>
            <a:spLocks xmlns:a="http://schemas.openxmlformats.org/drawingml/2006/main" noGrp="1"/>
          </p:cNvSpPr>
          <p:nvPr/>
        </p:nvSpPr>
        <p:spPr>
          <a:xfrm xmlns:a="http://schemas.openxmlformats.org/drawingml/2006/main">
            <a:off x="4276725" y="2628900"/>
            <a:ext cx="3190875" cy="2724150"/>
          </a:xfrm>
          <a:prstGeom xmlns:a="http://schemas.openxmlformats.org/drawingml/2006/main" prst="rect">
            <a:avLst/>
          </a:prstGeom>
          <a:solidFill xmlns:a="http://schemas.openxmlformats.org/drawingml/2006/main">
            <a:srgbClr val="EBF7FC"/>
          </a:solidFill>
          <a:ln xmlns:a="http://schemas.openxmlformats.org/drawingml/2006/main" w="14288">
            <a:solidFill>
              <a:srgbClr val="137CA3"/>
            </a:solidFill>
          </a:ln>
        </p:spPr>
      </p:sp>
      <p:sp>
        <p:nvSpPr>
          <p:cNvPr id="14" name="스케일·좌표 정합 제목">
            <a:extLst xmlns:a="http://schemas.openxmlformats.org/drawingml/2006/main">
              <a:ext uri="{FF2B5EF4-FFF2-40B4-BE49-F238E27FC236}">
                <a16:creationId xmlns:a16="http://schemas.microsoft.com/office/drawing/2014/main" id="{8C10D61F-BFFD-4F1C-866C-CAB0F1B7AF12}"/>
              </a:ext>
            </a:extLst>
          </p:cNvPr>
          <p:cNvSpPr>
            <a:spLocks xmlns:a="http://schemas.openxmlformats.org/drawingml/2006/main" noGrp="1"/>
          </p:cNvSpPr>
          <p:nvPr/>
        </p:nvSpPr>
        <p:spPr>
          <a:xfrm xmlns:a="http://schemas.openxmlformats.org/drawingml/2006/main">
            <a:off x="4276725" y="2628900"/>
            <a:ext cx="3190875" cy="485775"/>
          </a:xfrm>
          <a:prstGeom xmlns:a="http://schemas.openxmlformats.org/drawingml/2006/main" prst="rect">
            <a:avLst/>
          </a:prstGeom>
          <a:solidFill xmlns:a="http://schemas.openxmlformats.org/drawingml/2006/main">
            <a:srgbClr val="137CA3"/>
          </a:solidFill>
          <a:ln xmlns:a="http://schemas.openxmlformats.org/drawingml/2006/main" w="0">
            <a:solidFill>
              <a:srgbClr val="137CA3"/>
            </a:solidFill>
          </a:ln>
        </p:spPr>
      </p:sp>
      <p:sp>
        <p:nvSpPr>
          <p:cNvPr id="15" name="스케일·좌표 정합">
            <a:extLst xmlns:a="http://schemas.openxmlformats.org/drawingml/2006/main">
              <a:ext uri="{FF2B5EF4-FFF2-40B4-BE49-F238E27FC236}">
                <a16:creationId xmlns:a16="http://schemas.microsoft.com/office/drawing/2014/main" id="{EEDFC35D-27E8-4C29-B3E7-2A60A9588B5C}"/>
              </a:ext>
            </a:extLst>
          </p:cNvPr>
          <p:cNvSpPr>
            <a:spLocks xmlns:a="http://schemas.openxmlformats.org/drawingml/2006/main" noGrp="1"/>
          </p:cNvSpPr>
          <p:nvPr/>
        </p:nvSpPr>
        <p:spPr>
          <a:xfrm xmlns:a="http://schemas.openxmlformats.org/drawingml/2006/main">
            <a:off x="4419600" y="27241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스케일·좌표 정합</a:t>
            </a:r>
          </a:p>
        </p:txBody>
      </p:sp>
      <p:sp>
        <p:nvSpPr>
          <p:cNvPr id="16" name="고정 구조로 대응">
            <a:extLst xmlns:a="http://schemas.openxmlformats.org/drawingml/2006/main">
              <a:ext uri="{FF2B5EF4-FFF2-40B4-BE49-F238E27FC236}">
                <a16:creationId xmlns:a16="http://schemas.microsoft.com/office/drawing/2014/main" id="{24A764A7-357A-46CE-80C4-BCB66D3012E0}"/>
              </a:ext>
            </a:extLst>
          </p:cNvPr>
          <p:cNvSpPr>
            <a:spLocks xmlns:a="http://schemas.openxmlformats.org/drawingml/2006/main" noGrp="1"/>
          </p:cNvSpPr>
          <p:nvPr/>
        </p:nvSpPr>
        <p:spPr>
          <a:xfrm xmlns:a="http://schemas.openxmlformats.org/drawingml/2006/main">
            <a:off x="4457700" y="3381375"/>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고정 구조로 대응</a:t>
            </a:r>
          </a:p>
        </p:txBody>
      </p:sp>
      <p:sp>
        <p:nvSpPr>
          <p:cNvPr id="17" name="스케일·회전·이동 정렬 공통 관측 영역 확인">
            <a:extLst xmlns:a="http://schemas.openxmlformats.org/drawingml/2006/main">
              <a:ext uri="{FF2B5EF4-FFF2-40B4-BE49-F238E27FC236}">
                <a16:creationId xmlns:a16="http://schemas.microsoft.com/office/drawing/2014/main" id="{F7F22693-D734-4D4D-A1B9-F23002A48B7B}"/>
              </a:ext>
            </a:extLst>
          </p:cNvPr>
          <p:cNvSpPr>
            <a:spLocks xmlns:a="http://schemas.openxmlformats.org/drawingml/2006/main" noGrp="1"/>
          </p:cNvSpPr>
          <p:nvPr/>
        </p:nvSpPr>
        <p:spPr>
          <a:xfrm xmlns:a="http://schemas.openxmlformats.org/drawingml/2006/main">
            <a:off x="4457700" y="4019550"/>
            <a:ext cx="2819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스케일·회전·이동 정렬</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공통 관측 영역 확인</a:t>
            </a:r>
          </a:p>
        </p:txBody>
      </p:sp>
      <p:sp>
        <p:nvSpPr>
          <p:cNvPr id="18" name="정합 실패·미관측 구분">
            <a:extLst xmlns:a="http://schemas.openxmlformats.org/drawingml/2006/main">
              <a:ext uri="{FF2B5EF4-FFF2-40B4-BE49-F238E27FC236}">
                <a16:creationId xmlns:a16="http://schemas.microsoft.com/office/drawing/2014/main" id="{96FDB116-24E1-4231-8785-D21C8B8865A5}"/>
              </a:ext>
            </a:extLst>
          </p:cNvPr>
          <p:cNvSpPr>
            <a:spLocks xmlns:a="http://schemas.openxmlformats.org/drawingml/2006/main" noGrp="1"/>
          </p:cNvSpPr>
          <p:nvPr/>
        </p:nvSpPr>
        <p:spPr>
          <a:xfrm xmlns:a="http://schemas.openxmlformats.org/drawingml/2006/main">
            <a:off x="4457700" y="4953000"/>
            <a:ext cx="2819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정합 실패·미관측 구분</a:t>
            </a:r>
          </a:p>
        </p:txBody>
      </p:sp>
      <p:sp>
        <p:nvSpPr>
          <p:cNvPr id="19" name="상태 비교·웹 조회">
            <a:extLst xmlns:a="http://schemas.openxmlformats.org/drawingml/2006/main">
              <a:ext uri="{FF2B5EF4-FFF2-40B4-BE49-F238E27FC236}">
                <a16:creationId xmlns:a16="http://schemas.microsoft.com/office/drawing/2014/main" id="{2438E023-CB2D-494A-8EB9-3539ECA2D3DF}"/>
              </a:ext>
            </a:extLst>
          </p:cNvPr>
          <p:cNvSpPr>
            <a:spLocks xmlns:a="http://schemas.openxmlformats.org/drawingml/2006/main" noGrp="1"/>
          </p:cNvSpPr>
          <p:nvPr/>
        </p:nvSpPr>
        <p:spPr>
          <a:xfrm xmlns:a="http://schemas.openxmlformats.org/drawingml/2006/main">
            <a:off x="8029575" y="2628900"/>
            <a:ext cx="3552825" cy="2724150"/>
          </a:xfrm>
          <a:prstGeom xmlns:a="http://schemas.openxmlformats.org/drawingml/2006/main" prst="rect">
            <a:avLst/>
          </a:prstGeom>
          <a:solidFill xmlns:a="http://schemas.openxmlformats.org/drawingml/2006/main">
            <a:srgbClr val="F5EFFB"/>
          </a:solidFill>
          <a:ln xmlns:a="http://schemas.openxmlformats.org/drawingml/2006/main" w="14288">
            <a:solidFill>
              <a:srgbClr val="8757B9"/>
            </a:solidFill>
          </a:ln>
        </p:spPr>
      </p:sp>
      <p:sp>
        <p:nvSpPr>
          <p:cNvPr id="20" name="상태 비교·웹 조회 제목">
            <a:extLst xmlns:a="http://schemas.openxmlformats.org/drawingml/2006/main">
              <a:ext uri="{FF2B5EF4-FFF2-40B4-BE49-F238E27FC236}">
                <a16:creationId xmlns:a16="http://schemas.microsoft.com/office/drawing/2014/main" id="{68F3A42E-A785-463D-A281-CFBB66BD0D82}"/>
              </a:ext>
            </a:extLst>
          </p:cNvPr>
          <p:cNvSpPr>
            <a:spLocks xmlns:a="http://schemas.openxmlformats.org/drawingml/2006/main" noGrp="1"/>
          </p:cNvSpPr>
          <p:nvPr/>
        </p:nvSpPr>
        <p:spPr>
          <a:xfrm xmlns:a="http://schemas.openxmlformats.org/drawingml/2006/main">
            <a:off x="8029575" y="2628900"/>
            <a:ext cx="3552825" cy="485775"/>
          </a:xfrm>
          <a:prstGeom xmlns:a="http://schemas.openxmlformats.org/drawingml/2006/main" prst="rect">
            <a:avLst/>
          </a:prstGeom>
          <a:solidFill xmlns:a="http://schemas.openxmlformats.org/drawingml/2006/main">
            <a:srgbClr val="8757B9"/>
          </a:solidFill>
          <a:ln xmlns:a="http://schemas.openxmlformats.org/drawingml/2006/main" w="0">
            <a:solidFill>
              <a:srgbClr val="8757B9"/>
            </a:solidFill>
          </a:ln>
        </p:spPr>
      </p:sp>
      <p:sp>
        <p:nvSpPr>
          <p:cNvPr id="21" name="상태 비교·웹 조회">
            <a:extLst xmlns:a="http://schemas.openxmlformats.org/drawingml/2006/main">
              <a:ext uri="{FF2B5EF4-FFF2-40B4-BE49-F238E27FC236}">
                <a16:creationId xmlns:a16="http://schemas.microsoft.com/office/drawing/2014/main" id="{50B63036-07A5-4B9E-829D-03930B4B31D1}"/>
              </a:ext>
            </a:extLst>
          </p:cNvPr>
          <p:cNvSpPr>
            <a:spLocks xmlns:a="http://schemas.openxmlformats.org/drawingml/2006/main" noGrp="1"/>
          </p:cNvSpPr>
          <p:nvPr/>
        </p:nvSpPr>
        <p:spPr>
          <a:xfrm xmlns:a="http://schemas.openxmlformats.org/drawingml/2006/main">
            <a:off x="8172450" y="2724150"/>
            <a:ext cx="3267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상태 비교·웹 조회</a:t>
            </a:r>
          </a:p>
        </p:txBody>
      </p:sp>
      <p:sp>
        <p:nvSpPr>
          <p:cNvPr id="22" name="변화 후보">
            <a:extLst xmlns:a="http://schemas.openxmlformats.org/drawingml/2006/main">
              <a:ext uri="{FF2B5EF4-FFF2-40B4-BE49-F238E27FC236}">
                <a16:creationId xmlns:a16="http://schemas.microsoft.com/office/drawing/2014/main" id="{4B32F395-AB47-43F0-8CB4-3E6CE7671DE1}"/>
              </a:ext>
            </a:extLst>
          </p:cNvPr>
          <p:cNvSpPr>
            <a:spLocks xmlns:a="http://schemas.openxmlformats.org/drawingml/2006/main" noGrp="1"/>
          </p:cNvSpPr>
          <p:nvPr/>
        </p:nvSpPr>
        <p:spPr>
          <a:xfrm xmlns:a="http://schemas.openxmlformats.org/drawingml/2006/main">
            <a:off x="8220075" y="33432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8757B9"/>
                </a:solidFill>
                <a:latin typeface="Malgun Gothic"/>
                <a:ea typeface="Malgun Gothic"/>
                <a:cs typeface="Malgun Gothic"/>
              </a:defRPr>
            </a:pPr>
            <a:r>
              <a:rPr sz="2175" b="1">
                <a:solidFill>
                  <a:srgbClr val="8757B9"/>
                </a:solidFill>
                <a:latin typeface="Malgun Gothic"/>
                <a:ea typeface="Malgun Gothic"/>
                <a:cs typeface="Malgun Gothic"/>
              </a:rPr>
              <a:t>변화 후보</a:t>
            </a:r>
          </a:p>
        </p:txBody>
      </p:sp>
      <p:sp>
        <p:nvSpPr>
          <p:cNvPr id="23" name="추가·제거·이동 변경 영역·근거 프레임 관측 부족 시 판단 보류">
            <a:extLst xmlns:a="http://schemas.openxmlformats.org/drawingml/2006/main">
              <a:ext uri="{FF2B5EF4-FFF2-40B4-BE49-F238E27FC236}">
                <a16:creationId xmlns:a16="http://schemas.microsoft.com/office/drawing/2014/main" id="{5934A4BF-9EC2-4C52-96FA-16B43AC0EE8D}"/>
              </a:ext>
            </a:extLst>
          </p:cNvPr>
          <p:cNvSpPr>
            <a:spLocks xmlns:a="http://schemas.openxmlformats.org/drawingml/2006/main" noGrp="1"/>
          </p:cNvSpPr>
          <p:nvPr/>
        </p:nvSpPr>
        <p:spPr>
          <a:xfrm xmlns:a="http://schemas.openxmlformats.org/drawingml/2006/main">
            <a:off x="8220075" y="39433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추가·제거·이동</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변경 영역·근거 프레임</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관측 부족 시 판단 보류</a:t>
            </a:r>
          </a:p>
        </p:txBody>
      </p:sp>
      <p:cxnSp>
        <p:nvCxnSpPr>
          <p:cNvPr id="51" name=""/>
          <p:cNvCxnSpPr>
            <a:stCxn xmlns:a="http://schemas.openxmlformats.org/drawingml/2006/main" id="6" idx="3"/>
            <a:endCxn xmlns:a="http://schemas.openxmlformats.org/drawingml/2006/main" id="13" idx="1"/>
          </p:cNvCxnSpPr>
          <p:nvPr/>
        </p:nvCxnSpPr>
        <p:spPr>
          <a:xfrm xmlns:a="http://schemas.openxmlformats.org/drawingml/2006/main">
            <a:off x="3714750" y="3990975"/>
            <a:ext cx="561975" cy="0"/>
          </a:xfrm>
          <a:prstGeom xmlns:a="http://schemas.openxmlformats.org/drawingml/2006/main" prst="straightConnector1">
            <a:avLst/>
          </a:prstGeom>
          <a:ln xmlns:a="http://schemas.openxmlformats.org/drawingml/2006/main" w="28575">
            <a:solidFill>
              <a:srgbClr val="2463EB"/>
            </a:solidFill>
            <a:tailEnd type="triangle" w="med" len="med"/>
          </a:ln>
        </p:spPr>
      </p:cxnSp>
      <p:cxnSp>
        <p:nvCxnSpPr>
          <p:cNvPr id="52" name=""/>
          <p:cNvCxnSpPr>
            <a:stCxn xmlns:a="http://schemas.openxmlformats.org/drawingml/2006/main" id="13" idx="3"/>
            <a:endCxn xmlns:a="http://schemas.openxmlformats.org/drawingml/2006/main" id="19" idx="1"/>
          </p:cNvCxnSpPr>
          <p:nvPr/>
        </p:nvCxnSpPr>
        <p:spPr>
          <a:xfrm xmlns:a="http://schemas.openxmlformats.org/drawingml/2006/main">
            <a:off x="7467600" y="3990975"/>
            <a:ext cx="561975" cy="0"/>
          </a:xfrm>
          <a:prstGeom xmlns:a="http://schemas.openxmlformats.org/drawingml/2006/main" prst="straightConnector1">
            <a:avLst/>
          </a:prstGeom>
          <a:ln xmlns:a="http://schemas.openxmlformats.org/drawingml/2006/main" w="28575">
            <a:solidFill>
              <a:srgbClr val="137CA3"/>
            </a:solidFill>
            <a:tailEnd type="triangle" w="med" len="med"/>
          </a:ln>
        </p:spPr>
      </p:cxnSp>
      <p:sp>
        <p:nvSpPr>
          <p:cNvPr id="26" name="검증안: 3D 위치·클래스의 변화 후보를 원본 2D 관측으로 확인">
            <a:extLst xmlns:a="http://schemas.openxmlformats.org/drawingml/2006/main">
              <a:ext uri="{FF2B5EF4-FFF2-40B4-BE49-F238E27FC236}">
                <a16:creationId xmlns:a16="http://schemas.microsoft.com/office/drawing/2014/main" id="{B29810A3-17A9-41AC-9640-65CBDF10207F}"/>
              </a:ext>
            </a:extLst>
          </p:cNvPr>
          <p:cNvSpPr>
            <a:spLocks xmlns:a="http://schemas.openxmlformats.org/drawingml/2006/main" noGrp="1"/>
          </p:cNvSpPr>
          <p:nvPr/>
        </p:nvSpPr>
        <p:spPr>
          <a:xfrm xmlns:a="http://schemas.openxmlformats.org/drawingml/2006/main">
            <a:off x="609600" y="5734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463EB"/>
                </a:solidFill>
                <a:latin typeface="Malgun Gothic"/>
                <a:ea typeface="Malgun Gothic"/>
                <a:cs typeface="Malgun Gothic"/>
              </a:defRPr>
            </a:pPr>
            <a:r>
              <a:rPr sz="1950" b="1">
                <a:solidFill>
                  <a:srgbClr val="2463EB"/>
                </a:solidFill>
                <a:latin typeface="Malgun Gothic"/>
                <a:ea typeface="Malgun Gothic"/>
                <a:cs typeface="Malgun Gothic"/>
              </a:rPr>
              <a:t>검증안: 3D 위치·클래스의 변화 후보를 원본 2D 관측으로 확인</a:t>
            </a:r>
          </a:p>
        </p:txBody>
      </p:sp>
      <p:sp>
        <p:nvSpPr>
          <p:cNvPr id="27" name="비교 단위와 최종 알고리즘은 의미 지도 검증 후 실험으로 선정">
            <a:extLst xmlns:a="http://schemas.openxmlformats.org/drawingml/2006/main">
              <a:ext uri="{FF2B5EF4-FFF2-40B4-BE49-F238E27FC236}">
                <a16:creationId xmlns:a16="http://schemas.microsoft.com/office/drawing/2014/main" id="{C3925A30-7A02-4ACB-A2EE-4A84615EE1DA}"/>
              </a:ext>
            </a:extLst>
          </p:cNvPr>
          <p:cNvSpPr>
            <a:spLocks xmlns:a="http://schemas.openxmlformats.org/drawingml/2006/main" noGrp="1"/>
          </p:cNvSpPr>
          <p:nvPr/>
        </p:nvSpPr>
        <p:spPr>
          <a:xfrm xmlns:a="http://schemas.openxmlformats.org/drawingml/2006/main">
            <a:off x="609600" y="6134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26577"/>
                </a:solidFill>
                <a:latin typeface="Malgun Gothic"/>
                <a:ea typeface="Malgun Gothic"/>
                <a:cs typeface="Malgun Gothic"/>
              </a:defRPr>
            </a:pPr>
            <a:r>
              <a:rPr sz="1575" b="0">
                <a:solidFill>
                  <a:srgbClr val="526577"/>
                </a:solidFill>
                <a:latin typeface="Malgun Gothic"/>
                <a:ea typeface="Malgun Gothic"/>
                <a:cs typeface="Malgun Gothic"/>
              </a:rPr>
              <a:t>비교 단위와 최종 알고리즘은 의미 지도 검증 후 실험으로 선정</a:t>
            </a:r>
          </a:p>
        </p:txBody>
      </p:sp>
    </p:spTree>
    <p:extLst>
      <p:ext uri="{BB962C8B-B14F-4D97-AF65-F5344CB8AC3E}">
        <p14:creationId xmlns:p14="http://schemas.microsoft.com/office/powerpoint/2010/main" val="9511248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개발환경·기술스택">
            <a:extLst xmlns:a="http://schemas.openxmlformats.org/drawingml/2006/main">
              <a:ext uri="{FF2B5EF4-FFF2-40B4-BE49-F238E27FC236}">
                <a16:creationId xmlns:a16="http://schemas.microsoft.com/office/drawing/2014/main" id="{ADB1D002-3B60-43ED-8C87-9C7F74711725}"/>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개발환경·기술스택</a:t>
            </a:r>
          </a:p>
        </p:txBody>
      </p:sp>
      <p:sp>
        <p:nvSpPr>
          <p:cNvPr id="2" name="검증된 복원 환경과 후속 개발 기술">
            <a:extLst xmlns:a="http://schemas.openxmlformats.org/drawingml/2006/main">
              <a:ext uri="{FF2B5EF4-FFF2-40B4-BE49-F238E27FC236}">
                <a16:creationId xmlns:a16="http://schemas.microsoft.com/office/drawing/2014/main" id="{103E5D05-0D76-42EB-A409-7A72591A5E25}"/>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검증된 복원 환경과 후속 개발 기술</a:t>
            </a:r>
          </a:p>
        </p:txBody>
      </p:sp>
      <p:sp>
        <p:nvSpPr>
          <p:cNvPr id="3" name="완료된 실행 환경과 앞으로 선정·통합할 도구를 구분합니다">
            <a:extLst xmlns:a="http://schemas.openxmlformats.org/drawingml/2006/main">
              <a:ext uri="{FF2B5EF4-FFF2-40B4-BE49-F238E27FC236}">
                <a16:creationId xmlns:a16="http://schemas.microsoft.com/office/drawing/2014/main" id="{A6E67A75-19B5-4A93-9239-9F99A425A371}"/>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완료된 실행 환경과 앞으로 선정·통합할 도구를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1EA88F21-1206-4F63-8BD6-3F0B35B8BF95}"/>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4">
            <a:extLst xmlns:a="http://schemas.openxmlformats.org/drawingml/2006/main">
              <a:ext uri="{FF2B5EF4-FFF2-40B4-BE49-F238E27FC236}">
                <a16:creationId xmlns:a16="http://schemas.microsoft.com/office/drawing/2014/main" id="{2B6E1D78-E380-40CB-953E-D2AE651269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2324100"/>
          <a:ext xmlns:a="http://schemas.openxmlformats.org/drawingml/2006/main" cx="10972800" cy="3733800"/>
        </p:xfrm>
        <a:graphic xmlns:a="http://schemas.openxmlformats.org/drawingml/2006/main">
          <a:graphicData uri="http://schemas.openxmlformats.org/drawingml/2006/table">
            <a:tbl>
              <a:tblPr/>
              <a:tblGrid>
                <a:gridCol w="2571750"/>
                <a:gridCol w="8401050"/>
              </a:tblGrid>
              <a:tr h="5334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도구 및 상태</a:t>
                      </a:r>
                    </a:p>
                  </a:txBody>
                  <a:tcPr marL="91440" marR="91440" marT="45720" marB="45720" anchor="ctr">
                    <a:solidFill>
                      <a:srgbClr val="102644"/>
                    </a:solidFill>
                  </a:tcPr>
                </a:tc>
              </a:tr>
              <a:tr h="533400">
                <a:tc>
                  <a:txBody>
                    <a:bodyPr lIns="152400" tIns="114300" rIns="114300" bIns="95250"/>
                    <a:lstStyle/>
                    <a:p>
                      <a:r>
                        <a:rPr sz="1800" b="0">
                          <a:solidFill>
                            <a:srgbClr val="102A43"/>
                          </a:solidFill>
                          <a:latin typeface="Malgun Gothic"/>
                          <a:ea typeface="Malgun Gothic"/>
                          <a:cs typeface="Malgun Gothic"/>
                        </a:rPr>
                        <a:t>실행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Ubuntu 22.04.5 · CPU 8스레드 · CUDA 미사용</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프레임·SfM</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FFmpeg 5fps · COLMAP 3.7 실행 완료</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깊이·조밀 복원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OpenMVS 2.4.0 실행 완료</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후속 분석 후보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Open3D · PyCOLMAP · SAM2 / SAM3 후보 검증</a:t>
                      </a:r>
                    </a:p>
                  </a:txBody>
                  <a:tcPr marL="91440" marR="91440" marT="45720" marB="45720" anchor="ctr">
                    <a:solidFill>
                      <a:srgbClr val="F5F8FC"/>
                    </a:solidFill>
                  </a:tcPr>
                </a:tc>
              </a:tr>
              <a:tr h="533400">
                <a:tc>
                  <a:txBody>
                    <a:bodyPr lIns="152400" tIns="114300" rIns="114300" bIns="95250"/>
                    <a:lstStyle/>
                    <a:p>
                      <a:r>
                        <a:rPr sz="1800" b="0">
                          <a:solidFill>
                            <a:srgbClr val="102A43"/>
                          </a:solidFill>
                          <a:latin typeface="Malgun Gothic"/>
                          <a:ea typeface="Malgun Gothic"/>
                          <a:cs typeface="Malgun Gothic"/>
                        </a:rPr>
                        <a:t>웹·저장소 계획</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FastAPI · TypeScript / Three.js · SQLite 또는 PostgreSQL</a:t>
                      </a:r>
                    </a:p>
                  </a:txBody>
                  <a:tcPr marL="91440" marR="91440" marT="45720" marB="45720" anchor="ctr">
                    <a:solidFill>
                      <a:srgbClr val="FFFFFF"/>
                    </a:solidFill>
                  </a:tcPr>
                </a:tc>
              </a:tr>
              <a:tr h="533400">
                <a:tc>
                  <a:txBody>
                    <a:bodyPr lIns="152400" tIns="114300" rIns="114300" bIns="95250"/>
                    <a:lstStyle/>
                    <a:p>
                      <a:r>
                        <a:rPr sz="1800" b="0">
                          <a:solidFill>
                            <a:srgbClr val="102A43"/>
                          </a:solidFill>
                          <a:latin typeface="Malgun Gothic"/>
                          <a:ea typeface="Malgun Gothic"/>
                          <a:cs typeface="Malgun Gothic"/>
                        </a:rPr>
                        <a:t>협업·확장</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GitHub · RGB 검증 후 360° 입력 경로 추가</a:t>
                      </a:r>
                    </a:p>
                  </a:txBody>
                  <a:tcPr marL="91440" marR="91440" marT="45720" marB="45720" anchor="ctr">
                    <a:solidFill>
                      <a:srgbClr val="F5F8FC"/>
                    </a:solidFill>
                  </a:tcPr>
                </a:tc>
              </a:tr>
            </a:tbl>
          </a:graphicData>
        </a:graphic>
      </p:graphicFrame>
      <p:sp>
        <p:nvSpPr>
          <p:cNvPr id="7" name="GPU 지원·가속 효과: 단계별 처리 시간과 메모리 사용량으로 검증 예정">
            <a:extLst xmlns:a="http://schemas.openxmlformats.org/drawingml/2006/main">
              <a:ext uri="{FF2B5EF4-FFF2-40B4-BE49-F238E27FC236}">
                <a16:creationId xmlns:a16="http://schemas.microsoft.com/office/drawing/2014/main" id="{C80486F8-3121-4B19-ABB6-1AC4A7D17A8B}"/>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463EB"/>
                </a:solidFill>
                <a:latin typeface="Malgun Gothic"/>
                <a:ea typeface="Malgun Gothic"/>
                <a:cs typeface="Malgun Gothic"/>
              </a:defRPr>
            </a:pPr>
            <a:r>
              <a:rPr sz="1650" b="1">
                <a:solidFill>
                  <a:srgbClr val="2463EB"/>
                </a:solidFill>
                <a:latin typeface="Malgun Gothic"/>
                <a:ea typeface="Malgun Gothic"/>
                <a:cs typeface="Malgun Gothic"/>
              </a:rPr>
              <a:t>GPU 지원·가속 효과: 단계별 처리 시간과 메모리 사용량으로 검증 예정</a:t>
            </a:r>
          </a:p>
        </p:txBody>
      </p:sp>
    </p:spTree>
    <p:extLst>
      <p:ext uri="{BB962C8B-B14F-4D97-AF65-F5344CB8AC3E}">
        <p14:creationId xmlns:p14="http://schemas.microsoft.com/office/powerpoint/2010/main" val="2831520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과제내용 및 추진방법 / 시스템 아키텍처">
            <a:extLst xmlns:a="http://schemas.openxmlformats.org/drawingml/2006/main">
              <a:ext uri="{FF2B5EF4-FFF2-40B4-BE49-F238E27FC236}">
                <a16:creationId xmlns:a16="http://schemas.microsoft.com/office/drawing/2014/main" id="{F818A421-554C-4023-8E1E-799BD6A1AFF2}"/>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시스템 아키텍처</a:t>
            </a:r>
          </a:p>
        </p:txBody>
      </p:sp>
      <p:sp>
        <p:nvSpPr>
          <p:cNvPr id="2" name="웹 요청과 분석 결과의 전달 구조">
            <a:extLst xmlns:a="http://schemas.openxmlformats.org/drawingml/2006/main">
              <a:ext uri="{FF2B5EF4-FFF2-40B4-BE49-F238E27FC236}">
                <a16:creationId xmlns:a16="http://schemas.microsoft.com/office/drawing/2014/main" id="{DA09F8F9-29AB-42EA-A19F-8A5FDFAE5EA6}"/>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웹 요청과 분석 결과의 전달 구조</a:t>
            </a:r>
          </a:p>
        </p:txBody>
      </p:sp>
      <p:sp>
        <p:nvSpPr>
          <p:cNvPr id="3" name="웹·API·분석 모듈 사이의 요청과 응답, 저장소의 읽기·쓰기를 구분합니다">
            <a:extLst xmlns:a="http://schemas.openxmlformats.org/drawingml/2006/main">
              <a:ext uri="{FF2B5EF4-FFF2-40B4-BE49-F238E27FC236}">
                <a16:creationId xmlns:a16="http://schemas.microsoft.com/office/drawing/2014/main" id="{41C18CEA-F546-4D3B-82BA-1124C8695624}"/>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웹·API·분석 모듈 사이의 요청과 응답, 저장소의 읽기·쓰기를 구분합니다</a:t>
            </a:r>
          </a:p>
        </p:txBody>
      </p:sp>
      <p:sp>
        <p:nvSpPr>
          <p:cNvPr id="4" name="SpaceWatch3D  ·  산학협력프로젝트 계획발표">
            <a:extLst xmlns:a="http://schemas.openxmlformats.org/drawingml/2006/main">
              <a:ext uri="{FF2B5EF4-FFF2-40B4-BE49-F238E27FC236}">
                <a16:creationId xmlns:a16="http://schemas.microsoft.com/office/drawing/2014/main" id="{CAB0FEDF-EF9A-4910-81DD-4A881142118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9">
            <a:extLst xmlns:a="http://schemas.openxmlformats.org/drawingml/2006/main">
              <a:ext uri="{FF2B5EF4-FFF2-40B4-BE49-F238E27FC236}">
                <a16:creationId xmlns:a16="http://schemas.microsoft.com/office/drawing/2014/main" id="{3B8C327D-7983-461D-A4DD-EC993828E6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13</a:t>
            </a:r>
          </a:p>
        </p:txBody>
      </p:sp>
      <p:sp>
        <p:nvSpPr>
          <p:cNvPr id="6" name="웹 클라이언트">
            <a:extLst xmlns:a="http://schemas.openxmlformats.org/drawingml/2006/main">
              <a:ext uri="{FF2B5EF4-FFF2-40B4-BE49-F238E27FC236}">
                <a16:creationId xmlns:a16="http://schemas.microsoft.com/office/drawing/2014/main" id="{FB73A9C1-8EE3-446A-86A4-D3EFB5E8E289}"/>
              </a:ext>
            </a:extLst>
          </p:cNvPr>
          <p:cNvSpPr>
            <a:spLocks xmlns:a="http://schemas.openxmlformats.org/drawingml/2006/main" noGrp="1"/>
          </p:cNvSpPr>
          <p:nvPr/>
        </p:nvSpPr>
        <p:spPr>
          <a:xfrm xmlns:a="http://schemas.openxmlformats.org/drawingml/2006/main">
            <a:off x="609600" y="2324100"/>
            <a:ext cx="228600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7" name="웹 클라이언트">
            <a:extLst xmlns:a="http://schemas.openxmlformats.org/drawingml/2006/main">
              <a:ext uri="{FF2B5EF4-FFF2-40B4-BE49-F238E27FC236}">
                <a16:creationId xmlns:a16="http://schemas.microsoft.com/office/drawing/2014/main" id="{5BF57999-99B3-490D-9C57-4D4B04C0BA8E}"/>
              </a:ext>
            </a:extLst>
          </p:cNvPr>
          <p:cNvSpPr>
            <a:spLocks xmlns:a="http://schemas.openxmlformats.org/drawingml/2006/main" noGrp="1"/>
          </p:cNvSpPr>
          <p:nvPr/>
        </p:nvSpPr>
        <p:spPr>
          <a:xfrm xmlns:a="http://schemas.openxmlformats.org/drawingml/2006/main">
            <a:off x="723900" y="24193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웹 클라이언트</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ad1614f1fec488a"/>
          <a:srcRect xmlns:a="http://schemas.openxmlformats.org/drawingml/2006/main" l="0" t="182" r="0" b="182"/>
          <a:stretch xmlns:a="http://schemas.openxmlformats.org/drawingml/2006/main">
            <a:fillRect l="0" t="0" r="0" b="0"/>
          </a:stretch>
        </p:blipFill>
        <p:spPr>
          <a:xfrm xmlns:a="http://schemas.openxmlformats.org/drawingml/2006/main">
            <a:off x="733425" y="2914650"/>
            <a:ext cx="2038350" cy="1143000"/>
          </a:xfrm>
          <a:prstGeom xmlns:a="http://schemas.openxmlformats.org/drawingml/2006/main" prst="rect">
            <a:avLst/>
          </a:prstGeom>
        </p:spPr>
      </p:pic>
      <p:sp>
        <p:nvSpPr>
          <p:cNvPr id="9" name="투어·의미 지도 날짜별 변화 비교">
            <a:extLst xmlns:a="http://schemas.openxmlformats.org/drawingml/2006/main">
              <a:ext uri="{FF2B5EF4-FFF2-40B4-BE49-F238E27FC236}">
                <a16:creationId xmlns:a16="http://schemas.microsoft.com/office/drawing/2014/main" id="{D5DC5A5C-9231-4B3A-927C-8C5DC3F1C4E5}"/>
              </a:ext>
            </a:extLst>
          </p:cNvPr>
          <p:cNvSpPr>
            <a:spLocks xmlns:a="http://schemas.openxmlformats.org/drawingml/2006/main" noGrp="1"/>
          </p:cNvSpPr>
          <p:nvPr/>
        </p:nvSpPr>
        <p:spPr>
          <a:xfrm xmlns:a="http://schemas.openxmlformats.org/drawingml/2006/main">
            <a:off x="781050" y="4191000"/>
            <a:ext cx="1971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투어·의미 지도</a:t>
            </a:r>
          </a:p>
          <a:p xmlns:a="http://schemas.openxmlformats.org/drawingml/2006/main">
            <a:pPr>
              <a:defRPr sz="1725" b="0">
                <a:solidFill>
                  <a:srgbClr val="526577"/>
                </a:solidFill>
                <a:latin typeface="Malgun Gothic"/>
                <a:ea typeface="Malgun Gothic"/>
                <a:cs typeface="Malgun Gothic"/>
              </a:defRPr>
            </a:pPr>
            <a:r>
              <a:rPr sz="1725" b="0">
                <a:solidFill>
                  <a:srgbClr val="526577"/>
                </a:solidFill>
                <a:latin typeface="Malgun Gothic"/>
                <a:ea typeface="Malgun Gothic"/>
                <a:cs typeface="Malgun Gothic"/>
              </a:rPr>
              <a:t>날짜별 변화 비교</a:t>
            </a:r>
          </a:p>
        </p:txBody>
      </p:sp>
      <p:sp>
        <p:nvSpPr>
          <p:cNvPr id="10" name="API 서버">
            <a:extLst xmlns:a="http://schemas.openxmlformats.org/drawingml/2006/main">
              <a:ext uri="{FF2B5EF4-FFF2-40B4-BE49-F238E27FC236}">
                <a16:creationId xmlns:a16="http://schemas.microsoft.com/office/drawing/2014/main" id="{30980EC0-A46C-4031-A30B-18CE6A7AA304}"/>
              </a:ext>
            </a:extLst>
          </p:cNvPr>
          <p:cNvSpPr>
            <a:spLocks xmlns:a="http://schemas.openxmlformats.org/drawingml/2006/main" noGrp="1"/>
          </p:cNvSpPr>
          <p:nvPr/>
        </p:nvSpPr>
        <p:spPr>
          <a:xfrm xmlns:a="http://schemas.openxmlformats.org/drawingml/2006/main">
            <a:off x="4429125" y="2324100"/>
            <a:ext cx="2381250" cy="2533650"/>
          </a:xfrm>
          <a:prstGeom xmlns:a="http://schemas.openxmlformats.org/drawingml/2006/main" prst="rect">
            <a:avLst/>
          </a:prstGeom>
          <a:solidFill xmlns:a="http://schemas.openxmlformats.org/drawingml/2006/main">
            <a:srgbClr val="EEF4FC"/>
          </a:solidFill>
          <a:ln xmlns:a="http://schemas.openxmlformats.org/drawingml/2006/main" w="9525">
            <a:solidFill>
              <a:srgbClr val="CFD9E5"/>
            </a:solidFill>
          </a:ln>
        </p:spPr>
      </p:sp>
      <p:sp>
        <p:nvSpPr>
          <p:cNvPr id="11" name="API 서버">
            <a:extLst xmlns:a="http://schemas.openxmlformats.org/drawingml/2006/main">
              <a:ext uri="{FF2B5EF4-FFF2-40B4-BE49-F238E27FC236}">
                <a16:creationId xmlns:a16="http://schemas.microsoft.com/office/drawing/2014/main" id="{619F7C19-3FE8-40F8-8F3E-61082F301D84}"/>
              </a:ext>
            </a:extLst>
          </p:cNvPr>
          <p:cNvSpPr>
            <a:spLocks xmlns:a="http://schemas.openxmlformats.org/drawingml/2006/main" noGrp="1"/>
          </p:cNvSpPr>
          <p:nvPr/>
        </p:nvSpPr>
        <p:spPr>
          <a:xfrm xmlns:a="http://schemas.openxmlformats.org/drawingml/2006/main">
            <a:off x="4543425" y="2419350"/>
            <a:ext cx="2152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API 서버</a:t>
            </a:r>
          </a:p>
        </p:txBody>
      </p:sp>
      <p:sp>
        <p:nvSpPr>
          <p:cNvPr id="12" name="업로드·조회 분석 작업 실행 작업 상태 관리">
            <a:extLst xmlns:a="http://schemas.openxmlformats.org/drawingml/2006/main">
              <a:ext uri="{FF2B5EF4-FFF2-40B4-BE49-F238E27FC236}">
                <a16:creationId xmlns:a16="http://schemas.microsoft.com/office/drawing/2014/main" id="{8DB815F8-299D-4827-9AE8-FA5A02556049}"/>
              </a:ext>
            </a:extLst>
          </p:cNvPr>
          <p:cNvSpPr>
            <a:spLocks xmlns:a="http://schemas.openxmlformats.org/drawingml/2006/main" noGrp="1"/>
          </p:cNvSpPr>
          <p:nvPr/>
        </p:nvSpPr>
        <p:spPr>
          <a:xfrm xmlns:a="http://schemas.openxmlformats.org/drawingml/2006/main">
            <a:off x="4619625" y="3057525"/>
            <a:ext cx="2047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업로드·조회</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분석 작업 실행</a:t>
            </a:r>
          </a:p>
          <a:p xmlns:a="http://schemas.openxmlformats.org/drawingml/2006/main">
            <a:pPr>
              <a:defRPr sz="1875" b="0">
                <a:solidFill>
                  <a:srgbClr val="102A43"/>
                </a:solidFill>
                <a:latin typeface="Malgun Gothic"/>
                <a:ea typeface="Malgun Gothic"/>
                <a:cs typeface="Malgun Gothic"/>
              </a:defRPr>
            </a:pPr>
            <a:r>
              <a:rPr sz="1875" b="0">
                <a:solidFill>
                  <a:srgbClr val="102A43"/>
                </a:solidFill>
                <a:latin typeface="Malgun Gothic"/>
                <a:ea typeface="Malgun Gothic"/>
                <a:cs typeface="Malgun Gothic"/>
              </a:rPr>
              <a:t>작업 상태 관리</a:t>
            </a:r>
          </a:p>
        </p:txBody>
      </p:sp>
      <p:sp>
        <p:nvSpPr>
          <p:cNvPr id="13" name="분석 모듈">
            <a:extLst xmlns:a="http://schemas.openxmlformats.org/drawingml/2006/main">
              <a:ext uri="{FF2B5EF4-FFF2-40B4-BE49-F238E27FC236}">
                <a16:creationId xmlns:a16="http://schemas.microsoft.com/office/drawing/2014/main" id="{16F164DE-D51B-422B-94A1-9C595BF64FDF}"/>
              </a:ext>
            </a:extLst>
          </p:cNvPr>
          <p:cNvSpPr>
            <a:spLocks xmlns:a="http://schemas.openxmlformats.org/drawingml/2006/main" noGrp="1"/>
          </p:cNvSpPr>
          <p:nvPr/>
        </p:nvSpPr>
        <p:spPr>
          <a:xfrm xmlns:a="http://schemas.openxmlformats.org/drawingml/2006/main">
            <a:off x="8572500" y="2324100"/>
            <a:ext cx="3009900" cy="2533650"/>
          </a:xfrm>
          <a:prstGeom xmlns:a="http://schemas.openxmlformats.org/drawingml/2006/main" prst="rect">
            <a:avLst/>
          </a:prstGeom>
          <a:solidFill xmlns:a="http://schemas.openxmlformats.org/drawingml/2006/main">
            <a:srgbClr val="F7F9FC"/>
          </a:solidFill>
          <a:ln xmlns:a="http://schemas.openxmlformats.org/drawingml/2006/main" w="9525">
            <a:solidFill>
              <a:srgbClr val="CFD9E5"/>
            </a:solidFill>
          </a:ln>
        </p:spPr>
      </p:sp>
      <p:sp>
        <p:nvSpPr>
          <p:cNvPr id="14" name="분석 모듈">
            <a:extLst xmlns:a="http://schemas.openxmlformats.org/drawingml/2006/main">
              <a:ext uri="{FF2B5EF4-FFF2-40B4-BE49-F238E27FC236}">
                <a16:creationId xmlns:a16="http://schemas.microsoft.com/office/drawing/2014/main" id="{2B638D0E-FCF8-4D35-92B9-EEE2E3CA04A9}"/>
              </a:ext>
            </a:extLst>
          </p:cNvPr>
          <p:cNvSpPr>
            <a:spLocks xmlns:a="http://schemas.openxmlformats.org/drawingml/2006/main" noGrp="1"/>
          </p:cNvSpPr>
          <p:nvPr/>
        </p:nvSpPr>
        <p:spPr>
          <a:xfrm xmlns:a="http://schemas.openxmlformats.org/drawingml/2006/main">
            <a:off x="8686800" y="241935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02A43"/>
                </a:solidFill>
                <a:latin typeface="Malgun Gothic"/>
                <a:ea typeface="Malgun Gothic"/>
                <a:cs typeface="Malgun Gothic"/>
              </a:defRPr>
            </a:pPr>
            <a:r>
              <a:rPr sz="1725" b="1">
                <a:solidFill>
                  <a:srgbClr val="102A43"/>
                </a:solidFill>
                <a:latin typeface="Malgun Gothic"/>
                <a:ea typeface="Malgun Gothic"/>
                <a:cs typeface="Malgun Gothic"/>
              </a:rPr>
              <a:t>분석 모듈</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3b75dd06482c459c"/>
          <a:stretch xmlns:a="http://schemas.openxmlformats.org/drawingml/2006/main"/>
        </p:blipFill>
        <p:spPr>
          <a:xfrm xmlns:a="http://schemas.openxmlformats.org/drawingml/2006/main">
            <a:off x="8782050" y="2789555"/>
            <a:ext cx="1076325" cy="574040"/>
          </a:xfrm>
          <a:prstGeom xmlns:a="http://schemas.openxmlformats.org/drawingml/2006/main" prst="rect">
            <a:avLst/>
          </a:prstGeom>
        </p:spPr>
      </p:pic>
      <p:sp>
        <p:nvSpPr>
          <p:cNvPr id="16" name="SfM·MVS">
            <a:extLst xmlns:a="http://schemas.openxmlformats.org/drawingml/2006/main">
              <a:ext uri="{FF2B5EF4-FFF2-40B4-BE49-F238E27FC236}">
                <a16:creationId xmlns:a16="http://schemas.microsoft.com/office/drawing/2014/main" id="{F38D7DE2-A791-404A-B5D4-2715983808C6}"/>
              </a:ext>
            </a:extLst>
          </p:cNvPr>
          <p:cNvSpPr>
            <a:spLocks xmlns:a="http://schemas.openxmlformats.org/drawingml/2006/main" noGrp="1"/>
          </p:cNvSpPr>
          <p:nvPr/>
        </p:nvSpPr>
        <p:spPr>
          <a:xfrm xmlns:a="http://schemas.openxmlformats.org/drawingml/2006/main">
            <a:off x="8734425" y="3409950"/>
            <a:ext cx="1200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02A43"/>
                </a:solidFill>
                <a:latin typeface="Malgun Gothic"/>
                <a:ea typeface="Malgun Gothic"/>
                <a:cs typeface="Malgun Gothic"/>
              </a:defRPr>
            </a:pPr>
            <a:r>
              <a:rPr sz="1575" b="1">
                <a:solidFill>
                  <a:srgbClr val="102A43"/>
                </a:solidFill>
                <a:latin typeface="Malgun Gothic"/>
                <a:ea typeface="Malgun Gothic"/>
                <a:cs typeface="Malgun Gothic"/>
              </a:rPr>
              <a:t>SfM·MVS</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d0f1ce1ca44f4d45"/>
          <a:stretch xmlns:a="http://schemas.openxmlformats.org/drawingml/2006/main"/>
        </p:blipFill>
        <p:spPr>
          <a:xfrm xmlns:a="http://schemas.openxmlformats.org/drawingml/2006/main">
            <a:off x="10450513" y="2781300"/>
            <a:ext cx="787400" cy="590550"/>
          </a:xfrm>
          <a:prstGeom xmlns:a="http://schemas.openxmlformats.org/drawingml/2006/main" prst="rect">
            <a:avLst/>
          </a:prstGeom>
        </p:spPr>
      </p:pic>
      <p:sp>
        <p:nvSpPr>
          <p:cNvPr id="18" name="키프레임·투어">
            <a:extLst xmlns:a="http://schemas.openxmlformats.org/drawingml/2006/main">
              <a:ext uri="{FF2B5EF4-FFF2-40B4-BE49-F238E27FC236}">
                <a16:creationId xmlns:a16="http://schemas.microsoft.com/office/drawing/2014/main" id="{EA394FF6-9064-4822-B556-AAF90C3E745D}"/>
              </a:ext>
            </a:extLst>
          </p:cNvPr>
          <p:cNvSpPr>
            <a:spLocks xmlns:a="http://schemas.openxmlformats.org/drawingml/2006/main" noGrp="1"/>
          </p:cNvSpPr>
          <p:nvPr/>
        </p:nvSpPr>
        <p:spPr>
          <a:xfrm xmlns:a="http://schemas.openxmlformats.org/drawingml/2006/main">
            <a:off x="10191750" y="3409950"/>
            <a:ext cx="135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키프레임·투어</a:t>
            </a:r>
          </a:p>
        </p:txBody>
      </p:sp>
      <p:sp>
        <p:nvSpPr>
          <p:cNvPr id="19" name="좌표 변환 관측 대응">
            <a:extLst xmlns:a="http://schemas.openxmlformats.org/drawingml/2006/main">
              <a:ext uri="{FF2B5EF4-FFF2-40B4-BE49-F238E27FC236}">
                <a16:creationId xmlns:a16="http://schemas.microsoft.com/office/drawing/2014/main" id="{48D5CC5F-F529-4644-9846-F17DFF9E8EB8}"/>
              </a:ext>
            </a:extLst>
          </p:cNvPr>
          <p:cNvSpPr>
            <a:spLocks xmlns:a="http://schemas.openxmlformats.org/drawingml/2006/main" noGrp="1"/>
          </p:cNvSpPr>
          <p:nvPr/>
        </p:nvSpPr>
        <p:spPr>
          <a:xfrm xmlns:a="http://schemas.openxmlformats.org/drawingml/2006/main">
            <a:off x="8743950" y="3819525"/>
            <a:ext cx="13239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좌표 변환</a:t>
            </a:r>
          </a:p>
          <a:p xmlns:a="http://schemas.openxmlformats.org/drawingml/2006/main">
            <a:pPr>
              <a:defRPr sz="1500" b="1">
                <a:solidFill>
                  <a:srgbClr val="087F8C"/>
                </a:solidFill>
                <a:latin typeface="Malgun Gothic"/>
                <a:ea typeface="Malgun Gothic"/>
                <a:cs typeface="Malgun Gothic"/>
              </a:defRPr>
            </a:pPr>
            <a:r>
              <a:rPr sz="1500" b="1">
                <a:solidFill>
                  <a:srgbClr val="087F8C"/>
                </a:solidFill>
                <a:latin typeface="Malgun Gothic"/>
                <a:ea typeface="Malgun Gothic"/>
                <a:cs typeface="Malgun Gothic"/>
              </a:rPr>
              <a:t>관측 대응</a:t>
            </a:r>
          </a:p>
        </p:txBody>
      </p:sp>
      <p:sp>
        <p:nvSpPr>
          <p:cNvPr id="20" name="관측·회차 정합">
            <a:extLst xmlns:a="http://schemas.openxmlformats.org/drawingml/2006/main">
              <a:ext uri="{FF2B5EF4-FFF2-40B4-BE49-F238E27FC236}">
                <a16:creationId xmlns:a16="http://schemas.microsoft.com/office/drawing/2014/main" id="{A8D329C6-62B1-4D02-9023-3FD5603993DE}"/>
              </a:ext>
            </a:extLst>
          </p:cNvPr>
          <p:cNvSpPr>
            <a:spLocks xmlns:a="http://schemas.openxmlformats.org/drawingml/2006/main" noGrp="1"/>
          </p:cNvSpPr>
          <p:nvPr/>
        </p:nvSpPr>
        <p:spPr>
          <a:xfrm xmlns:a="http://schemas.openxmlformats.org/drawingml/2006/main">
            <a:off x="8686800" y="44767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Malgun Gothic"/>
                <a:ea typeface="Malgun Gothic"/>
                <a:cs typeface="Malgun Gothic"/>
              </a:defRPr>
            </a:pPr>
            <a:r>
              <a:rPr sz="1500" b="1">
                <a:solidFill>
                  <a:srgbClr val="102A43"/>
                </a:solidFill>
                <a:latin typeface="Malgun Gothic"/>
                <a:ea typeface="Malgun Gothic"/>
                <a:cs typeface="Malgun Gothic"/>
              </a:rPr>
              <a:t>관측·회차 정합</a:t>
            </a:r>
          </a:p>
        </p:txBody>
      </p:sp>
      <p:sp>
        <p:nvSpPr>
          <p:cNvPr id="21" name="class_id 신뢰도·근거">
            <a:extLst xmlns:a="http://schemas.openxmlformats.org/drawingml/2006/main">
              <a:ext uri="{FF2B5EF4-FFF2-40B4-BE49-F238E27FC236}">
                <a16:creationId xmlns:a16="http://schemas.microsoft.com/office/drawing/2014/main" id="{839082CF-64D3-4381-BAFB-209D2A7FBC1F}"/>
              </a:ext>
            </a:extLst>
          </p:cNvPr>
          <p:cNvSpPr>
            <a:spLocks xmlns:a="http://schemas.openxmlformats.org/drawingml/2006/main" noGrp="1"/>
          </p:cNvSpPr>
          <p:nvPr/>
        </p:nvSpPr>
        <p:spPr>
          <a:xfrm xmlns:a="http://schemas.openxmlformats.org/drawingml/2006/main">
            <a:off x="10267950" y="3819525"/>
            <a:ext cx="1266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class_id</a:t>
            </a:r>
          </a:p>
          <a:p xmlns:a="http://schemas.openxmlformats.org/drawingml/2006/main">
            <a:pPr>
              <a:defRPr sz="1500" b="1">
                <a:solidFill>
                  <a:srgbClr val="8757B9"/>
                </a:solidFill>
                <a:latin typeface="Malgun Gothic"/>
                <a:ea typeface="Malgun Gothic"/>
                <a:cs typeface="Malgun Gothic"/>
              </a:defRPr>
            </a:pPr>
            <a:r>
              <a:rPr sz="1500" b="1">
                <a:solidFill>
                  <a:srgbClr val="8757B9"/>
                </a:solidFill>
                <a:latin typeface="Malgun Gothic"/>
                <a:ea typeface="Malgun Gothic"/>
                <a:cs typeface="Malgun Gothic"/>
              </a:rPr>
              <a:t>신뢰도·근거</a:t>
            </a:r>
          </a:p>
        </p:txBody>
      </p:sp>
      <p:sp>
        <p:nvSpPr>
          <p:cNvPr id="22" name="의미·변화 분석">
            <a:extLst xmlns:a="http://schemas.openxmlformats.org/drawingml/2006/main">
              <a:ext uri="{FF2B5EF4-FFF2-40B4-BE49-F238E27FC236}">
                <a16:creationId xmlns:a16="http://schemas.microsoft.com/office/drawing/2014/main" id="{4091110B-9B86-4CBD-9C39-ADBCE79350D0}"/>
              </a:ext>
            </a:extLst>
          </p:cNvPr>
          <p:cNvSpPr>
            <a:spLocks xmlns:a="http://schemas.openxmlformats.org/drawingml/2006/main" noGrp="1"/>
          </p:cNvSpPr>
          <p:nvPr/>
        </p:nvSpPr>
        <p:spPr>
          <a:xfrm xmlns:a="http://schemas.openxmlformats.org/drawingml/2006/main">
            <a:off x="10267950" y="4476750"/>
            <a:ext cx="1247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02A43"/>
                </a:solidFill>
                <a:latin typeface="Malgun Gothic"/>
                <a:ea typeface="Malgun Gothic"/>
                <a:cs typeface="Malgun Gothic"/>
              </a:defRPr>
            </a:pPr>
            <a:r>
              <a:rPr sz="1350" b="1">
                <a:solidFill>
                  <a:srgbClr val="102A43"/>
                </a:solidFill>
                <a:latin typeface="Malgun Gothic"/>
                <a:ea typeface="Malgun Gothic"/>
                <a:cs typeface="Malgun Gothic"/>
              </a:rPr>
              <a:t>의미·변화 분석</a:t>
            </a:r>
          </a:p>
        </p:txBody>
      </p:sp>
      <p:sp>
        <p:nvSpPr>
          <p:cNvPr id="23" name="연결점">
            <a:extLst xmlns:a="http://schemas.openxmlformats.org/drawingml/2006/main">
              <a:ext uri="{FF2B5EF4-FFF2-40B4-BE49-F238E27FC236}">
                <a16:creationId xmlns:a16="http://schemas.microsoft.com/office/drawing/2014/main" id="{C0E97A9F-703B-46D9-BAD7-01F8541D4ECD}"/>
              </a:ext>
            </a:extLst>
          </p:cNvPr>
          <p:cNvSpPr>
            <a:spLocks xmlns:a="http://schemas.openxmlformats.org/drawingml/2006/main" noGrp="1"/>
          </p:cNvSpPr>
          <p:nvPr/>
        </p:nvSpPr>
        <p:spPr>
          <a:xfrm xmlns:a="http://schemas.openxmlformats.org/drawingml/2006/main">
            <a:off x="2890838"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연결점">
            <a:extLst xmlns:a="http://schemas.openxmlformats.org/drawingml/2006/main">
              <a:ext uri="{FF2B5EF4-FFF2-40B4-BE49-F238E27FC236}">
                <a16:creationId xmlns:a16="http://schemas.microsoft.com/office/drawing/2014/main" id="{51BB4363-B86C-42B6-A469-DCEF022499DC}"/>
              </a:ext>
            </a:extLst>
          </p:cNvPr>
          <p:cNvSpPr>
            <a:spLocks xmlns:a="http://schemas.openxmlformats.org/drawingml/2006/main" noGrp="1"/>
          </p:cNvSpPr>
          <p:nvPr/>
        </p:nvSpPr>
        <p:spPr>
          <a:xfrm xmlns:a="http://schemas.openxmlformats.org/drawingml/2006/main">
            <a:off x="4424363"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3" idx="3"/>
            <a:endCxn xmlns:a="http://schemas.openxmlformats.org/drawingml/2006/main" id="24" idx="1"/>
          </p:cNvCxnSpPr>
          <p:nvPr/>
        </p:nvCxnSpPr>
        <p:spPr>
          <a:xfrm xmlns:a="http://schemas.openxmlformats.org/drawingml/2006/main">
            <a:off x="2900363" y="3257551"/>
            <a:ext cx="15240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26" name="업로드·조회 요청">
            <a:extLst xmlns:a="http://schemas.openxmlformats.org/drawingml/2006/main">
              <a:ext uri="{FF2B5EF4-FFF2-40B4-BE49-F238E27FC236}">
                <a16:creationId xmlns:a16="http://schemas.microsoft.com/office/drawing/2014/main" id="{A195C42E-44E9-42B0-A2A3-DD19934B24F0}"/>
              </a:ext>
            </a:extLst>
          </p:cNvPr>
          <p:cNvSpPr>
            <a:spLocks xmlns:a="http://schemas.openxmlformats.org/drawingml/2006/main" noGrp="1"/>
          </p:cNvSpPr>
          <p:nvPr/>
        </p:nvSpPr>
        <p:spPr>
          <a:xfrm xmlns:a="http://schemas.openxmlformats.org/drawingml/2006/main">
            <a:off x="3019425" y="2914650"/>
            <a:ext cx="1390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업로드·조회 요청</a:t>
            </a:r>
          </a:p>
        </p:txBody>
      </p:sp>
      <p:sp>
        <p:nvSpPr>
          <p:cNvPr id="27" name="연결점">
            <a:extLst xmlns:a="http://schemas.openxmlformats.org/drawingml/2006/main">
              <a:ext uri="{FF2B5EF4-FFF2-40B4-BE49-F238E27FC236}">
                <a16:creationId xmlns:a16="http://schemas.microsoft.com/office/drawing/2014/main" id="{748D0602-B616-418E-B305-07E33B783CF6}"/>
              </a:ext>
            </a:extLst>
          </p:cNvPr>
          <p:cNvSpPr>
            <a:spLocks xmlns:a="http://schemas.openxmlformats.org/drawingml/2006/main" noGrp="1"/>
          </p:cNvSpPr>
          <p:nvPr/>
        </p:nvSpPr>
        <p:spPr>
          <a:xfrm xmlns:a="http://schemas.openxmlformats.org/drawingml/2006/main">
            <a:off x="4424363"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연결점">
            <a:extLst xmlns:a="http://schemas.openxmlformats.org/drawingml/2006/main">
              <a:ext uri="{FF2B5EF4-FFF2-40B4-BE49-F238E27FC236}">
                <a16:creationId xmlns:a16="http://schemas.microsoft.com/office/drawing/2014/main" id="{BA115271-E483-493F-8DEC-315BB2EA2B09}"/>
              </a:ext>
            </a:extLst>
          </p:cNvPr>
          <p:cNvSpPr>
            <a:spLocks xmlns:a="http://schemas.openxmlformats.org/drawingml/2006/main" noGrp="1"/>
          </p:cNvSpPr>
          <p:nvPr/>
        </p:nvSpPr>
        <p:spPr>
          <a:xfrm xmlns:a="http://schemas.openxmlformats.org/drawingml/2006/main">
            <a:off x="2890838"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7" name=""/>
          <p:cNvCxnSpPr>
            <a:stCxn xmlns:a="http://schemas.openxmlformats.org/drawingml/2006/main" id="27" idx="1"/>
            <a:endCxn xmlns:a="http://schemas.openxmlformats.org/drawingml/2006/main" id="28" idx="3"/>
          </p:cNvCxnSpPr>
          <p:nvPr/>
        </p:nvCxnSpPr>
        <p:spPr>
          <a:xfrm xmlns:a="http://schemas.openxmlformats.org/drawingml/2006/main" flipH="1">
            <a:off x="2900363" y="3914776"/>
            <a:ext cx="15240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0" name="진행 상태·결과">
            <a:extLst xmlns:a="http://schemas.openxmlformats.org/drawingml/2006/main">
              <a:ext uri="{FF2B5EF4-FFF2-40B4-BE49-F238E27FC236}">
                <a16:creationId xmlns:a16="http://schemas.microsoft.com/office/drawing/2014/main" id="{4D095C34-A432-4C98-B261-88EBCDEAC3F1}"/>
              </a:ext>
            </a:extLst>
          </p:cNvPr>
          <p:cNvSpPr>
            <a:spLocks xmlns:a="http://schemas.openxmlformats.org/drawingml/2006/main" noGrp="1"/>
          </p:cNvSpPr>
          <p:nvPr/>
        </p:nvSpPr>
        <p:spPr>
          <a:xfrm xmlns:a="http://schemas.openxmlformats.org/drawingml/2006/main">
            <a:off x="3057525" y="4048125"/>
            <a:ext cx="1343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진행 상태·결과</a:t>
            </a:r>
          </a:p>
        </p:txBody>
      </p:sp>
      <p:sp>
        <p:nvSpPr>
          <p:cNvPr id="31" name="연결점">
            <a:extLst xmlns:a="http://schemas.openxmlformats.org/drawingml/2006/main">
              <a:ext uri="{FF2B5EF4-FFF2-40B4-BE49-F238E27FC236}">
                <a16:creationId xmlns:a16="http://schemas.microsoft.com/office/drawing/2014/main" id="{5273EEB0-95E0-4F15-9261-78441CA7F75A}"/>
              </a:ext>
            </a:extLst>
          </p:cNvPr>
          <p:cNvSpPr>
            <a:spLocks xmlns:a="http://schemas.openxmlformats.org/drawingml/2006/main" noGrp="1"/>
          </p:cNvSpPr>
          <p:nvPr/>
        </p:nvSpPr>
        <p:spPr>
          <a:xfrm xmlns:a="http://schemas.openxmlformats.org/drawingml/2006/main">
            <a:off x="6805613" y="3252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연결점">
            <a:extLst xmlns:a="http://schemas.openxmlformats.org/drawingml/2006/main">
              <a:ext uri="{FF2B5EF4-FFF2-40B4-BE49-F238E27FC236}">
                <a16:creationId xmlns:a16="http://schemas.microsoft.com/office/drawing/2014/main" id="{8EC28E88-6DAD-4A86-9FCD-B8524575E569}"/>
              </a:ext>
            </a:extLst>
          </p:cNvPr>
          <p:cNvSpPr>
            <a:spLocks xmlns:a="http://schemas.openxmlformats.org/drawingml/2006/main" noGrp="1"/>
          </p:cNvSpPr>
          <p:nvPr/>
        </p:nvSpPr>
        <p:spPr>
          <a:xfrm xmlns:a="http://schemas.openxmlformats.org/drawingml/2006/main">
            <a:off x="8567738" y="3252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1" name=""/>
          <p:cNvCxnSpPr>
            <a:stCxn xmlns:a="http://schemas.openxmlformats.org/drawingml/2006/main" id="31" idx="3"/>
            <a:endCxn xmlns:a="http://schemas.openxmlformats.org/drawingml/2006/main" id="32" idx="1"/>
          </p:cNvCxnSpPr>
          <p:nvPr/>
        </p:nvCxnSpPr>
        <p:spPr>
          <a:xfrm xmlns:a="http://schemas.openxmlformats.org/drawingml/2006/main">
            <a:off x="6815138" y="3257551"/>
            <a:ext cx="1752600" cy="0"/>
          </a:xfrm>
          <a:prstGeom xmlns:a="http://schemas.openxmlformats.org/drawingml/2006/main" prst="straightConnector1">
            <a:avLst/>
          </a:prstGeom>
          <a:ln xmlns:a="http://schemas.openxmlformats.org/drawingml/2006/main" w="23813">
            <a:solidFill>
              <a:srgbClr val="2463EB"/>
            </a:solidFill>
            <a:tailEnd type="triangle" w="med" len="med"/>
          </a:ln>
        </p:spPr>
      </p:cxnSp>
      <p:sp>
        <p:nvSpPr>
          <p:cNvPr id="34" name="분석 실행 요청">
            <a:extLst xmlns:a="http://schemas.openxmlformats.org/drawingml/2006/main">
              <a:ext uri="{FF2B5EF4-FFF2-40B4-BE49-F238E27FC236}">
                <a16:creationId xmlns:a16="http://schemas.microsoft.com/office/drawing/2014/main" id="{66D6902B-4ADF-4B0F-81A0-1A0EA0A9EBF2}"/>
              </a:ext>
            </a:extLst>
          </p:cNvPr>
          <p:cNvSpPr>
            <a:spLocks xmlns:a="http://schemas.openxmlformats.org/drawingml/2006/main" noGrp="1"/>
          </p:cNvSpPr>
          <p:nvPr/>
        </p:nvSpPr>
        <p:spPr>
          <a:xfrm xmlns:a="http://schemas.openxmlformats.org/drawingml/2006/main">
            <a:off x="7058025" y="2914650"/>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463EB"/>
                </a:solidFill>
                <a:latin typeface="Malgun Gothic"/>
                <a:ea typeface="Malgun Gothic"/>
                <a:cs typeface="Malgun Gothic"/>
              </a:defRPr>
            </a:pPr>
            <a:r>
              <a:rPr sz="1425" b="0">
                <a:solidFill>
                  <a:srgbClr val="2463EB"/>
                </a:solidFill>
                <a:latin typeface="Malgun Gothic"/>
                <a:ea typeface="Malgun Gothic"/>
                <a:cs typeface="Malgun Gothic"/>
              </a:rPr>
              <a:t>분석 실행 요청</a:t>
            </a:r>
          </a:p>
        </p:txBody>
      </p:sp>
      <p:sp>
        <p:nvSpPr>
          <p:cNvPr id="35" name="연결점">
            <a:extLst xmlns:a="http://schemas.openxmlformats.org/drawingml/2006/main">
              <a:ext uri="{FF2B5EF4-FFF2-40B4-BE49-F238E27FC236}">
                <a16:creationId xmlns:a16="http://schemas.microsoft.com/office/drawing/2014/main" id="{F332FF80-FD9E-4383-B549-7CD1CD130D65}"/>
              </a:ext>
            </a:extLst>
          </p:cNvPr>
          <p:cNvSpPr>
            <a:spLocks xmlns:a="http://schemas.openxmlformats.org/drawingml/2006/main" noGrp="1"/>
          </p:cNvSpPr>
          <p:nvPr/>
        </p:nvSpPr>
        <p:spPr>
          <a:xfrm xmlns:a="http://schemas.openxmlformats.org/drawingml/2006/main">
            <a:off x="8567738" y="3910013"/>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연결점">
            <a:extLst xmlns:a="http://schemas.openxmlformats.org/drawingml/2006/main">
              <a:ext uri="{FF2B5EF4-FFF2-40B4-BE49-F238E27FC236}">
                <a16:creationId xmlns:a16="http://schemas.microsoft.com/office/drawing/2014/main" id="{459C108D-8CD0-4DE6-922B-AB6C9C8FD657}"/>
              </a:ext>
            </a:extLst>
          </p:cNvPr>
          <p:cNvSpPr>
            <a:spLocks xmlns:a="http://schemas.openxmlformats.org/drawingml/2006/main" noGrp="1"/>
          </p:cNvSpPr>
          <p:nvPr/>
        </p:nvSpPr>
        <p:spPr>
          <a:xfrm xmlns:a="http://schemas.openxmlformats.org/drawingml/2006/main">
            <a:off x="6805613" y="39100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5" name=""/>
          <p:cNvCxnSpPr>
            <a:stCxn xmlns:a="http://schemas.openxmlformats.org/drawingml/2006/main" id="35" idx="1"/>
            <a:endCxn xmlns:a="http://schemas.openxmlformats.org/drawingml/2006/main" id="36" idx="3"/>
          </p:cNvCxnSpPr>
          <p:nvPr/>
        </p:nvCxnSpPr>
        <p:spPr>
          <a:xfrm xmlns:a="http://schemas.openxmlformats.org/drawingml/2006/main" flipH="1">
            <a:off x="6815138" y="3914776"/>
            <a:ext cx="1752600" cy="0"/>
          </a:xfrm>
          <a:prstGeom xmlns:a="http://schemas.openxmlformats.org/drawingml/2006/main" prst="straightConnector1">
            <a:avLst/>
          </a:prstGeom>
          <a:ln xmlns:a="http://schemas.openxmlformats.org/drawingml/2006/main" w="23813">
            <a:solidFill>
              <a:srgbClr val="526D8B"/>
            </a:solidFill>
            <a:tailEnd type="triangle" w="med" len="med"/>
          </a:ln>
        </p:spPr>
      </p:cxnSp>
      <p:sp>
        <p:nvSpPr>
          <p:cNvPr id="38" name="분석 결과 반환">
            <a:extLst xmlns:a="http://schemas.openxmlformats.org/drawingml/2006/main">
              <a:ext uri="{FF2B5EF4-FFF2-40B4-BE49-F238E27FC236}">
                <a16:creationId xmlns:a16="http://schemas.microsoft.com/office/drawing/2014/main" id="{71654C9C-448A-4E9A-985E-F59AED3A6A41}"/>
              </a:ext>
            </a:extLst>
          </p:cNvPr>
          <p:cNvSpPr>
            <a:spLocks xmlns:a="http://schemas.openxmlformats.org/drawingml/2006/main" noGrp="1"/>
          </p:cNvSpPr>
          <p:nvPr/>
        </p:nvSpPr>
        <p:spPr>
          <a:xfrm xmlns:a="http://schemas.openxmlformats.org/drawingml/2006/main">
            <a:off x="7058025" y="4048125"/>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분석 결과 반환</a:t>
            </a:r>
          </a:p>
        </p:txBody>
      </p:sp>
      <p:sp>
        <p:nvSpPr>
          <p:cNvPr id="39" name="연결점">
            <a:extLst xmlns:a="http://schemas.openxmlformats.org/drawingml/2006/main">
              <a:ext uri="{FF2B5EF4-FFF2-40B4-BE49-F238E27FC236}">
                <a16:creationId xmlns:a16="http://schemas.microsoft.com/office/drawing/2014/main" id="{34946FD0-F6D2-4D37-B8A4-2F6EDBE3AC60}"/>
              </a:ext>
            </a:extLst>
          </p:cNvPr>
          <p:cNvSpPr>
            <a:spLocks xmlns:a="http://schemas.openxmlformats.org/drawingml/2006/main" noGrp="1"/>
          </p:cNvSpPr>
          <p:nvPr/>
        </p:nvSpPr>
        <p:spPr>
          <a:xfrm xmlns:a="http://schemas.openxmlformats.org/drawingml/2006/main">
            <a:off x="52339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연결점">
            <a:extLst xmlns:a="http://schemas.openxmlformats.org/drawingml/2006/main">
              <a:ext uri="{FF2B5EF4-FFF2-40B4-BE49-F238E27FC236}">
                <a16:creationId xmlns:a16="http://schemas.microsoft.com/office/drawing/2014/main" id="{F3072F52-1C01-4754-9791-41C91115D753}"/>
              </a:ext>
            </a:extLst>
          </p:cNvPr>
          <p:cNvSpPr>
            <a:spLocks xmlns:a="http://schemas.openxmlformats.org/drawingml/2006/main" noGrp="1"/>
          </p:cNvSpPr>
          <p:nvPr/>
        </p:nvSpPr>
        <p:spPr>
          <a:xfrm xmlns:a="http://schemas.openxmlformats.org/drawingml/2006/main">
            <a:off x="52339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39" idx="2"/>
            <a:endCxn xmlns:a="http://schemas.openxmlformats.org/drawingml/2006/main" id="40" idx="0"/>
          </p:cNvCxnSpPr>
          <p:nvPr/>
        </p:nvCxnSpPr>
        <p:spPr>
          <a:xfrm xmlns:a="http://schemas.openxmlformats.org/drawingml/2006/main">
            <a:off x="52387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2" name="메타데이터 저장·조회">
            <a:extLst xmlns:a="http://schemas.openxmlformats.org/drawingml/2006/main">
              <a:ext uri="{FF2B5EF4-FFF2-40B4-BE49-F238E27FC236}">
                <a16:creationId xmlns:a16="http://schemas.microsoft.com/office/drawing/2014/main" id="{71C54F73-9009-4C1E-90E2-DDD2F6DA33CC}"/>
              </a:ext>
            </a:extLst>
          </p:cNvPr>
          <p:cNvSpPr>
            <a:spLocks xmlns:a="http://schemas.openxmlformats.org/drawingml/2006/main" noGrp="1"/>
          </p:cNvSpPr>
          <p:nvPr/>
        </p:nvSpPr>
        <p:spPr>
          <a:xfrm xmlns:a="http://schemas.openxmlformats.org/drawingml/2006/main">
            <a:off x="5410200" y="5000625"/>
            <a:ext cx="1314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메타데이터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저장·조회</a:t>
            </a:r>
          </a:p>
        </p:txBody>
      </p:sp>
      <p:sp>
        <p:nvSpPr>
          <p:cNvPr id="43" name="연결점">
            <a:extLst xmlns:a="http://schemas.openxmlformats.org/drawingml/2006/main">
              <a:ext uri="{FF2B5EF4-FFF2-40B4-BE49-F238E27FC236}">
                <a16:creationId xmlns:a16="http://schemas.microsoft.com/office/drawing/2014/main" id="{75C20DEA-616C-4C94-8132-329AF9FBAB29}"/>
              </a:ext>
            </a:extLst>
          </p:cNvPr>
          <p:cNvSpPr>
            <a:spLocks xmlns:a="http://schemas.openxmlformats.org/drawingml/2006/main" noGrp="1"/>
          </p:cNvSpPr>
          <p:nvPr/>
        </p:nvSpPr>
        <p:spPr>
          <a:xfrm xmlns:a="http://schemas.openxmlformats.org/drawingml/2006/main">
            <a:off x="10072688" y="4852988"/>
            <a:ext cx="9525" cy="9525"/>
          </a:xfrm>
          <a:prstGeom xmlns:a="http://schemas.openxmlformats.org/drawingml/2006/main" prst="rect">
            <a:avLst/>
          </a:prstGeom>
          <a:noFill xmlns:a="http://schemas.openxmlformats.org/drawingml/2006/main"/>
          <a:ln xmlns:a="http://schemas.openxmlformats.org/drawingml/2006/main" w="0">
            <a:noFill/>
          </a:ln>
        </p:spPr>
      </p:sp>
      <p:sp>
        <p:nvSpPr>
          <p:cNvPr id="44" name="연결점">
            <a:extLst xmlns:a="http://schemas.openxmlformats.org/drawingml/2006/main">
              <a:ext uri="{FF2B5EF4-FFF2-40B4-BE49-F238E27FC236}">
                <a16:creationId xmlns:a16="http://schemas.microsoft.com/office/drawing/2014/main" id="{54A015FA-986A-460D-BCCB-A6DE1586A44D}"/>
              </a:ext>
            </a:extLst>
          </p:cNvPr>
          <p:cNvSpPr>
            <a:spLocks xmlns:a="http://schemas.openxmlformats.org/drawingml/2006/main" noGrp="1"/>
          </p:cNvSpPr>
          <p:nvPr/>
        </p:nvSpPr>
        <p:spPr>
          <a:xfrm xmlns:a="http://schemas.openxmlformats.org/drawingml/2006/main">
            <a:off x="10072688" y="55387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3" name=""/>
          <p:cNvCxnSpPr>
            <a:stCxn xmlns:a="http://schemas.openxmlformats.org/drawingml/2006/main" id="43" idx="2"/>
            <a:endCxn xmlns:a="http://schemas.openxmlformats.org/drawingml/2006/main" id="44" idx="0"/>
          </p:cNvCxnSpPr>
          <p:nvPr/>
        </p:nvCxnSpPr>
        <p:spPr>
          <a:xfrm xmlns:a="http://schemas.openxmlformats.org/drawingml/2006/main">
            <a:off x="10077451" y="4862513"/>
            <a:ext cx="0" cy="676275"/>
          </a:xfrm>
          <a:prstGeom xmlns:a="http://schemas.openxmlformats.org/drawingml/2006/main" prst="straightConnector1">
            <a:avLst/>
          </a:prstGeom>
          <a:ln xmlns:a="http://schemas.openxmlformats.org/drawingml/2006/main" w="23813">
            <a:solidFill>
              <a:srgbClr val="087F8C"/>
            </a:solidFill>
            <a:headEnd type="triangle" w="med" len="med"/>
            <a:tailEnd type="triangle" w="med" len="med"/>
          </a:ln>
        </p:spPr>
      </p:cxnSp>
      <p:sp>
        <p:nvSpPr>
          <p:cNvPr id="46" name="입력 읽기 결과 저장">
            <a:extLst xmlns:a="http://schemas.openxmlformats.org/drawingml/2006/main">
              <a:ext uri="{FF2B5EF4-FFF2-40B4-BE49-F238E27FC236}">
                <a16:creationId xmlns:a16="http://schemas.microsoft.com/office/drawing/2014/main" id="{A050B874-2A83-4BC6-8F43-4D20C625D281}"/>
              </a:ext>
            </a:extLst>
          </p:cNvPr>
          <p:cNvSpPr>
            <a:spLocks xmlns:a="http://schemas.openxmlformats.org/drawingml/2006/main" noGrp="1"/>
          </p:cNvSpPr>
          <p:nvPr/>
        </p:nvSpPr>
        <p:spPr>
          <a:xfrm xmlns:a="http://schemas.openxmlformats.org/drawingml/2006/main">
            <a:off x="10258425" y="5000625"/>
            <a:ext cx="13049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입력 읽기</a:t>
            </a:r>
          </a:p>
          <a:p xmlns:a="http://schemas.openxmlformats.org/drawingml/2006/main">
            <a:pPr>
              <a:defRPr sz="1350" b="0">
                <a:solidFill>
                  <a:srgbClr val="087F8C"/>
                </a:solidFill>
                <a:latin typeface="Malgun Gothic"/>
                <a:ea typeface="Malgun Gothic"/>
                <a:cs typeface="Malgun Gothic"/>
              </a:defRPr>
            </a:pPr>
            <a:r>
              <a:rPr sz="1350" b="0">
                <a:solidFill>
                  <a:srgbClr val="087F8C"/>
                </a:solidFill>
                <a:latin typeface="Malgun Gothic"/>
                <a:ea typeface="Malgun Gothic"/>
                <a:cs typeface="Malgun Gothic"/>
              </a:rPr>
              <a:t>결과 저장</a:t>
            </a:r>
          </a:p>
        </p:txBody>
      </p:sp>
      <p:sp>
        <p:nvSpPr>
          <p:cNvPr id="47" name="연결점">
            <a:extLst xmlns:a="http://schemas.openxmlformats.org/drawingml/2006/main">
              <a:ext uri="{FF2B5EF4-FFF2-40B4-BE49-F238E27FC236}">
                <a16:creationId xmlns:a16="http://schemas.microsoft.com/office/drawing/2014/main" id="{4B121097-BE24-412D-B935-247716231000}"/>
              </a:ext>
            </a:extLst>
          </p:cNvPr>
          <p:cNvSpPr>
            <a:spLocks xmlns:a="http://schemas.openxmlformats.org/drawingml/2006/main" noGrp="1"/>
          </p:cNvSpPr>
          <p:nvPr/>
        </p:nvSpPr>
        <p:spPr>
          <a:xfrm xmlns:a="http://schemas.openxmlformats.org/drawingml/2006/main">
            <a:off x="6805613"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48" name="연결점">
            <a:extLst xmlns:a="http://schemas.openxmlformats.org/drawingml/2006/main">
              <a:ext uri="{FF2B5EF4-FFF2-40B4-BE49-F238E27FC236}">
                <a16:creationId xmlns:a16="http://schemas.microsoft.com/office/drawing/2014/main" id="{E0AC8835-71D6-40B1-ABC2-B65030674A11}"/>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47" idx="3"/>
            <a:endCxn xmlns:a="http://schemas.openxmlformats.org/drawingml/2006/main" id="48" idx="1"/>
          </p:cNvCxnSpPr>
          <p:nvPr/>
        </p:nvCxnSpPr>
        <p:spPr>
          <a:xfrm xmlns:a="http://schemas.openxmlformats.org/drawingml/2006/main">
            <a:off x="6815138" y="4552951"/>
            <a:ext cx="895350" cy="0"/>
          </a:xfrm>
          <a:prstGeom xmlns:a="http://schemas.openxmlformats.org/drawingml/2006/main" prst="straightConnector1">
            <a:avLst/>
          </a:prstGeom>
          <a:ln xmlns:a="http://schemas.openxmlformats.org/drawingml/2006/main" w="23813">
            <a:solidFill>
              <a:srgbClr val="9D791F"/>
            </a:solidFill>
            <a:headEnd type="triangle" w="med" len="med"/>
          </a:ln>
        </p:spPr>
      </p:cxnSp>
      <p:sp>
        <p:nvSpPr>
          <p:cNvPr id="50" name="연결점">
            <a:extLst xmlns:a="http://schemas.openxmlformats.org/drawingml/2006/main">
              <a:ext uri="{FF2B5EF4-FFF2-40B4-BE49-F238E27FC236}">
                <a16:creationId xmlns:a16="http://schemas.microsoft.com/office/drawing/2014/main" id="{616F0692-4AB7-469B-A3DD-010FA6544EF8}"/>
              </a:ext>
            </a:extLst>
          </p:cNvPr>
          <p:cNvSpPr>
            <a:spLocks xmlns:a="http://schemas.openxmlformats.org/drawingml/2006/main" noGrp="1"/>
          </p:cNvSpPr>
          <p:nvPr/>
        </p:nvSpPr>
        <p:spPr>
          <a:xfrm xmlns:a="http://schemas.openxmlformats.org/drawingml/2006/main">
            <a:off x="7710488" y="4548188"/>
            <a:ext cx="9525" cy="9525"/>
          </a:xfrm>
          <a:prstGeom xmlns:a="http://schemas.openxmlformats.org/drawingml/2006/main" prst="rect">
            <a:avLst/>
          </a:prstGeom>
          <a:noFill xmlns:a="http://schemas.openxmlformats.org/drawingml/2006/main"/>
          <a:ln xmlns:a="http://schemas.openxmlformats.org/drawingml/2006/main" w="0">
            <a:noFill/>
          </a:ln>
        </p:spPr>
      </p:sp>
      <p:sp>
        <p:nvSpPr>
          <p:cNvPr id="51" name="연결점">
            <a:extLst xmlns:a="http://schemas.openxmlformats.org/drawingml/2006/main">
              <a:ext uri="{FF2B5EF4-FFF2-40B4-BE49-F238E27FC236}">
                <a16:creationId xmlns:a16="http://schemas.microsoft.com/office/drawing/2014/main" id="{B488F92B-DBF6-4304-A892-0CD22FECC551}"/>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50" idx="2"/>
            <a:endCxn xmlns:a="http://schemas.openxmlformats.org/drawingml/2006/main" id="51" idx="0"/>
          </p:cNvCxnSpPr>
          <p:nvPr/>
        </p:nvCxnSpPr>
        <p:spPr>
          <a:xfrm xmlns:a="http://schemas.openxmlformats.org/drawingml/2006/main">
            <a:off x="7715251" y="4557713"/>
            <a:ext cx="0" cy="1390650"/>
          </a:xfrm>
          <a:prstGeom xmlns:a="http://schemas.openxmlformats.org/drawingml/2006/main" prst="straightConnector1">
            <a:avLst/>
          </a:prstGeom>
          <a:ln xmlns:a="http://schemas.openxmlformats.org/drawingml/2006/main" w="23813">
            <a:solidFill>
              <a:srgbClr val="9D791F"/>
            </a:solidFill>
          </a:ln>
        </p:spPr>
      </p:cxnSp>
      <p:sp>
        <p:nvSpPr>
          <p:cNvPr id="53" name="연결점">
            <a:extLst xmlns:a="http://schemas.openxmlformats.org/drawingml/2006/main">
              <a:ext uri="{FF2B5EF4-FFF2-40B4-BE49-F238E27FC236}">
                <a16:creationId xmlns:a16="http://schemas.microsoft.com/office/drawing/2014/main" id="{15B07D3F-8BCA-42CE-A7D4-B4D4DADC4488}"/>
              </a:ext>
            </a:extLst>
          </p:cNvPr>
          <p:cNvSpPr>
            <a:spLocks xmlns:a="http://schemas.openxmlformats.org/drawingml/2006/main" noGrp="1"/>
          </p:cNvSpPr>
          <p:nvPr/>
        </p:nvSpPr>
        <p:spPr>
          <a:xfrm xmlns:a="http://schemas.openxmlformats.org/drawingml/2006/main">
            <a:off x="7710488" y="5948363"/>
            <a:ext cx="9525" cy="9525"/>
          </a:xfrm>
          <a:prstGeom xmlns:a="http://schemas.openxmlformats.org/drawingml/2006/main" prst="rect">
            <a:avLst/>
          </a:prstGeom>
          <a:noFill xmlns:a="http://schemas.openxmlformats.org/drawingml/2006/main"/>
          <a:ln xmlns:a="http://schemas.openxmlformats.org/drawingml/2006/main" w="0">
            <a:noFill/>
          </a:ln>
        </p:spPr>
      </p:sp>
      <p:sp>
        <p:nvSpPr>
          <p:cNvPr id="54" name="연결점">
            <a:extLst xmlns:a="http://schemas.openxmlformats.org/drawingml/2006/main">
              <a:ext uri="{FF2B5EF4-FFF2-40B4-BE49-F238E27FC236}">
                <a16:creationId xmlns:a16="http://schemas.microsoft.com/office/drawing/2014/main" id="{5E352B8E-18F1-4E79-ADC1-B33C4EA5E2A9}"/>
              </a:ext>
            </a:extLst>
          </p:cNvPr>
          <p:cNvSpPr>
            <a:spLocks xmlns:a="http://schemas.openxmlformats.org/drawingml/2006/main" noGrp="1"/>
          </p:cNvSpPr>
          <p:nvPr/>
        </p:nvSpPr>
        <p:spPr>
          <a:xfrm xmlns:a="http://schemas.openxmlformats.org/drawingml/2006/main">
            <a:off x="8567738" y="59483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3" name=""/>
          <p:cNvCxnSpPr>
            <a:stCxn xmlns:a="http://schemas.openxmlformats.org/drawingml/2006/main" id="53" idx="3"/>
            <a:endCxn xmlns:a="http://schemas.openxmlformats.org/drawingml/2006/main" id="54" idx="1"/>
          </p:cNvCxnSpPr>
          <p:nvPr/>
        </p:nvCxnSpPr>
        <p:spPr>
          <a:xfrm xmlns:a="http://schemas.openxmlformats.org/drawingml/2006/main">
            <a:off x="7720013" y="5953126"/>
            <a:ext cx="847725" cy="0"/>
          </a:xfrm>
          <a:prstGeom xmlns:a="http://schemas.openxmlformats.org/drawingml/2006/main" prst="straightConnector1">
            <a:avLst/>
          </a:prstGeom>
          <a:ln xmlns:a="http://schemas.openxmlformats.org/drawingml/2006/main" w="23813">
            <a:solidFill>
              <a:srgbClr val="9D791F"/>
            </a:solidFill>
            <a:tailEnd type="triangle" w="med" len="med"/>
          </a:ln>
        </p:spPr>
      </p:cxnSp>
      <p:sp>
        <p:nvSpPr>
          <p:cNvPr id="56" name="파일 업로드 결과 파일 조회">
            <a:extLst xmlns:a="http://schemas.openxmlformats.org/drawingml/2006/main">
              <a:ext uri="{FF2B5EF4-FFF2-40B4-BE49-F238E27FC236}">
                <a16:creationId xmlns:a16="http://schemas.microsoft.com/office/drawing/2014/main" id="{25136851-D8B3-4B36-AD3B-E5A9FD103531}"/>
              </a:ext>
            </a:extLst>
          </p:cNvPr>
          <p:cNvSpPr>
            <a:spLocks xmlns:a="http://schemas.openxmlformats.org/drawingml/2006/main" noGrp="1"/>
          </p:cNvSpPr>
          <p:nvPr/>
        </p:nvSpPr>
        <p:spPr>
          <a:xfrm xmlns:a="http://schemas.openxmlformats.org/drawingml/2006/main">
            <a:off x="7886700" y="5067300"/>
            <a:ext cx="1514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파일 업로드</a:t>
            </a:r>
          </a:p>
          <a:p xmlns:a="http://schemas.openxmlformats.org/drawingml/2006/main">
            <a:pPr>
              <a:defRPr sz="1350" b="0">
                <a:solidFill>
                  <a:srgbClr val="9D791F"/>
                </a:solidFill>
                <a:latin typeface="Malgun Gothic"/>
                <a:ea typeface="Malgun Gothic"/>
                <a:cs typeface="Malgun Gothic"/>
              </a:defRPr>
            </a:pPr>
            <a:r>
              <a:rPr sz="1350" b="0">
                <a:solidFill>
                  <a:srgbClr val="9D791F"/>
                </a:solidFill>
                <a:latin typeface="Malgun Gothic"/>
                <a:ea typeface="Malgun Gothic"/>
                <a:cs typeface="Malgun Gothic"/>
              </a:rPr>
              <a:t>결과 파일 조회</a:t>
            </a:r>
          </a:p>
        </p:txBody>
      </p:sp>
      <p:sp>
        <p:nvSpPr>
          <p:cNvPr id="57" name="메타데이터 DB 아이콘">
            <a:extLst xmlns:a="http://schemas.openxmlformats.org/drawingml/2006/main">
              <a:ext uri="{FF2B5EF4-FFF2-40B4-BE49-F238E27FC236}">
                <a16:creationId xmlns:a16="http://schemas.microsoft.com/office/drawing/2014/main" id="{A9926D8E-B9F1-4250-BA47-20927211F2F1}"/>
              </a:ext>
            </a:extLst>
          </p:cNvPr>
          <p:cNvSpPr>
            <a:spLocks xmlns:a="http://schemas.openxmlformats.org/drawingml/2006/main" noGrp="1"/>
          </p:cNvSpPr>
          <p:nvPr/>
        </p:nvSpPr>
        <p:spPr>
          <a:xfrm xmlns:a="http://schemas.openxmlformats.org/drawingml/2006/main">
            <a:off x="4543425" y="5648325"/>
            <a:ext cx="714375" cy="657225"/>
          </a:xfrm>
          <a:prstGeom xmlns:a="http://schemas.openxmlformats.org/drawingml/2006/main" prst="can">
            <a:avLst/>
          </a:prstGeom>
          <a:solidFill xmlns:a="http://schemas.openxmlformats.org/drawingml/2006/main">
            <a:srgbClr val="C9ECE5"/>
          </a:solidFill>
          <a:ln xmlns:a="http://schemas.openxmlformats.org/drawingml/2006/main" w="19050">
            <a:solidFill>
              <a:srgbClr val="087F8C"/>
            </a:solidFill>
          </a:ln>
        </p:spPr>
      </p:sp>
      <p:sp>
        <p:nvSpPr>
          <p:cNvPr id="58" name="메타데이터 DB">
            <a:extLst xmlns:a="http://schemas.openxmlformats.org/drawingml/2006/main">
              <a:ext uri="{FF2B5EF4-FFF2-40B4-BE49-F238E27FC236}">
                <a16:creationId xmlns:a16="http://schemas.microsoft.com/office/drawing/2014/main" id="{66619EC3-D94D-4873-89EE-FF9AE928165B}"/>
              </a:ext>
            </a:extLst>
          </p:cNvPr>
          <p:cNvSpPr>
            <a:spLocks xmlns:a="http://schemas.openxmlformats.org/drawingml/2006/main" noGrp="1"/>
          </p:cNvSpPr>
          <p:nvPr/>
        </p:nvSpPr>
        <p:spPr>
          <a:xfrm xmlns:a="http://schemas.openxmlformats.org/drawingml/2006/main">
            <a:off x="5448300" y="555307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F8C"/>
                </a:solidFill>
                <a:latin typeface="Malgun Gothic"/>
                <a:ea typeface="Malgun Gothic"/>
                <a:cs typeface="Malgun Gothic"/>
              </a:defRPr>
            </a:pPr>
            <a:r>
              <a:rPr sz="1725" b="1">
                <a:solidFill>
                  <a:srgbClr val="087F8C"/>
                </a:solidFill>
                <a:latin typeface="Malgun Gothic"/>
                <a:ea typeface="Malgun Gothic"/>
                <a:cs typeface="Malgun Gothic"/>
              </a:rPr>
              <a:t>메타데이터 DB</a:t>
            </a:r>
          </a:p>
        </p:txBody>
      </p:sp>
      <p:sp>
        <p:nvSpPr>
          <p:cNvPr id="59" name="클래스·관측 근거 투어·변화·상태">
            <a:extLst xmlns:a="http://schemas.openxmlformats.org/drawingml/2006/main">
              <a:ext uri="{FF2B5EF4-FFF2-40B4-BE49-F238E27FC236}">
                <a16:creationId xmlns:a16="http://schemas.microsoft.com/office/drawing/2014/main" id="{CBE9A23D-9A28-4087-B03C-0FA4F25B6EBD}"/>
              </a:ext>
            </a:extLst>
          </p:cNvPr>
          <p:cNvSpPr>
            <a:spLocks xmlns:a="http://schemas.openxmlformats.org/drawingml/2006/main" noGrp="1"/>
          </p:cNvSpPr>
          <p:nvPr/>
        </p:nvSpPr>
        <p:spPr>
          <a:xfrm xmlns:a="http://schemas.openxmlformats.org/drawingml/2006/main">
            <a:off x="5448300" y="59055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클래스·관측 근거</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투어·변화·상태</a:t>
            </a:r>
          </a:p>
        </p:txBody>
      </p:sp>
      <p:sp>
        <p:nvSpPr>
          <p:cNvPr id="60" name="폴더 탭">
            <a:extLst xmlns:a="http://schemas.openxmlformats.org/drawingml/2006/main">
              <a:ext uri="{FF2B5EF4-FFF2-40B4-BE49-F238E27FC236}">
                <a16:creationId xmlns:a16="http://schemas.microsoft.com/office/drawing/2014/main" id="{778A3AD9-BDE0-4B34-9EA1-C7CA845C8A08}"/>
              </a:ext>
            </a:extLst>
          </p:cNvPr>
          <p:cNvSpPr>
            <a:spLocks xmlns:a="http://schemas.openxmlformats.org/drawingml/2006/main" noGrp="1"/>
          </p:cNvSpPr>
          <p:nvPr/>
        </p:nvSpPr>
        <p:spPr>
          <a:xfrm xmlns:a="http://schemas.openxmlformats.org/drawingml/2006/main">
            <a:off x="8696325" y="5734050"/>
            <a:ext cx="295275" cy="180975"/>
          </a:xfrm>
          <a:prstGeom xmlns:a="http://schemas.openxmlformats.org/drawingml/2006/main" prst="rect">
            <a:avLst/>
          </a:prstGeom>
          <a:solidFill xmlns:a="http://schemas.openxmlformats.org/drawingml/2006/main">
            <a:srgbClr val="E5B653"/>
          </a:solidFill>
          <a:ln xmlns:a="http://schemas.openxmlformats.org/drawingml/2006/main" w="14288">
            <a:solidFill>
              <a:srgbClr val="B87B17"/>
            </a:solidFill>
          </a:ln>
        </p:spPr>
      </p:sp>
      <p:sp>
        <p:nvSpPr>
          <p:cNvPr id="61" name="폴더 뒷면">
            <a:extLst xmlns:a="http://schemas.openxmlformats.org/drawingml/2006/main">
              <a:ext uri="{FF2B5EF4-FFF2-40B4-BE49-F238E27FC236}">
                <a16:creationId xmlns:a16="http://schemas.microsoft.com/office/drawing/2014/main" id="{DB4E71E3-448D-4593-8A67-75FA0A0E524E}"/>
              </a:ext>
            </a:extLst>
          </p:cNvPr>
          <p:cNvSpPr>
            <a:spLocks xmlns:a="http://schemas.openxmlformats.org/drawingml/2006/main" noGrp="1"/>
          </p:cNvSpPr>
          <p:nvPr/>
        </p:nvSpPr>
        <p:spPr>
          <a:xfrm xmlns:a="http://schemas.openxmlformats.org/drawingml/2006/main">
            <a:off x="8696325" y="5838825"/>
            <a:ext cx="828675" cy="466725"/>
          </a:xfrm>
          <a:prstGeom xmlns:a="http://schemas.openxmlformats.org/drawingml/2006/main" prst="roundRect">
            <a:avLst>
              <a:gd name="adj" fmla="val 16327"/>
            </a:avLst>
          </a:prstGeom>
          <a:solidFill xmlns:a="http://schemas.openxmlformats.org/drawingml/2006/main">
            <a:srgbClr val="F5D88B"/>
          </a:solidFill>
          <a:ln xmlns:a="http://schemas.openxmlformats.org/drawingml/2006/main" w="14288">
            <a:solidFill>
              <a:srgbClr val="B87B17"/>
            </a:solidFill>
          </a:ln>
        </p:spPr>
      </p:sp>
      <p:sp>
        <p:nvSpPr>
          <p:cNvPr id="62" name="파일 뒤">
            <a:extLst xmlns:a="http://schemas.openxmlformats.org/drawingml/2006/main">
              <a:ext uri="{FF2B5EF4-FFF2-40B4-BE49-F238E27FC236}">
                <a16:creationId xmlns:a16="http://schemas.microsoft.com/office/drawing/2014/main" id="{FCFBE535-83FD-4749-A308-4AC850CD3D03}"/>
              </a:ext>
            </a:extLst>
          </p:cNvPr>
          <p:cNvSpPr>
            <a:spLocks xmlns:a="http://schemas.openxmlformats.org/drawingml/2006/main" noGrp="1"/>
          </p:cNvSpPr>
          <p:nvPr/>
        </p:nvSpPr>
        <p:spPr>
          <a:xfrm xmlns:a="http://schemas.openxmlformats.org/drawingml/2006/main">
            <a:off x="8991600" y="5610225"/>
            <a:ext cx="4095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3" name="파일 앞">
            <a:extLst xmlns:a="http://schemas.openxmlformats.org/drawingml/2006/main">
              <a:ext uri="{FF2B5EF4-FFF2-40B4-BE49-F238E27FC236}">
                <a16:creationId xmlns:a16="http://schemas.microsoft.com/office/drawing/2014/main" id="{FDBDF2A0-A590-491C-9794-28E0A236F485}"/>
              </a:ext>
            </a:extLst>
          </p:cNvPr>
          <p:cNvSpPr>
            <a:spLocks xmlns:a="http://schemas.openxmlformats.org/drawingml/2006/main" noGrp="1"/>
          </p:cNvSpPr>
          <p:nvPr/>
        </p:nvSpPr>
        <p:spPr>
          <a:xfrm xmlns:a="http://schemas.openxmlformats.org/drawingml/2006/main">
            <a:off x="8810625" y="5695950"/>
            <a:ext cx="409575" cy="485775"/>
          </a:xfrm>
          <a:prstGeom xmlns:a="http://schemas.openxmlformats.org/drawingml/2006/main" prst="rect">
            <a:avLst/>
          </a:prstGeom>
          <a:solidFill xmlns:a="http://schemas.openxmlformats.org/drawingml/2006/main">
            <a:srgbClr val="FFFFFF"/>
          </a:solidFill>
          <a:ln xmlns:a="http://schemas.openxmlformats.org/drawingml/2006/main" w="14288">
            <a:solidFill>
              <a:srgbClr val="6588B0"/>
            </a:solidFill>
          </a:ln>
        </p:spPr>
      </p:sp>
      <p:sp>
        <p:nvSpPr>
          <p:cNvPr id="64" name="파일 내용 1">
            <a:extLst xmlns:a="http://schemas.openxmlformats.org/drawingml/2006/main">
              <a:ext uri="{FF2B5EF4-FFF2-40B4-BE49-F238E27FC236}">
                <a16:creationId xmlns:a16="http://schemas.microsoft.com/office/drawing/2014/main" id="{A7DC49BB-D6C9-4088-9EBB-93FFC1B31DBE}"/>
              </a:ext>
            </a:extLst>
          </p:cNvPr>
          <p:cNvSpPr>
            <a:spLocks xmlns:a="http://schemas.openxmlformats.org/drawingml/2006/main" noGrp="1"/>
          </p:cNvSpPr>
          <p:nvPr/>
        </p:nvSpPr>
        <p:spPr>
          <a:xfrm xmlns:a="http://schemas.openxmlformats.org/drawingml/2006/main">
            <a:off x="8896350" y="5810250"/>
            <a:ext cx="2286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5" name="파일 내용 2">
            <a:extLst xmlns:a="http://schemas.openxmlformats.org/drawingml/2006/main">
              <a:ext uri="{FF2B5EF4-FFF2-40B4-BE49-F238E27FC236}">
                <a16:creationId xmlns:a16="http://schemas.microsoft.com/office/drawing/2014/main" id="{9D7BB66D-EB46-4837-90A7-DF7474280CB5}"/>
              </a:ext>
            </a:extLst>
          </p:cNvPr>
          <p:cNvSpPr>
            <a:spLocks xmlns:a="http://schemas.openxmlformats.org/drawingml/2006/main" noGrp="1"/>
          </p:cNvSpPr>
          <p:nvPr/>
        </p:nvSpPr>
        <p:spPr>
          <a:xfrm xmlns:a="http://schemas.openxmlformats.org/drawingml/2006/main">
            <a:off x="8896350" y="5895975"/>
            <a:ext cx="190500" cy="19050"/>
          </a:xfrm>
          <a:prstGeom xmlns:a="http://schemas.openxmlformats.org/drawingml/2006/main" prst="rect">
            <a:avLst/>
          </a:prstGeom>
          <a:solidFill xmlns:a="http://schemas.openxmlformats.org/drawingml/2006/main">
            <a:srgbClr val="8AA7C5"/>
          </a:solidFill>
          <a:ln xmlns:a="http://schemas.openxmlformats.org/drawingml/2006/main" w="0">
            <a:noFill/>
          </a:ln>
        </p:spPr>
      </p:sp>
      <p:sp>
        <p:nvSpPr>
          <p:cNvPr id="66" name="폴더 앞면">
            <a:extLst xmlns:a="http://schemas.openxmlformats.org/drawingml/2006/main">
              <a:ext uri="{FF2B5EF4-FFF2-40B4-BE49-F238E27FC236}">
                <a16:creationId xmlns:a16="http://schemas.microsoft.com/office/drawing/2014/main" id="{91D91D1E-3633-43B9-A092-C73A10BC00A8}"/>
              </a:ext>
            </a:extLst>
          </p:cNvPr>
          <p:cNvSpPr>
            <a:spLocks xmlns:a="http://schemas.openxmlformats.org/drawingml/2006/main" noGrp="1"/>
          </p:cNvSpPr>
          <p:nvPr/>
        </p:nvSpPr>
        <p:spPr>
          <a:xfrm xmlns:a="http://schemas.openxmlformats.org/drawingml/2006/main">
            <a:off x="8677275" y="5981700"/>
            <a:ext cx="866775" cy="333375"/>
          </a:xfrm>
          <a:prstGeom xmlns:a="http://schemas.openxmlformats.org/drawingml/2006/main" prst="roundRect">
            <a:avLst>
              <a:gd name="adj" fmla="val 22857"/>
            </a:avLst>
          </a:prstGeom>
          <a:solidFill xmlns:a="http://schemas.openxmlformats.org/drawingml/2006/main">
            <a:srgbClr val="F4CC70"/>
          </a:solidFill>
          <a:ln xmlns:a="http://schemas.openxmlformats.org/drawingml/2006/main" w="14288">
            <a:solidFill>
              <a:srgbClr val="B87B17"/>
            </a:solidFill>
          </a:ln>
        </p:spPr>
      </p:sp>
      <p:sp>
        <p:nvSpPr>
          <p:cNvPr id="67" name="파일 저장소">
            <a:extLst xmlns:a="http://schemas.openxmlformats.org/drawingml/2006/main">
              <a:ext uri="{FF2B5EF4-FFF2-40B4-BE49-F238E27FC236}">
                <a16:creationId xmlns:a16="http://schemas.microsoft.com/office/drawing/2014/main" id="{12182621-E44E-494D-AB0B-6ED2B9BF053C}"/>
              </a:ext>
            </a:extLst>
          </p:cNvPr>
          <p:cNvSpPr>
            <a:spLocks xmlns:a="http://schemas.openxmlformats.org/drawingml/2006/main" noGrp="1"/>
          </p:cNvSpPr>
          <p:nvPr/>
        </p:nvSpPr>
        <p:spPr>
          <a:xfrm xmlns:a="http://schemas.openxmlformats.org/drawingml/2006/main">
            <a:off x="9715500" y="55530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96D13"/>
                </a:solidFill>
                <a:latin typeface="Malgun Gothic"/>
                <a:ea typeface="Malgun Gothic"/>
                <a:cs typeface="Malgun Gothic"/>
              </a:defRPr>
            </a:pPr>
            <a:r>
              <a:rPr sz="1725" b="1">
                <a:solidFill>
                  <a:srgbClr val="A96D13"/>
                </a:solidFill>
                <a:latin typeface="Malgun Gothic"/>
                <a:ea typeface="Malgun Gothic"/>
                <a:cs typeface="Malgun Gothic"/>
              </a:rPr>
              <a:t>파일 저장소</a:t>
            </a:r>
          </a:p>
        </p:txBody>
      </p:sp>
      <p:sp>
        <p:nvSpPr>
          <p:cNvPr id="68" name="깊이·점군·영상 카메라·결과">
            <a:extLst xmlns:a="http://schemas.openxmlformats.org/drawingml/2006/main">
              <a:ext uri="{FF2B5EF4-FFF2-40B4-BE49-F238E27FC236}">
                <a16:creationId xmlns:a16="http://schemas.microsoft.com/office/drawing/2014/main" id="{E36DE768-1037-4976-902E-DD9C0CDBC45C}"/>
              </a:ext>
            </a:extLst>
          </p:cNvPr>
          <p:cNvSpPr>
            <a:spLocks xmlns:a="http://schemas.openxmlformats.org/drawingml/2006/main" noGrp="1"/>
          </p:cNvSpPr>
          <p:nvPr/>
        </p:nvSpPr>
        <p:spPr>
          <a:xfrm xmlns:a="http://schemas.openxmlformats.org/drawingml/2006/main">
            <a:off x="9715500" y="590550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깊이·점군·영상</a:t>
            </a:r>
          </a:p>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카메라·결과</a:t>
            </a:r>
          </a:p>
        </p:txBody>
      </p:sp>
    </p:spTree>
    <p:extLst>
      <p:ext uri="{BB962C8B-B14F-4D97-AF65-F5344CB8AC3E}">
        <p14:creationId xmlns:p14="http://schemas.microsoft.com/office/powerpoint/2010/main" val="385462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태스크별 담당자">
            <a:extLst xmlns:a="http://schemas.openxmlformats.org/drawingml/2006/main">
              <a:ext uri="{FF2B5EF4-FFF2-40B4-BE49-F238E27FC236}">
                <a16:creationId xmlns:a16="http://schemas.microsoft.com/office/drawing/2014/main" id="{6A786CA9-5DAE-49C1-9139-D738E54A2DEC}"/>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태스크별 담당자</a:t>
            </a:r>
          </a:p>
        </p:txBody>
      </p:sp>
      <p:sp>
        <p:nvSpPr>
          <p:cNvPr id="2" name="공통 데이터 규격을 기준으로 병렬 개발">
            <a:extLst xmlns:a="http://schemas.openxmlformats.org/drawingml/2006/main">
              <a:ext uri="{FF2B5EF4-FFF2-40B4-BE49-F238E27FC236}">
                <a16:creationId xmlns:a16="http://schemas.microsoft.com/office/drawing/2014/main" id="{90AC1D6B-B0F1-462A-A3D6-E100CE21000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공통 데이터 규격을 기준으로 병렬 개발</a:t>
            </a:r>
          </a:p>
        </p:txBody>
      </p:sp>
      <p:sp>
        <p:nvSpPr>
          <p:cNvPr id="3" name="복원 결과를 샘플로 공유하고, 의미 지도·투어·웹을 병렬로 연결합니다">
            <a:extLst xmlns:a="http://schemas.openxmlformats.org/drawingml/2006/main">
              <a:ext uri="{FF2B5EF4-FFF2-40B4-BE49-F238E27FC236}">
                <a16:creationId xmlns:a16="http://schemas.microsoft.com/office/drawing/2014/main" id="{E946774B-BAB1-4A83-8312-C6E051637C10}"/>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복원 결과를 샘플로 공유하고, 의미 지도·투어·웹을 병렬로 연결합니다</a:t>
            </a:r>
          </a:p>
        </p:txBody>
      </p:sp>
      <p:sp>
        <p:nvSpPr>
          <p:cNvPr id="4" name="SpaceWatch3D  ·  산학협력프로젝트 계획발표">
            <a:extLst xmlns:a="http://schemas.openxmlformats.org/drawingml/2006/main">
              <a:ext uri="{FF2B5EF4-FFF2-40B4-BE49-F238E27FC236}">
                <a16:creationId xmlns:a16="http://schemas.microsoft.com/office/drawing/2014/main" id="{F5D773E0-DC1A-4402-87CC-15D196A8F20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0">
            <a:extLst xmlns:a="http://schemas.openxmlformats.org/drawingml/2006/main">
              <a:ext uri="{FF2B5EF4-FFF2-40B4-BE49-F238E27FC236}">
                <a16:creationId xmlns:a16="http://schemas.microsoft.com/office/drawing/2014/main" id="{EA61C95F-C065-4279-94D5-1552158D5A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14</a:t>
            </a:r>
          </a:p>
        </p:txBody>
      </p:sp>
      <p:graphicFrame>
        <p:nvGraphicFramePr>
          <p:cNvPr id="13" name=""/>
          <p:cNvGraphicFramePr/>
          <p:nvPr/>
        </p:nvGraphicFramePr>
        <p:xfrm>
          <a:off xmlns:a="http://schemas.openxmlformats.org/drawingml/2006/main" x="609600" y="2314575"/>
          <a:ext xmlns:a="http://schemas.openxmlformats.org/drawingml/2006/main" cx="10972800" cy="3314700"/>
        </p:xfrm>
        <a:graphic xmlns:a="http://schemas.openxmlformats.org/drawingml/2006/main">
          <a:graphicData uri="http://schemas.openxmlformats.org/drawingml/2006/table">
            <a:tbl>
              <a:tblPr/>
              <a:tblGrid>
                <a:gridCol w="3571875"/>
                <a:gridCol w="5457825"/>
                <a:gridCol w="1943100"/>
              </a:tblGrid>
              <a:tr h="552450">
                <a:tc>
                  <a:txBody>
                    <a:bodyPr lIns="152400" tIns="114300" rIns="114300" bIns="95250"/>
                    <a:lstStyle/>
                    <a:p>
                      <a:r>
                        <a:rPr sz="1875" b="1">
                          <a:solidFill>
                            <a:srgbClr val="FFFFFF"/>
                          </a:solidFill>
                          <a:latin typeface="Malgun Gothic"/>
                          <a:ea typeface="Malgun Gothic"/>
                          <a:cs typeface="Malgun Gothic"/>
                        </a:rPr>
                        <a:t>모듈</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주요 출력</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담당안</a:t>
                      </a:r>
                    </a:p>
                  </a:txBody>
                  <a:tcPr marL="91440" marR="91440" marT="45720" marB="45720" anchor="ctr">
                    <a:solidFill>
                      <a:srgbClr val="102644"/>
                    </a:solidFill>
                  </a:tcPr>
                </a:tc>
              </a:tr>
              <a:tr h="552450">
                <a:tc>
                  <a:txBody>
                    <a:bodyPr lIns="152400" tIns="114300" rIns="114300" bIns="95250"/>
                    <a:lstStyle/>
                    <a:p>
                      <a:r>
                        <a:rPr sz="1875" b="0">
                          <a:solidFill>
                            <a:srgbClr val="102A43"/>
                          </a:solidFill>
                          <a:latin typeface="Malgun Gothic"/>
                          <a:ea typeface="Malgun Gothic"/>
                          <a:cs typeface="Malgun Gothic"/>
                        </a:rPr>
                        <a:t>영상·SfM·MVS</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자세·깊이·조밀 점군</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김동주</a:t>
                      </a:r>
                    </a:p>
                  </a:txBody>
                  <a:tcPr marL="91440" marR="91440" marT="45720" marB="45720" anchor="ctr">
                    <a:solidFill>
                      <a:srgbClr val="FFFFFF"/>
                    </a:solidFill>
                  </a:tcPr>
                </a:tc>
              </a:tr>
              <a:tr h="552450">
                <a:tc>
                  <a:txBody>
                    <a:bodyPr lIns="152400" tIns="114300" rIns="114300" bIns="95250"/>
                    <a:lstStyle/>
                    <a:p>
                      <a:r>
                        <a:rPr sz="1875" b="0">
                          <a:solidFill>
                            <a:srgbClr val="102A43"/>
                          </a:solidFill>
                          <a:latin typeface="Malgun Gothic"/>
                          <a:ea typeface="Malgun Gothic"/>
                          <a:cs typeface="Malgun Gothic"/>
                        </a:rPr>
                        <a:t>키프레임·투어</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대표 장면·이동 링크</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이태훈</a:t>
                      </a:r>
                    </a:p>
                  </a:txBody>
                  <a:tcPr marL="91440" marR="91440" marT="45720" marB="45720" anchor="ctr">
                    <a:solidFill>
                      <a:srgbClr val="F5F8FC"/>
                    </a:solidFill>
                  </a:tcPr>
                </a:tc>
              </a:tr>
              <a:tr h="552450">
                <a:tc>
                  <a:txBody>
                    <a:bodyPr lIns="152400" tIns="114300" rIns="114300" bIns="95250"/>
                    <a:lstStyle/>
                    <a:p>
                      <a:r>
                        <a:rPr sz="1875" b="0">
                          <a:solidFill>
                            <a:srgbClr val="102A43"/>
                          </a:solidFill>
                          <a:latin typeface="Malgun Gothic"/>
                          <a:ea typeface="Malgun Gothic"/>
                          <a:cs typeface="Malgun Gothic"/>
                        </a:rPr>
                        <a:t>2D–3D 대응·회차 정합</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관측 연결·좌표/스케일 변환</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임현우</a:t>
                      </a:r>
                    </a:p>
                  </a:txBody>
                  <a:tcPr marL="91440" marR="91440" marT="45720" marB="45720" anchor="ctr">
                    <a:solidFill>
                      <a:srgbClr val="FFFFFF"/>
                    </a:solidFill>
                  </a:tcPr>
                </a:tc>
              </a:tr>
              <a:tr h="552450">
                <a:tc>
                  <a:txBody>
                    <a:bodyPr lIns="152400" tIns="114300" rIns="114300" bIns="95250"/>
                    <a:lstStyle/>
                    <a:p>
                      <a:r>
                        <a:rPr sz="1875" b="0">
                          <a:solidFill>
                            <a:srgbClr val="102A43"/>
                          </a:solidFill>
                          <a:latin typeface="Malgun Gothic"/>
                          <a:ea typeface="Malgun Gothic"/>
                          <a:cs typeface="Malgun Gothic"/>
                        </a:rPr>
                        <a:t>의미 지도·변화 분석</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분할·라벨 통합·변화 후보</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서관우</a:t>
                      </a:r>
                    </a:p>
                  </a:txBody>
                  <a:tcPr marL="91440" marR="91440" marT="45720" marB="45720" anchor="ctr">
                    <a:solidFill>
                      <a:srgbClr val="F5F8FC"/>
                    </a:solidFill>
                  </a:tcPr>
                </a:tc>
              </a:tr>
              <a:tr h="552450">
                <a:tc>
                  <a:txBody>
                    <a:bodyPr lIns="152400" tIns="114300" rIns="114300" bIns="95250"/>
                    <a:lstStyle/>
                    <a:p>
                      <a:r>
                        <a:rPr sz="1875" b="0">
                          <a:solidFill>
                            <a:srgbClr val="102A43"/>
                          </a:solidFill>
                          <a:latin typeface="Malgun Gothic"/>
                          <a:ea typeface="Malgun Gothic"/>
                          <a:cs typeface="Malgun Gothic"/>
                        </a:rPr>
                        <a:t>웹·서비스</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가상투어·지도·변화 이력 조회</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시한결</a:t>
                      </a:r>
                    </a:p>
                  </a:txBody>
                  <a:tcPr marL="91440" marR="91440" marT="45720" marB="45720" anchor="ctr">
                    <a:solidFill>
                      <a:srgbClr val="FFFFFF"/>
                    </a:solidFill>
                  </a:tcPr>
                </a:tc>
              </a:tr>
            </a:tbl>
          </a:graphicData>
        </a:graphic>
      </p:graphicFrame>
      <p:sp>
        <p:nvSpPr>
          <p:cNvPr id="7" name="역할은 임의로 배정한 초안이며, 진행 상황과 팀 협의에 따라 유동적으로 변경됩니다.">
            <a:extLst xmlns:a="http://schemas.openxmlformats.org/drawingml/2006/main">
              <a:ext uri="{FF2B5EF4-FFF2-40B4-BE49-F238E27FC236}">
                <a16:creationId xmlns:a16="http://schemas.microsoft.com/office/drawing/2014/main" id="{35C15B2A-5807-4E8D-A98C-32D1E4B3CF30}"/>
              </a:ext>
            </a:extLst>
          </p:cNvPr>
          <p:cNvSpPr>
            <a:spLocks xmlns:a="http://schemas.openxmlformats.org/drawingml/2006/main" noGrp="1"/>
          </p:cNvSpPr>
          <p:nvPr/>
        </p:nvSpPr>
        <p:spPr>
          <a:xfrm xmlns:a="http://schemas.openxmlformats.org/drawingml/2006/main">
            <a:off x="609600" y="58388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577"/>
                </a:solidFill>
                <a:latin typeface="Malgun Gothic"/>
                <a:ea typeface="Malgun Gothic"/>
                <a:cs typeface="Malgun Gothic"/>
              </a:defRPr>
            </a:pPr>
            <a:r>
              <a:rPr sz="1650" b="0">
                <a:solidFill>
                  <a:srgbClr val="526577"/>
                </a:solidFill>
                <a:latin typeface="Malgun Gothic"/>
                <a:ea typeface="Malgun Gothic"/>
                <a:cs typeface="Malgun Gothic"/>
              </a:rPr>
              <a:t>역할은 임의로 배정한 초안이며, 진행 상황과 팀 협의에 따라 유동적으로 변경됩니다.</a:t>
            </a:r>
          </a:p>
        </p:txBody>
      </p:sp>
    </p:spTree>
    <p:extLst>
      <p:ext uri="{BB962C8B-B14F-4D97-AF65-F5344CB8AC3E}">
        <p14:creationId xmlns:p14="http://schemas.microsoft.com/office/powerpoint/2010/main" val="14255198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내용 및 추진방법 / 검증 계획">
            <a:extLst xmlns:a="http://schemas.openxmlformats.org/drawingml/2006/main">
              <a:ext uri="{FF2B5EF4-FFF2-40B4-BE49-F238E27FC236}">
                <a16:creationId xmlns:a16="http://schemas.microsoft.com/office/drawing/2014/main" id="{898598D6-8754-4BF9-8996-278E9D27605A}"/>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과제내용 및 추진방법 / 검증 계획</a:t>
            </a:r>
          </a:p>
        </p:txBody>
      </p:sp>
      <p:sp>
        <p:nvSpPr>
          <p:cNvPr id="2" name="복원·의미 연결·변화 탐지를 단계별로 검증">
            <a:extLst xmlns:a="http://schemas.openxmlformats.org/drawingml/2006/main">
              <a:ext uri="{FF2B5EF4-FFF2-40B4-BE49-F238E27FC236}">
                <a16:creationId xmlns:a16="http://schemas.microsoft.com/office/drawing/2014/main" id="{49FDD586-90D7-4694-A020-E64F9ED8D1A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복원·의미 연결·변화 탐지를 단계별로 검증</a:t>
            </a:r>
          </a:p>
        </p:txBody>
      </p:sp>
      <p:sp>
        <p:nvSpPr>
          <p:cNvPr id="3" name="논문 주제와 작성 방향은 지도교수님과 협의합니다">
            <a:extLst xmlns:a="http://schemas.openxmlformats.org/drawingml/2006/main">
              <a:ext uri="{FF2B5EF4-FFF2-40B4-BE49-F238E27FC236}">
                <a16:creationId xmlns:a16="http://schemas.microsoft.com/office/drawing/2014/main" id="{1253F106-3356-4835-A109-19F28FE25EDA}"/>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논문 주제와 작성 방향은 지도교수님과 협의합니다</a:t>
            </a:r>
          </a:p>
        </p:txBody>
      </p:sp>
      <p:sp>
        <p:nvSpPr>
          <p:cNvPr id="4" name="SpaceWatch3D  ·  산학협력프로젝트 계획발표">
            <a:extLst xmlns:a="http://schemas.openxmlformats.org/drawingml/2006/main">
              <a:ext uri="{FF2B5EF4-FFF2-40B4-BE49-F238E27FC236}">
                <a16:creationId xmlns:a16="http://schemas.microsoft.com/office/drawing/2014/main" id="{6C740781-610E-4874-82B9-2E401EDA112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6">
            <a:extLst xmlns:a="http://schemas.openxmlformats.org/drawingml/2006/main">
              <a:ext uri="{FF2B5EF4-FFF2-40B4-BE49-F238E27FC236}">
                <a16:creationId xmlns:a16="http://schemas.microsoft.com/office/drawing/2014/main" id="{1257DDC4-F4E9-4C02-9A9A-8241372CA3F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15</a:t>
            </a:r>
          </a:p>
        </p:txBody>
      </p:sp>
      <p:graphicFrame>
        <p:nvGraphicFramePr>
          <p:cNvPr id="13" name=""/>
          <p:cNvGraphicFramePr/>
          <p:nvPr/>
        </p:nvGraphicFramePr>
        <p:xfrm>
          <a:off xmlns:a="http://schemas.openxmlformats.org/drawingml/2006/main" x="609600" y="2371725"/>
          <a:ext xmlns:a="http://schemas.openxmlformats.org/drawingml/2006/main" cx="10972800" cy="3371850"/>
        </p:xfrm>
        <a:graphic xmlns:a="http://schemas.openxmlformats.org/drawingml/2006/main">
          <a:graphicData uri="http://schemas.openxmlformats.org/drawingml/2006/table">
            <a:tbl>
              <a:tblPr/>
              <a:tblGrid>
                <a:gridCol w="2505075"/>
                <a:gridCol w="4638675"/>
                <a:gridCol w="3829050"/>
              </a:tblGrid>
              <a:tr h="561975">
                <a:tc>
                  <a:txBody>
                    <a:bodyPr lIns="152400" tIns="114300" rIns="114300" bIns="95250"/>
                    <a:lstStyle/>
                    <a:p>
                      <a:r>
                        <a:rPr sz="1800" b="1">
                          <a:solidFill>
                            <a:srgbClr val="FFFFFF"/>
                          </a:solidFill>
                          <a:latin typeface="Malgun Gothic"/>
                          <a:ea typeface="Malgun Gothic"/>
                          <a:cs typeface="Malgun Gothic"/>
                        </a:rPr>
                        <a:t>검증 대상</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실험 구성</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평가 지표</a:t>
                      </a:r>
                    </a:p>
                  </a:txBody>
                  <a:tcPr marL="91440" marR="91440" marT="45720" marB="45720" anchor="ctr">
                    <a:solidFill>
                      <a:srgbClr val="102644"/>
                    </a:solidFill>
                  </a:tcPr>
                </a:tc>
              </a:tr>
              <a:tr h="561975">
                <a:tc>
                  <a:txBody>
                    <a:bodyPr lIns="152400" tIns="114300" rIns="114300" bIns="95250"/>
                    <a:lstStyle/>
                    <a:p>
                      <a:r>
                        <a:rPr sz="1800" b="0">
                          <a:solidFill>
                            <a:srgbClr val="102A43"/>
                          </a:solidFill>
                          <a:latin typeface="Malgun Gothic"/>
                          <a:ea typeface="Malgun Gothic"/>
                          <a:cs typeface="Malgun Gothic"/>
                        </a:rPr>
                        <a:t>공간 복원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정답 궤적/깊이와 스케일 정렬</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궤적·깊이 오차·등록률</a:t>
                      </a:r>
                    </a:p>
                  </a:txBody>
                  <a:tcPr marL="91440" marR="91440" marT="45720" marB="45720" anchor="ctr">
                    <a:solidFill>
                      <a:srgbClr val="FFFFFF"/>
                    </a:solidFill>
                  </a:tcPr>
                </a:tc>
              </a:tr>
              <a:tr h="561975">
                <a:tc>
                  <a:txBody>
                    <a:bodyPr lIns="152400" tIns="114300" rIns="114300" bIns="95250"/>
                    <a:lstStyle/>
                    <a:p>
                      <a:r>
                        <a:rPr sz="1800" b="0">
                          <a:solidFill>
                            <a:srgbClr val="102A43"/>
                          </a:solidFill>
                          <a:latin typeface="Malgun Gothic"/>
                          <a:ea typeface="Malgun Gothic"/>
                          <a:cs typeface="Malgun Gothic"/>
                        </a:rPr>
                        <a:t>2D–3D 의미 연결</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깊이 가림 검사 적용 전후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라벨 정확도·오연결률</a:t>
                      </a:r>
                    </a:p>
                  </a:txBody>
                  <a:tcPr marL="91440" marR="91440" marT="45720" marB="45720" anchor="ctr">
                    <a:solidFill>
                      <a:srgbClr val="F5F8FC"/>
                    </a:solidFill>
                  </a:tcPr>
                </a:tc>
              </a:tr>
              <a:tr h="561975">
                <a:tc>
                  <a:txBody>
                    <a:bodyPr lIns="152400" tIns="114300" rIns="114300" bIns="95250"/>
                    <a:lstStyle/>
                    <a:p>
                      <a:r>
                        <a:rPr sz="1800" b="0">
                          <a:solidFill>
                            <a:srgbClr val="102A43"/>
                          </a:solidFill>
                          <a:latin typeface="Malgun Gothic"/>
                          <a:ea typeface="Malgun Gothic"/>
                          <a:cs typeface="Malgun Gothic"/>
                        </a:rPr>
                        <a:t>라벨 통합</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단일 관측 / 다중 관측 집계</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클래스별 정확도·unknown</a:t>
                      </a:r>
                    </a:p>
                  </a:txBody>
                  <a:tcPr marL="91440" marR="91440" marT="45720" marB="45720" anchor="ctr">
                    <a:solidFill>
                      <a:srgbClr val="FFFFFF"/>
                    </a:solidFill>
                  </a:tcPr>
                </a:tc>
              </a:tr>
              <a:tr h="561975">
                <a:tc>
                  <a:txBody>
                    <a:bodyPr lIns="152400" tIns="114300" rIns="114300" bIns="95250"/>
                    <a:lstStyle/>
                    <a:p>
                      <a:r>
                        <a:rPr sz="1800" b="0">
                          <a:solidFill>
                            <a:srgbClr val="102A43"/>
                          </a:solidFill>
                          <a:latin typeface="Malgun Gothic"/>
                          <a:ea typeface="Malgun Gothic"/>
                          <a:cs typeface="Malgun Gothic"/>
                        </a:rPr>
                        <a:t>키프레임·투어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균일 추출 / 품질·중첩 선별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관측 영역·연결 오류</a:t>
                      </a:r>
                    </a:p>
                  </a:txBody>
                  <a:tcPr marL="91440" marR="91440" marT="45720" marB="45720" anchor="ctr">
                    <a:solidFill>
                      <a:srgbClr val="F5F8FC"/>
                    </a:solidFill>
                  </a:tcPr>
                </a:tc>
              </a:tr>
              <a:tr h="561975">
                <a:tc>
                  <a:txBody>
                    <a:bodyPr lIns="152400" tIns="114300" rIns="114300" bIns="95250"/>
                    <a:lstStyle/>
                    <a:p>
                      <a:r>
                        <a:rPr sz="1800" b="0">
                          <a:solidFill>
                            <a:srgbClr val="102A43"/>
                          </a:solidFill>
                          <a:latin typeface="Malgun Gothic"/>
                          <a:ea typeface="Malgun Gothic"/>
                          <a:cs typeface="Malgun Gothic"/>
                        </a:rPr>
                        <a:t>촬영 회차 변화</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무변화 / 추가·제거·이동</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정밀도·재현율·가림 오탐</a:t>
                      </a:r>
                    </a:p>
                  </a:txBody>
                  <a:tcPr marL="91440" marR="91440" marT="45720" marB="45720" anchor="ctr">
                    <a:solidFill>
                      <a:srgbClr val="FFFFFF"/>
                    </a:solidFill>
                  </a:tcPr>
                </a:tc>
              </a:tr>
            </a:tbl>
          </a:graphicData>
        </a:graphic>
      </p:graphicFrame>
      <p:sp>
        <p:nvSpPr>
          <p:cNvPr id="7" name="복원 완료와 정확도 검증을 구분하고, 의미 지도 검증 후 회차 비교를 평가">
            <a:extLst xmlns:a="http://schemas.openxmlformats.org/drawingml/2006/main">
              <a:ext uri="{FF2B5EF4-FFF2-40B4-BE49-F238E27FC236}">
                <a16:creationId xmlns:a16="http://schemas.microsoft.com/office/drawing/2014/main" id="{31C7229C-3C95-4D68-840A-68745F057D49}"/>
              </a:ext>
            </a:extLst>
          </p:cNvPr>
          <p:cNvSpPr>
            <a:spLocks xmlns:a="http://schemas.openxmlformats.org/drawingml/2006/main" noGrp="1"/>
          </p:cNvSpPr>
          <p:nvPr/>
        </p:nvSpPr>
        <p:spPr>
          <a:xfrm xmlns:a="http://schemas.openxmlformats.org/drawingml/2006/main">
            <a:off x="609600" y="59245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463EB"/>
                </a:solidFill>
                <a:latin typeface="Malgun Gothic"/>
                <a:ea typeface="Malgun Gothic"/>
                <a:cs typeface="Malgun Gothic"/>
              </a:defRPr>
            </a:pPr>
            <a:r>
              <a:rPr sz="1800" b="1">
                <a:solidFill>
                  <a:srgbClr val="2463EB"/>
                </a:solidFill>
                <a:latin typeface="Malgun Gothic"/>
                <a:ea typeface="Malgun Gothic"/>
                <a:cs typeface="Malgun Gothic"/>
              </a:rPr>
              <a:t>복원 완료와 정확도 검증을 구분하고, 의미 지도 검증 후 회차 비교를 평가</a:t>
            </a:r>
          </a:p>
        </p:txBody>
      </p:sp>
    </p:spTree>
    <p:extLst>
      <p:ext uri="{BB962C8B-B14F-4D97-AF65-F5344CB8AC3E}">
        <p14:creationId xmlns:p14="http://schemas.microsoft.com/office/powerpoint/2010/main" val="267719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간트차트·담당자">
            <a:extLst xmlns:a="http://schemas.openxmlformats.org/drawingml/2006/main">
              <a:ext uri="{FF2B5EF4-FFF2-40B4-BE49-F238E27FC236}">
                <a16:creationId xmlns:a16="http://schemas.microsoft.com/office/drawing/2014/main" id="{E65E1010-E51B-4A07-B43F-7E79B2F1EC2B}"/>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과제추진일정 / 간트차트·담당자</a:t>
            </a:r>
          </a:p>
        </p:txBody>
      </p:sp>
      <p:sp>
        <p:nvSpPr>
          <p:cNvPr id="2" name="의미 지도 검증 후 회차 비교와 360° 입력을 통합합니다">
            <a:extLst xmlns:a="http://schemas.openxmlformats.org/drawingml/2006/main">
              <a:ext uri="{FF2B5EF4-FFF2-40B4-BE49-F238E27FC236}">
                <a16:creationId xmlns:a16="http://schemas.microsoft.com/office/drawing/2014/main" id="{DA3283FA-8331-422D-9882-83E05B652F3C}"/>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의미 지도 검증 후 회차 비교와 360° 입력을 통합합니다</a:t>
            </a:r>
          </a:p>
        </p:txBody>
      </p:sp>
      <p:sp>
        <p:nvSpPr>
          <p:cNvPr id="3" name="9/21 계획발표   10/19 중간발표   12/7 결과발표   12/20 결과보고서">
            <a:extLst xmlns:a="http://schemas.openxmlformats.org/drawingml/2006/main">
              <a:ext uri="{FF2B5EF4-FFF2-40B4-BE49-F238E27FC236}">
                <a16:creationId xmlns:a16="http://schemas.microsoft.com/office/drawing/2014/main" id="{99D72CAE-B912-450C-A56F-2C1F641B1660}"/>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9/21 계획발표   10/19 중간발표   12/7 결과발표   12/20 결과보고서</a:t>
            </a:r>
          </a:p>
        </p:txBody>
      </p:sp>
      <p:sp>
        <p:nvSpPr>
          <p:cNvPr id="4" name="SpaceWatch3D  ·  산학협력프로젝트 계획발표">
            <a:extLst xmlns:a="http://schemas.openxmlformats.org/drawingml/2006/main">
              <a:ext uri="{FF2B5EF4-FFF2-40B4-BE49-F238E27FC236}">
                <a16:creationId xmlns:a16="http://schemas.microsoft.com/office/drawing/2014/main" id="{E6303CA2-4286-46B9-ACF4-80EBC38C9E4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1">
            <a:extLst xmlns:a="http://schemas.openxmlformats.org/drawingml/2006/main">
              <a:ext uri="{FF2B5EF4-FFF2-40B4-BE49-F238E27FC236}">
                <a16:creationId xmlns:a16="http://schemas.microsoft.com/office/drawing/2014/main" id="{EF10E37A-E88A-4E9B-83EB-EAB95714BD4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09600" y="2171700"/>
          <a:ext xmlns:a="http://schemas.openxmlformats.org/drawingml/2006/main" cx="10972800" cy="3714750"/>
        </p:xfrm>
        <a:graphic xmlns:a="http://schemas.openxmlformats.org/drawingml/2006/main">
          <a:graphicData uri="http://schemas.openxmlformats.org/drawingml/2006/table">
            <a:tbl>
              <a:tblPr/>
              <a:tblGrid>
                <a:gridCol w="2457450"/>
                <a:gridCol w="1047750"/>
                <a:gridCol w="1066800"/>
                <a:gridCol w="1066800"/>
                <a:gridCol w="1066800"/>
                <a:gridCol w="1066800"/>
                <a:gridCol w="1066800"/>
                <a:gridCol w="1066800"/>
                <a:gridCol w="1066800"/>
              </a:tblGrid>
              <a:tr h="523875">
                <a:tc>
                  <a:txBody>
                    <a:bodyPr lIns="152400" tIns="114300" rIns="114300" bIns="95250"/>
                    <a:lstStyle/>
                    <a:p>
                      <a:r>
                        <a:rPr sz="1425" b="1">
                          <a:solidFill>
                            <a:srgbClr val="FFFFFF"/>
                          </a:solidFill>
                          <a:latin typeface="Malgun Gothic"/>
                          <a:ea typeface="Malgun Gothic"/>
                          <a:cs typeface="Malgun Gothic"/>
                        </a:rPr>
                        <a:t>태스크</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담당안</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9/14~</a:t>
                      </a:r>
                    </a:p>
                    <a:p>
                      <a:r>
                        <a:rPr sz="1425" b="1">
                          <a:solidFill>
                            <a:srgbClr val="FFFFFF"/>
                          </a:solidFill>
                          <a:latin typeface="Malgun Gothic"/>
                          <a:ea typeface="Malgun Gothic"/>
                          <a:cs typeface="Malgun Gothic"/>
                        </a:rPr>
                        <a:t>9/27</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9/28~</a:t>
                      </a:r>
                    </a:p>
                    <a:p>
                      <a:r>
                        <a:rPr sz="1425" b="1">
                          <a:solidFill>
                            <a:srgbClr val="FFFFFF"/>
                          </a:solidFill>
                          <a:latin typeface="Malgun Gothic"/>
                          <a:ea typeface="Malgun Gothic"/>
                          <a:cs typeface="Malgun Gothic"/>
                        </a:rPr>
                        <a:t>10/11</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10/12~</a:t>
                      </a:r>
                    </a:p>
                    <a:p>
                      <a:r>
                        <a:rPr sz="1425" b="1">
                          <a:solidFill>
                            <a:srgbClr val="FFFFFF"/>
                          </a:solidFill>
                          <a:latin typeface="Malgun Gothic"/>
                          <a:ea typeface="Malgun Gothic"/>
                          <a:cs typeface="Malgun Gothic"/>
                        </a:rPr>
                        <a:t>10/25</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10/26~</a:t>
                      </a:r>
                    </a:p>
                    <a:p>
                      <a:r>
                        <a:rPr sz="1425" b="1">
                          <a:solidFill>
                            <a:srgbClr val="FFFFFF"/>
                          </a:solidFill>
                          <a:latin typeface="Malgun Gothic"/>
                          <a:ea typeface="Malgun Gothic"/>
                          <a:cs typeface="Malgun Gothic"/>
                        </a:rPr>
                        <a:t>11/8</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11/9~</a:t>
                      </a:r>
                    </a:p>
                    <a:p>
                      <a:r>
                        <a:rPr sz="1425" b="1">
                          <a:solidFill>
                            <a:srgbClr val="FFFFFF"/>
                          </a:solidFill>
                          <a:latin typeface="Malgun Gothic"/>
                          <a:ea typeface="Malgun Gothic"/>
                          <a:cs typeface="Malgun Gothic"/>
                        </a:rPr>
                        <a:t>11/22</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11/23~</a:t>
                      </a:r>
                    </a:p>
                    <a:p>
                      <a:r>
                        <a:rPr sz="1425" b="1">
                          <a:solidFill>
                            <a:srgbClr val="FFFFFF"/>
                          </a:solidFill>
                          <a:latin typeface="Malgun Gothic"/>
                          <a:ea typeface="Malgun Gothic"/>
                          <a:cs typeface="Malgun Gothic"/>
                        </a:rPr>
                        <a:t>12/6</a:t>
                      </a:r>
                    </a:p>
                  </a:txBody>
                  <a:tcPr marL="91440" marR="91440" marT="45720" marB="45720" anchor="ctr">
                    <a:solidFill>
                      <a:srgbClr val="102644"/>
                    </a:solidFill>
                  </a:tcPr>
                </a:tc>
                <a:tc>
                  <a:txBody>
                    <a:bodyPr lIns="152400" tIns="114300" rIns="114300" bIns="95250"/>
                    <a:lstStyle/>
                    <a:p>
                      <a:r>
                        <a:rPr sz="1425" b="1">
                          <a:solidFill>
                            <a:srgbClr val="FFFFFF"/>
                          </a:solidFill>
                          <a:latin typeface="Malgun Gothic"/>
                          <a:ea typeface="Malgun Gothic"/>
                          <a:cs typeface="Malgun Gothic"/>
                        </a:rPr>
                        <a:t>12/7~</a:t>
                      </a:r>
                    </a:p>
                    <a:p>
                      <a:r>
                        <a:rPr sz="1425" b="1">
                          <a:solidFill>
                            <a:srgbClr val="FFFFFF"/>
                          </a:solidFill>
                          <a:latin typeface="Malgun Gothic"/>
                          <a:ea typeface="Malgun Gothic"/>
                          <a:cs typeface="Malgun Gothic"/>
                        </a:rPr>
                        <a:t>12/20</a:t>
                      </a:r>
                    </a:p>
                  </a:txBody>
                  <a:tcPr marL="91440" marR="91440" marT="45720" marB="45720" anchor="ctr">
                    <a:solidFill>
                      <a:srgbClr val="102644"/>
                    </a:solidFill>
                  </a:tcPr>
                </a:tc>
              </a:tr>
              <a:tr h="371475">
                <a:tc>
                  <a:txBody>
                    <a:bodyPr lIns="152400" tIns="114300" rIns="114300" bIns="95250"/>
                    <a:lstStyle/>
                    <a:p>
                      <a:r>
                        <a:rPr sz="1425" b="0">
                          <a:solidFill>
                            <a:srgbClr val="102A43"/>
                          </a:solidFill>
                          <a:latin typeface="Malgun Gothic"/>
                          <a:ea typeface="Malgun Gothic"/>
                          <a:cs typeface="Malgun Gothic"/>
                        </a:rPr>
                        <a:t>요구분석·촬영·규격</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SfM·MVS·입력 확장</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김동주</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키프레임·투어</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이태훈</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관측 연결·회차 정합</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임현우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의미 지도·변화 분석</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서관우</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r h="371475">
                <a:tc>
                  <a:txBody>
                    <a:bodyPr lIns="152400" tIns="114300" rIns="114300" bIns="95250"/>
                    <a:lstStyle/>
                    <a:p>
                      <a:r>
                        <a:rPr sz="1425" b="0">
                          <a:solidFill>
                            <a:srgbClr val="102A43"/>
                          </a:solidFill>
                          <a:latin typeface="Malgun Gothic"/>
                          <a:ea typeface="Malgun Gothic"/>
                          <a:cs typeface="Malgun Gothic"/>
                        </a:rPr>
                        <a:t>웹·이력</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시한결</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r>
              <a:tr h="371475">
                <a:tc>
                  <a:txBody>
                    <a:bodyPr lIns="152400" tIns="114300" rIns="114300" bIns="95250"/>
                    <a:lstStyle/>
                    <a:p>
                      <a:r>
                        <a:rPr sz="1425" b="0">
                          <a:solidFill>
                            <a:srgbClr val="102A43"/>
                          </a:solidFill>
                          <a:latin typeface="Malgun Gothic"/>
                          <a:ea typeface="Malgun Gothic"/>
                          <a:cs typeface="Malgun Gothic"/>
                        </a:rPr>
                        <a:t>360°·통합·정량 평가</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r>
              <a:tr h="371475">
                <a:tc>
                  <a:txBody>
                    <a:bodyPr lIns="152400" tIns="114300" rIns="114300" bIns="95250"/>
                    <a:lstStyle/>
                    <a:p>
                      <a:r>
                        <a:rPr sz="1425" b="0">
                          <a:solidFill>
                            <a:srgbClr val="102A43"/>
                          </a:solidFill>
                          <a:latin typeface="Malgun Gothic"/>
                          <a:ea typeface="Malgun Gothic"/>
                          <a:cs typeface="Malgun Gothic"/>
                        </a:rPr>
                        <a:t>발표·문서·실적</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5F8FC"/>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3876D8"/>
                    </a:solidFill>
                  </a:tcPr>
                </a:tc>
              </a:tr>
              <a:tr h="371475">
                <a:tc>
                  <a:txBody>
                    <a:bodyPr lIns="152400" tIns="114300" rIns="114300" bIns="95250"/>
                    <a:lstStyle/>
                    <a:p>
                      <a:r>
                        <a:rPr sz="1425" b="0">
                          <a:solidFill>
                            <a:srgbClr val="102A43"/>
                          </a:solidFill>
                          <a:latin typeface="Malgun Gothic"/>
                          <a:ea typeface="Malgun Gothic"/>
                          <a:cs typeface="Malgun Gothic"/>
                        </a:rPr>
                        <a:t>논문 방향·일정 협의</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전원</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CFDDF2"/>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c>
                  <a:txBody>
                    <a:bodyPr lIns="152400" tIns="114300" rIns="114300" bIns="95250"/>
                    <a:lstStyle/>
                    <a:p>
                      <a:r>
                        <a:rPr sz="1425" b="0">
                          <a:solidFill>
                            <a:srgbClr val="102A43"/>
                          </a:solidFill>
                          <a:latin typeface="Malgun Gothic"/>
                          <a:ea typeface="Malgun Gothic"/>
                          <a:cs typeface="Malgun Gothic"/>
                        </a:rPr>
                        <a:t/>
                      </a:r>
                    </a:p>
                  </a:txBody>
                  <a:tcPr marL="91440" marR="91440" marT="45720" marB="45720" anchor="ctr">
                    <a:solidFill>
                      <a:srgbClr val="FFFFFF"/>
                    </a:solidFill>
                  </a:tcPr>
                </a:tc>
              </a:tr>
            </a:tbl>
          </a:graphicData>
        </a:graphic>
      </p:graphicFrame>
      <p:sp>
        <p:nvSpPr>
          <p:cNvPr id="7" name="진한 파랑: 주 개발·수행    연한 파랑: 검증·개선·지원    담당·세부 일정은 협의 후 확정">
            <a:extLst xmlns:a="http://schemas.openxmlformats.org/drawingml/2006/main">
              <a:ext uri="{FF2B5EF4-FFF2-40B4-BE49-F238E27FC236}">
                <a16:creationId xmlns:a16="http://schemas.microsoft.com/office/drawing/2014/main" id="{4EDA4357-1557-420A-A47F-1DDA7D211A68}"/>
              </a:ext>
            </a:extLst>
          </p:cNvPr>
          <p:cNvSpPr>
            <a:spLocks xmlns:a="http://schemas.openxmlformats.org/drawingml/2006/main" noGrp="1"/>
          </p:cNvSpPr>
          <p:nvPr/>
        </p:nvSpPr>
        <p:spPr>
          <a:xfrm xmlns:a="http://schemas.openxmlformats.org/drawingml/2006/main">
            <a:off x="609600" y="61912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577"/>
                </a:solidFill>
                <a:latin typeface="Malgun Gothic"/>
                <a:ea typeface="Malgun Gothic"/>
                <a:cs typeface="Malgun Gothic"/>
              </a:defRPr>
            </a:pPr>
            <a:r>
              <a:rPr sz="1425" b="0">
                <a:solidFill>
                  <a:srgbClr val="526577"/>
                </a:solidFill>
                <a:latin typeface="Malgun Gothic"/>
                <a:ea typeface="Malgun Gothic"/>
                <a:cs typeface="Malgun Gothic"/>
              </a:rPr>
              <a:t>진한 파랑: 주 개발·수행    연한 파랑: 검증·개선·지원    담당·세부 일정은 협의 후 확정</a:t>
            </a:r>
          </a:p>
        </p:txBody>
      </p:sp>
    </p:spTree>
    <p:extLst>
      <p:ext uri="{BB962C8B-B14F-4D97-AF65-F5344CB8AC3E}">
        <p14:creationId xmlns:p14="http://schemas.microsoft.com/office/powerpoint/2010/main" val="16710343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과제추진일정 / 팀원·멘토 회의">
            <a:extLst xmlns:a="http://schemas.openxmlformats.org/drawingml/2006/main">
              <a:ext uri="{FF2B5EF4-FFF2-40B4-BE49-F238E27FC236}">
                <a16:creationId xmlns:a16="http://schemas.microsoft.com/office/drawing/2014/main" id="{563AF704-C9F8-458C-8BC8-8F3F2B583205}"/>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과제추진일정 / 팀원·멘토 회의</a:t>
            </a:r>
          </a:p>
        </p:txBody>
      </p:sp>
      <p:sp>
        <p:nvSpPr>
          <p:cNvPr id="2" name="매주 화요일에 진행 결과와 다음 검증을 합의합니다">
            <a:extLst xmlns:a="http://schemas.openxmlformats.org/drawingml/2006/main">
              <a:ext uri="{FF2B5EF4-FFF2-40B4-BE49-F238E27FC236}">
                <a16:creationId xmlns:a16="http://schemas.microsoft.com/office/drawing/2014/main" id="{1C6F897C-F151-43AE-BBA6-434AD313BFD2}"/>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매주 화요일에 진행 결과와 다음 검증을 합의합니다</a:t>
            </a:r>
          </a:p>
        </p:txBody>
      </p:sp>
      <p:sp>
        <p:nvSpPr>
          <p:cNvPr id="3" name="정기회의는 주 1회 예정이며, 시각과 온라인·대면 방식은 협의합니다">
            <a:extLst xmlns:a="http://schemas.openxmlformats.org/drawingml/2006/main">
              <a:ext uri="{FF2B5EF4-FFF2-40B4-BE49-F238E27FC236}">
                <a16:creationId xmlns:a16="http://schemas.microsoft.com/office/drawing/2014/main" id="{45F7C121-6E3C-47B5-B376-36A7F8121942}"/>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정기회의는 주 1회 예정이며, 시각과 온라인·대면 방식은 협의합니다</a:t>
            </a:r>
          </a:p>
        </p:txBody>
      </p:sp>
      <p:sp>
        <p:nvSpPr>
          <p:cNvPr id="4" name="SpaceWatch3D  ·  산학협력프로젝트 계획발표">
            <a:extLst xmlns:a="http://schemas.openxmlformats.org/drawingml/2006/main">
              <a:ext uri="{FF2B5EF4-FFF2-40B4-BE49-F238E27FC236}">
                <a16:creationId xmlns:a16="http://schemas.microsoft.com/office/drawing/2014/main" id="{9D83C87E-1EBB-496F-9331-EE124B2601E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5">
            <a:extLst xmlns:a="http://schemas.openxmlformats.org/drawingml/2006/main">
              <a:ext uri="{FF2B5EF4-FFF2-40B4-BE49-F238E27FC236}">
                <a16:creationId xmlns:a16="http://schemas.microsoft.com/office/drawing/2014/main" id="{6A3A6104-F400-4744-96AA-D47C425593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17</a:t>
            </a:r>
          </a:p>
        </p:txBody>
      </p:sp>
      <p:graphicFrame>
        <p:nvGraphicFramePr>
          <p:cNvPr id="13" name=""/>
          <p:cNvGraphicFramePr/>
          <p:nvPr/>
        </p:nvGraphicFramePr>
        <p:xfrm>
          <a:off xmlns:a="http://schemas.openxmlformats.org/drawingml/2006/main" x="609600" y="2457450"/>
          <a:ext xmlns:a="http://schemas.openxmlformats.org/drawingml/2006/main" cx="10972800" cy="3048000"/>
        </p:xfrm>
        <a:graphic xmlns:a="http://schemas.openxmlformats.org/drawingml/2006/main">
          <a:graphicData uri="http://schemas.openxmlformats.org/drawingml/2006/table">
            <a:tbl>
              <a:tblPr/>
              <a:tblGrid>
                <a:gridCol w="2343150"/>
                <a:gridCol w="4229100"/>
                <a:gridCol w="4400550"/>
              </a:tblGrid>
              <a:tr h="609600">
                <a:tc>
                  <a:txBody>
                    <a:bodyPr lIns="152400" tIns="114300" rIns="114300" bIns="95250"/>
                    <a:lstStyle/>
                    <a:p>
                      <a:r>
                        <a:rPr sz="1800" b="1">
                          <a:solidFill>
                            <a:srgbClr val="FFFFFF"/>
                          </a:solidFill>
                          <a:latin typeface="Malgun Gothic"/>
                          <a:ea typeface="Malgun Gothic"/>
                          <a:cs typeface="Malgun Gothic"/>
                        </a:rPr>
                        <a:t>구분</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일정·참여</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주요 안건</a:t>
                      </a:r>
                    </a:p>
                  </a:txBody>
                  <a:tcPr marL="91440" marR="91440" marT="45720" marB="45720" anchor="ctr">
                    <a:solidFill>
                      <a:srgbClr val="102644"/>
                    </a:solidFill>
                  </a:tcPr>
                </a:tc>
              </a:tr>
              <a:tr h="609600">
                <a:tc>
                  <a:txBody>
                    <a:bodyPr lIns="152400" tIns="114300" rIns="114300" bIns="95250"/>
                    <a:lstStyle/>
                    <a:p>
                      <a:r>
                        <a:rPr sz="1800" b="0">
                          <a:solidFill>
                            <a:srgbClr val="102A43"/>
                          </a:solidFill>
                          <a:latin typeface="Malgun Gothic"/>
                          <a:ea typeface="Malgun Gothic"/>
                          <a:cs typeface="Malgun Gothic"/>
                        </a:rPr>
                        <a:t>팀 정기회의</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매주 화요일 / 팀원 전원</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진행 결과·실패 사례·노드 통합</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멘토 주간 점검</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화요일 회의에 포함하도록 조율</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요구사항·기술 선택·논문 실험</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멘토 일정 예외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화요일이 어려우면 별도 일정</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주 1회 이상 멘토 회의 유지</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대면 멘토 회의</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요구분석·통합 시연 시 1~2회 추진</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촬영 환경·활용 시나리오 검토</a:t>
                      </a:r>
                    </a:p>
                  </a:txBody>
                  <a:tcPr marL="91440" marR="91440" marT="45720" marB="45720" anchor="ctr">
                    <a:solidFill>
                      <a:srgbClr val="F5F8FC"/>
                    </a:solidFill>
                  </a:tcPr>
                </a:tc>
              </a:tr>
            </a:tbl>
          </a:graphicData>
        </a:graphic>
      </p:graphicFrame>
      <p:sp>
        <p:nvSpPr>
          <p:cNvPr id="7" name="회의 전: Issue에 결과·질문 정리    회의 후: 결정·담당·기한을 회의록에 기록">
            <a:extLst xmlns:a="http://schemas.openxmlformats.org/drawingml/2006/main">
              <a:ext uri="{FF2B5EF4-FFF2-40B4-BE49-F238E27FC236}">
                <a16:creationId xmlns:a16="http://schemas.microsoft.com/office/drawing/2014/main" id="{F7BFF2E4-979A-471B-B869-6CC93D3776CD}"/>
              </a:ext>
            </a:extLst>
          </p:cNvPr>
          <p:cNvSpPr>
            <a:spLocks xmlns:a="http://schemas.openxmlformats.org/drawingml/2006/main" noGrp="1"/>
          </p:cNvSpPr>
          <p:nvPr/>
        </p:nvSpPr>
        <p:spPr>
          <a:xfrm xmlns:a="http://schemas.openxmlformats.org/drawingml/2006/main">
            <a:off x="609600" y="57721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463EB"/>
                </a:solidFill>
                <a:latin typeface="Malgun Gothic"/>
                <a:ea typeface="Malgun Gothic"/>
                <a:cs typeface="Malgun Gothic"/>
              </a:defRPr>
            </a:pPr>
            <a:r>
              <a:rPr sz="1800" b="1">
                <a:solidFill>
                  <a:srgbClr val="2463EB"/>
                </a:solidFill>
                <a:latin typeface="Malgun Gothic"/>
                <a:ea typeface="Malgun Gothic"/>
                <a:cs typeface="Malgun Gothic"/>
              </a:rPr>
              <a:t>회의 전: Issue에 결과·질문 정리    회의 후: 결정·담당·기한을 회의록에 기록</a:t>
            </a:r>
          </a:p>
        </p:txBody>
      </p:sp>
    </p:spTree>
    <p:extLst>
      <p:ext uri="{BB962C8B-B14F-4D97-AF65-F5344CB8AC3E}">
        <p14:creationId xmlns:p14="http://schemas.microsoft.com/office/powerpoint/2010/main" val="18755519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기대효과 및 활용방안">
            <a:extLst xmlns:a="http://schemas.openxmlformats.org/drawingml/2006/main">
              <a:ext uri="{FF2B5EF4-FFF2-40B4-BE49-F238E27FC236}">
                <a16:creationId xmlns:a16="http://schemas.microsoft.com/office/drawing/2014/main" id="{310D48C5-3401-4A11-91C3-5863C92E905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기대효과 및 활용방안</a:t>
            </a:r>
          </a:p>
        </p:txBody>
      </p:sp>
      <p:sp>
        <p:nvSpPr>
          <p:cNvPr id="2" name="시설의 촬영 기록을 공간과 날짜로 확인합니다">
            <a:extLst xmlns:a="http://schemas.openxmlformats.org/drawingml/2006/main">
              <a:ext uri="{FF2B5EF4-FFF2-40B4-BE49-F238E27FC236}">
                <a16:creationId xmlns:a16="http://schemas.microsoft.com/office/drawing/2014/main" id="{8B6C5F82-0E29-4F21-8D95-0CF2D5AF4E5B}"/>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시설의 촬영 기록을 공간과 날짜로 확인합니다</a:t>
            </a:r>
          </a:p>
        </p:txBody>
      </p:sp>
      <p:sp>
        <p:nvSpPr>
          <p:cNvPr id="3" name="변화 후보와 전후 근거를 함께 제공하여 담당자의 점검을 보조합니다">
            <a:extLst xmlns:a="http://schemas.openxmlformats.org/drawingml/2006/main">
              <a:ext uri="{FF2B5EF4-FFF2-40B4-BE49-F238E27FC236}">
                <a16:creationId xmlns:a16="http://schemas.microsoft.com/office/drawing/2014/main" id="{70243BC6-A3FE-4D6C-BF64-432E7E586DC2}"/>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변화 후보와 전후 근거를 함께 제공하여 담당자의 점검을 보조합니다</a:t>
            </a:r>
          </a:p>
        </p:txBody>
      </p:sp>
      <p:sp>
        <p:nvSpPr>
          <p:cNvPr id="4" name="SpaceWatch3D  ·  산학협력프로젝트 계획발표">
            <a:extLst xmlns:a="http://schemas.openxmlformats.org/drawingml/2006/main">
              <a:ext uri="{FF2B5EF4-FFF2-40B4-BE49-F238E27FC236}">
                <a16:creationId xmlns:a16="http://schemas.microsoft.com/office/drawing/2014/main" id="{8B591832-1B10-43C6-ABFC-2F9E59D69E8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2">
            <a:extLst xmlns:a="http://schemas.openxmlformats.org/drawingml/2006/main">
              <a:ext uri="{FF2B5EF4-FFF2-40B4-BE49-F238E27FC236}">
                <a16:creationId xmlns:a16="http://schemas.microsoft.com/office/drawing/2014/main" id="{74A6F457-666F-4781-BD58-1BA7D74F2A6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18</a:t>
            </a:r>
          </a:p>
        </p:txBody>
      </p:sp>
      <p:graphicFrame>
        <p:nvGraphicFramePr>
          <p:cNvPr id="13" name=""/>
          <p:cNvGraphicFramePr/>
          <p:nvPr/>
        </p:nvGraphicFramePr>
        <p:xfrm>
          <a:off xmlns:a="http://schemas.openxmlformats.org/drawingml/2006/main" x="609600" y="2571750"/>
          <a:ext xmlns:a="http://schemas.openxmlformats.org/drawingml/2006/main" cx="10972800" cy="2895600"/>
        </p:xfrm>
        <a:graphic xmlns:a="http://schemas.openxmlformats.org/drawingml/2006/main">
          <a:graphicData uri="http://schemas.openxmlformats.org/drawingml/2006/table">
            <a:tbl>
              <a:tblPr/>
              <a:tblGrid>
                <a:gridCol w="2562225"/>
                <a:gridCol w="4248150"/>
                <a:gridCol w="4162425"/>
              </a:tblGrid>
              <a:tr h="723900">
                <a:tc>
                  <a:txBody>
                    <a:bodyPr lIns="152400" tIns="114300" rIns="114300" bIns="95250"/>
                    <a:lstStyle/>
                    <a:p>
                      <a:r>
                        <a:rPr sz="1875" b="1">
                          <a:solidFill>
                            <a:srgbClr val="FFFFFF"/>
                          </a:solidFill>
                          <a:latin typeface="Malgun Gothic"/>
                          <a:ea typeface="Malgun Gothic"/>
                          <a:cs typeface="Malgun Gothic"/>
                        </a:rPr>
                        <a:t>활용 대상</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사용 장면</a:t>
                      </a:r>
                    </a:p>
                  </a:txBody>
                  <a:tcPr marL="91440" marR="91440" marT="45720" marB="45720" anchor="ctr">
                    <a:solidFill>
                      <a:srgbClr val="102644"/>
                    </a:solidFill>
                  </a:tcPr>
                </a:tc>
                <a:tc>
                  <a:txBody>
                    <a:bodyPr lIns="152400" tIns="114300" rIns="114300" bIns="95250"/>
                    <a:lstStyle/>
                    <a:p>
                      <a:r>
                        <a:rPr sz="1875" b="1">
                          <a:solidFill>
                            <a:srgbClr val="FFFFFF"/>
                          </a:solidFill>
                          <a:latin typeface="Malgun Gothic"/>
                          <a:ea typeface="Malgun Gothic"/>
                          <a:cs typeface="Malgun Gothic"/>
                        </a:rPr>
                        <a:t>기대효과</a:t>
                      </a:r>
                    </a:p>
                  </a:txBody>
                  <a:tcPr marL="91440" marR="91440" marT="45720" marB="45720" anchor="ctr">
                    <a:solidFill>
                      <a:srgbClr val="102644"/>
                    </a:solidFill>
                  </a:tcPr>
                </a:tc>
              </a:tr>
              <a:tr h="723900">
                <a:tc>
                  <a:txBody>
                    <a:bodyPr lIns="152400" tIns="114300" rIns="114300" bIns="95250"/>
                    <a:lstStyle/>
                    <a:p>
                      <a:r>
                        <a:rPr sz="1875" b="0">
                          <a:solidFill>
                            <a:srgbClr val="102A43"/>
                          </a:solidFill>
                          <a:latin typeface="Malgun Gothic"/>
                          <a:ea typeface="Malgun Gothic"/>
                          <a:cs typeface="Malgun Gothic"/>
                        </a:rPr>
                        <a:t>가상투어 제작</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대표 장면과 이동 링크 자동 구성</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장면 선별·연결의 반복 작업 감소</a:t>
                      </a:r>
                    </a:p>
                  </a:txBody>
                  <a:tcPr marL="91440" marR="91440" marT="45720" marB="45720" anchor="ctr">
                    <a:solidFill>
                      <a:srgbClr val="FFFFFF"/>
                    </a:solidFill>
                  </a:tcPr>
                </a:tc>
              </a:tr>
              <a:tr h="723900">
                <a:tc>
                  <a:txBody>
                    <a:bodyPr lIns="152400" tIns="114300" rIns="114300" bIns="95250"/>
                    <a:lstStyle/>
                    <a:p>
                      <a:r>
                        <a:rPr sz="1875" b="0">
                          <a:solidFill>
                            <a:srgbClr val="102A43"/>
                          </a:solidFill>
                          <a:latin typeface="Malgun Gothic"/>
                          <a:ea typeface="Malgun Gothic"/>
                          <a:cs typeface="Malgun Gothic"/>
                        </a:rPr>
                        <a:t>사무실·교육시설</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가구 배치·물품·적치물 변화 확인</a:t>
                      </a:r>
                    </a:p>
                  </a:txBody>
                  <a:tcPr marL="91440" marR="91440" marT="45720" marB="45720" anchor="ctr">
                    <a:solidFill>
                      <a:srgbClr val="F5F8FC"/>
                    </a:solidFill>
                  </a:tcPr>
                </a:tc>
                <a:tc>
                  <a:txBody>
                    <a:bodyPr lIns="152400" tIns="114300" rIns="114300" bIns="95250"/>
                    <a:lstStyle/>
                    <a:p>
                      <a:r>
                        <a:rPr sz="1875" b="0">
                          <a:solidFill>
                            <a:srgbClr val="102A43"/>
                          </a:solidFill>
                          <a:latin typeface="Malgun Gothic"/>
                          <a:ea typeface="Malgun Gothic"/>
                          <a:cs typeface="Malgun Gothic"/>
                        </a:rPr>
                        <a:t>원격 점검 대상 우선 확인</a:t>
                      </a:r>
                    </a:p>
                  </a:txBody>
                  <a:tcPr marL="91440" marR="91440" marT="45720" marB="45720" anchor="ctr">
                    <a:solidFill>
                      <a:srgbClr val="F5F8FC"/>
                    </a:solidFill>
                  </a:tcPr>
                </a:tc>
              </a:tr>
              <a:tr h="723900">
                <a:tc>
                  <a:txBody>
                    <a:bodyPr lIns="152400" tIns="114300" rIns="114300" bIns="95250"/>
                    <a:lstStyle/>
                    <a:p>
                      <a:r>
                        <a:rPr sz="1875" b="0">
                          <a:solidFill>
                            <a:srgbClr val="102A43"/>
                          </a:solidFill>
                          <a:latin typeface="Malgun Gothic"/>
                          <a:ea typeface="Malgun Gothic"/>
                          <a:cs typeface="Malgun Gothic"/>
                        </a:rPr>
                        <a:t>시설 운영 이력</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날짜별 공간 탐색과 전후 대조</a:t>
                      </a:r>
                    </a:p>
                  </a:txBody>
                  <a:tcPr marL="91440" marR="91440" marT="45720" marB="45720" anchor="ctr">
                    <a:solidFill>
                      <a:srgbClr val="FFFFFF"/>
                    </a:solidFill>
                  </a:tcPr>
                </a:tc>
                <a:tc>
                  <a:txBody>
                    <a:bodyPr lIns="152400" tIns="114300" rIns="114300" bIns="95250"/>
                    <a:lstStyle/>
                    <a:p>
                      <a:r>
                        <a:rPr sz="1875" b="0">
                          <a:solidFill>
                            <a:srgbClr val="102A43"/>
                          </a:solidFill>
                          <a:latin typeface="Malgun Gothic"/>
                          <a:ea typeface="Malgun Gothic"/>
                          <a:cs typeface="Malgun Gothic"/>
                        </a:rPr>
                        <a:t>변경 시점과 근거 추적</a:t>
                      </a:r>
                    </a:p>
                  </a:txBody>
                  <a:tcPr marL="91440" marR="91440" marT="45720" marB="45720" anchor="ctr">
                    <a:solidFill>
                      <a:srgbClr val="FFFFFF"/>
                    </a:solidFill>
                  </a:tcPr>
                </a:tc>
              </a:tr>
            </a:tbl>
          </a:graphicData>
        </a:graphic>
      </p:graphicFrame>
      <p:sp>
        <p:nvSpPr>
          <p:cNvPr id="7" name="효과 검증: 수동 비교와 시스템 사용의 작업 시간·누락·오탐을 비교">
            <a:extLst xmlns:a="http://schemas.openxmlformats.org/drawingml/2006/main">
              <a:ext uri="{FF2B5EF4-FFF2-40B4-BE49-F238E27FC236}">
                <a16:creationId xmlns:a16="http://schemas.microsoft.com/office/drawing/2014/main" id="{39718C2F-52D2-42E5-A351-0A0BEEFB17CA}"/>
              </a:ext>
            </a:extLst>
          </p:cNvPr>
          <p:cNvSpPr>
            <a:spLocks xmlns:a="http://schemas.openxmlformats.org/drawingml/2006/main" noGrp="1"/>
          </p:cNvSpPr>
          <p:nvPr/>
        </p:nvSpPr>
        <p:spPr>
          <a:xfrm xmlns:a="http://schemas.openxmlformats.org/drawingml/2006/main">
            <a:off x="609600" y="56959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463EB"/>
                </a:solidFill>
                <a:latin typeface="Malgun Gothic"/>
                <a:ea typeface="Malgun Gothic"/>
                <a:cs typeface="Malgun Gothic"/>
              </a:defRPr>
            </a:pPr>
            <a:r>
              <a:rPr sz="1950" b="1">
                <a:solidFill>
                  <a:srgbClr val="2463EB"/>
                </a:solidFill>
                <a:latin typeface="Malgun Gothic"/>
                <a:ea typeface="Malgun Gothic"/>
                <a:cs typeface="Malgun Gothic"/>
              </a:rPr>
              <a:t>효과 검증: 수동 비교와 시스템 사용의 작업 시간·누락·오탐을 비교</a:t>
            </a:r>
          </a:p>
        </p:txBody>
      </p:sp>
    </p:spTree>
    <p:extLst>
      <p:ext uri="{BB962C8B-B14F-4D97-AF65-F5344CB8AC3E}">
        <p14:creationId xmlns:p14="http://schemas.microsoft.com/office/powerpoint/2010/main" val="3259733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예상성과 / 논문·SW·기술문서">
            <a:extLst xmlns:a="http://schemas.openxmlformats.org/drawingml/2006/main">
              <a:ext uri="{FF2B5EF4-FFF2-40B4-BE49-F238E27FC236}">
                <a16:creationId xmlns:a16="http://schemas.microsoft.com/office/drawing/2014/main" id="{5CF0F945-FB8D-43A0-8556-A39540E18F80}"/>
              </a:ext>
            </a:extLst>
          </p:cNvPr>
          <p:cNvSpPr>
            <a:spLocks xmlns:a="http://schemas.openxmlformats.org/drawingml/2006/main" noGrp="1"/>
          </p:cNvSpPr>
          <p:nvPr/>
        </p:nvSpPr>
        <p:spPr>
          <a:xfrm xmlns:a="http://schemas.openxmlformats.org/drawingml/2006/main">
            <a:off x="609600" y="3333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463EB"/>
                </a:solidFill>
                <a:latin typeface="Malgun Gothic"/>
                <a:ea typeface="Malgun Gothic"/>
                <a:cs typeface="Malgun Gothic"/>
              </a:defRPr>
            </a:pPr>
            <a:r>
              <a:rPr sz="1500" b="1">
                <a:solidFill>
                  <a:srgbClr val="2463EB"/>
                </a:solidFill>
                <a:latin typeface="Malgun Gothic"/>
                <a:ea typeface="Malgun Gothic"/>
                <a:cs typeface="Malgun Gothic"/>
              </a:rPr>
              <a:t>예상성과 / 논문·SW·기술문서</a:t>
            </a:r>
          </a:p>
        </p:txBody>
      </p:sp>
      <p:sp>
        <p:nvSpPr>
          <p:cNvPr id="2" name="논문 1편 투고와 재현 가능한 개발 결과를 목표로 합니다">
            <a:extLst xmlns:a="http://schemas.openxmlformats.org/drawingml/2006/main">
              <a:ext uri="{FF2B5EF4-FFF2-40B4-BE49-F238E27FC236}">
                <a16:creationId xmlns:a16="http://schemas.microsoft.com/office/drawing/2014/main" id="{B09CE22F-A437-45EC-95BC-06BC96E2941A}"/>
              </a:ext>
            </a:extLst>
          </p:cNvPr>
          <p:cNvSpPr>
            <a:spLocks xmlns:a="http://schemas.openxmlformats.org/drawingml/2006/main" noGrp="1"/>
          </p:cNvSpPr>
          <p:nvPr/>
        </p:nvSpPr>
        <p:spPr>
          <a:xfrm xmlns:a="http://schemas.openxmlformats.org/drawingml/2006/main">
            <a:off x="609600" y="866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02A43"/>
                </a:solidFill>
                <a:latin typeface="Malgun Gothic"/>
                <a:ea typeface="Malgun Gothic"/>
                <a:cs typeface="Malgun Gothic"/>
              </a:defRPr>
            </a:pPr>
            <a:r>
              <a:rPr sz="3300" b="1">
                <a:solidFill>
                  <a:srgbClr val="102A43"/>
                </a:solidFill>
                <a:latin typeface="Malgun Gothic"/>
                <a:ea typeface="Malgun Gothic"/>
                <a:cs typeface="Malgun Gothic"/>
              </a:rPr>
              <a:t>논문 1편 투고와 재현 가능한 개발 결과를 목표로 합니다</a:t>
            </a:r>
          </a:p>
        </p:txBody>
      </p:sp>
      <p:sp>
        <p:nvSpPr>
          <p:cNvPr id="3" name="논문 작성 방향과 세부 일정은 지도교수님께 문의한 뒤 정합니다">
            <a:extLst xmlns:a="http://schemas.openxmlformats.org/drawingml/2006/main">
              <a:ext uri="{FF2B5EF4-FFF2-40B4-BE49-F238E27FC236}">
                <a16:creationId xmlns:a16="http://schemas.microsoft.com/office/drawing/2014/main" id="{08668AF9-3D59-4D55-9D3E-DDD4DD5DCD74}"/>
              </a:ext>
            </a:extLst>
          </p:cNvPr>
          <p:cNvSpPr>
            <a:spLocks xmlns:a="http://schemas.openxmlformats.org/drawingml/2006/main" noGrp="1"/>
          </p:cNvSpPr>
          <p:nvPr/>
        </p:nvSpPr>
        <p:spPr>
          <a:xfrm xmlns:a="http://schemas.openxmlformats.org/drawingml/2006/main">
            <a:off x="628650" y="16287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577"/>
                </a:solidFill>
                <a:latin typeface="Malgun Gothic"/>
                <a:ea typeface="Malgun Gothic"/>
                <a:cs typeface="Malgun Gothic"/>
              </a:defRPr>
            </a:pPr>
            <a:r>
              <a:rPr sz="1875" b="0">
                <a:solidFill>
                  <a:srgbClr val="526577"/>
                </a:solidFill>
                <a:latin typeface="Malgun Gothic"/>
                <a:ea typeface="Malgun Gothic"/>
                <a:cs typeface="Malgun Gothic"/>
              </a:rPr>
              <a:t>논문 작성 방향과 세부 일정은 지도교수님께 문의한 뒤 정합니다</a:t>
            </a:r>
          </a:p>
        </p:txBody>
      </p:sp>
      <p:sp>
        <p:nvSpPr>
          <p:cNvPr id="4" name="SpaceWatch3D  ·  산학협력프로젝트 계획발표">
            <a:extLst xmlns:a="http://schemas.openxmlformats.org/drawingml/2006/main">
              <a:ext uri="{FF2B5EF4-FFF2-40B4-BE49-F238E27FC236}">
                <a16:creationId xmlns:a16="http://schemas.microsoft.com/office/drawing/2014/main" id="{75897A6D-6E34-470C-AAA6-A64E2B78A9A5}"/>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577"/>
                </a:solidFill>
                <a:latin typeface="Malgun Gothic"/>
                <a:ea typeface="Malgun Gothic"/>
                <a:cs typeface="Malgun Gothic"/>
              </a:defRPr>
            </a:pPr>
            <a:r>
              <a:rPr sz="1125" b="0">
                <a:solidFill>
                  <a:srgbClr val="526577"/>
                </a:solidFill>
                <a:latin typeface="Malgun Gothic"/>
                <a:ea typeface="Malgun Gothic"/>
                <a:cs typeface="Malgun Gothic"/>
              </a:rPr>
              <a:t>SpaceWatch3D  ·  산학협력프로젝트 계획발표</a:t>
            </a:r>
          </a:p>
        </p:txBody>
      </p:sp>
      <p:sp>
        <p:nvSpPr>
          <p:cNvPr id="5" name="17">
            <a:extLst xmlns:a="http://schemas.openxmlformats.org/drawingml/2006/main">
              <a:ext uri="{FF2B5EF4-FFF2-40B4-BE49-F238E27FC236}">
                <a16:creationId xmlns:a16="http://schemas.microsoft.com/office/drawing/2014/main" id="{D8DA5FB1-5E39-4B76-87D7-AC57D4C839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577"/>
                </a:solidFill>
                <a:latin typeface="Malgun Gothic"/>
                <a:ea typeface="Malgun Gothic"/>
                <a:cs typeface="Malgun Gothic"/>
              </a:defRPr>
            </a:pPr>
            <a:r>
              <a:rPr sz="1350" b="0">
                <a:solidFill>
                  <a:srgbClr val="526577"/>
                </a:solidFill>
                <a:latin typeface="Malgun Gothic"/>
                <a:ea typeface="Malgun Gothic"/>
                <a:cs typeface="Malgun Gothic"/>
              </a:rPr>
              <a:t>19</a:t>
            </a:r>
          </a:p>
        </p:txBody>
      </p:sp>
      <p:graphicFrame>
        <p:nvGraphicFramePr>
          <p:cNvPr id="12" name=""/>
          <p:cNvGraphicFramePr/>
          <p:nvPr/>
        </p:nvGraphicFramePr>
        <p:xfrm>
          <a:off xmlns:a="http://schemas.openxmlformats.org/drawingml/2006/main" x="609600" y="2362200"/>
          <a:ext xmlns:a="http://schemas.openxmlformats.org/drawingml/2006/main" cx="10972800" cy="3657600"/>
        </p:xfrm>
        <a:graphic xmlns:a="http://schemas.openxmlformats.org/drawingml/2006/main">
          <a:graphicData uri="http://schemas.openxmlformats.org/drawingml/2006/table">
            <a:tbl>
              <a:tblPr/>
              <a:tblGrid>
                <a:gridCol w="2295525"/>
                <a:gridCol w="6353175"/>
                <a:gridCol w="2324100"/>
              </a:tblGrid>
              <a:tr h="609600">
                <a:tc>
                  <a:txBody>
                    <a:bodyPr lIns="152400" tIns="114300" rIns="114300" bIns="95250"/>
                    <a:lstStyle/>
                    <a:p>
                      <a:r>
                        <a:rPr sz="1800" b="1">
                          <a:solidFill>
                            <a:srgbClr val="FFFFFF"/>
                          </a:solidFill>
                          <a:latin typeface="Malgun Gothic"/>
                          <a:ea typeface="Malgun Gothic"/>
                          <a:cs typeface="Malgun Gothic"/>
                        </a:rPr>
                        <a:t>성과 유형</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계획</a:t>
                      </a:r>
                    </a:p>
                  </a:txBody>
                  <a:tcPr marL="91440" marR="91440" marT="45720" marB="45720" anchor="ctr">
                    <a:solidFill>
                      <a:srgbClr val="102644"/>
                    </a:solidFill>
                  </a:tcPr>
                </a:tc>
                <a:tc>
                  <a:txBody>
                    <a:bodyPr lIns="152400" tIns="114300" rIns="114300" bIns="95250"/>
                    <a:lstStyle/>
                    <a:p>
                      <a:r>
                        <a:rPr sz="1800" b="1">
                          <a:solidFill>
                            <a:srgbClr val="FFFFFF"/>
                          </a:solidFill>
                          <a:latin typeface="Malgun Gothic"/>
                          <a:ea typeface="Malgun Gothic"/>
                          <a:cs typeface="Malgun Gothic"/>
                        </a:rPr>
                        <a:t>목표 수준</a:t>
                      </a:r>
                    </a:p>
                  </a:txBody>
                  <a:tcPr marL="91440" marR="91440" marT="45720" marB="45720" anchor="ctr">
                    <a:solidFill>
                      <a:srgbClr val="102644"/>
                    </a:solidFill>
                  </a:tcPr>
                </a:tc>
              </a:tr>
              <a:tr h="609600">
                <a:tc>
                  <a:txBody>
                    <a:bodyPr lIns="152400" tIns="114300" rIns="114300" bIns="95250"/>
                    <a:lstStyle/>
                    <a:p>
                      <a:r>
                        <a:rPr sz="1800" b="0">
                          <a:solidFill>
                            <a:srgbClr val="102A43"/>
                          </a:solidFill>
                          <a:latin typeface="Malgun Gothic"/>
                          <a:ea typeface="Malgun Gothic"/>
                          <a:cs typeface="Malgun Gothic"/>
                        </a:rPr>
                        <a:t>논문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지도교수님과 주제·작성 방향 협의 예정</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1편 투고 목표</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SW·시연</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통합 웹 프로토타입·코드·실행 안내</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주요 개발 산출물</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기술문서</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메타데이터·노드·API 명세와 평가서</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주요 문서 산출물</a:t>
                      </a:r>
                    </a:p>
                  </a:txBody>
                  <a:tcPr marL="91440" marR="91440" marT="45720" marB="45720" anchor="ctr">
                    <a:solidFill>
                      <a:srgbClr val="FFFFFF"/>
                    </a:solidFill>
                  </a:tcPr>
                </a:tc>
              </a:tr>
              <a:tr h="609600">
                <a:tc>
                  <a:txBody>
                    <a:bodyPr lIns="152400" tIns="114300" rIns="114300" bIns="95250"/>
                    <a:lstStyle/>
                    <a:p>
                      <a:r>
                        <a:rPr sz="1800" b="0">
                          <a:solidFill>
                            <a:srgbClr val="102A43"/>
                          </a:solidFill>
                          <a:latin typeface="Malgun Gothic"/>
                          <a:ea typeface="Malgun Gothic"/>
                          <a:cs typeface="Malgun Gothic"/>
                        </a:rPr>
                        <a:t>SW 등록</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등록 범위·주체·절차 협의</a:t>
                      </a:r>
                    </a:p>
                  </a:txBody>
                  <a:tcPr marL="91440" marR="91440" marT="45720" marB="45720" anchor="ctr">
                    <a:solidFill>
                      <a:srgbClr val="F5F8FC"/>
                    </a:solidFill>
                  </a:tcPr>
                </a:tc>
                <a:tc>
                  <a:txBody>
                    <a:bodyPr lIns="152400" tIns="114300" rIns="114300" bIns="95250"/>
                    <a:lstStyle/>
                    <a:p>
                      <a:r>
                        <a:rPr sz="1800" b="0">
                          <a:solidFill>
                            <a:srgbClr val="102A43"/>
                          </a:solidFill>
                          <a:latin typeface="Malgun Gothic"/>
                          <a:ea typeface="Malgun Gothic"/>
                          <a:cs typeface="Malgun Gothic"/>
                        </a:rPr>
                        <a:t>추가 추진 검토</a:t>
                      </a:r>
                    </a:p>
                  </a:txBody>
                  <a:tcPr marL="91440" marR="91440" marT="45720" marB="45720" anchor="ctr">
                    <a:solidFill>
                      <a:srgbClr val="F5F8FC"/>
                    </a:solidFill>
                  </a:tcPr>
                </a:tc>
              </a:tr>
              <a:tr h="609600">
                <a:tc>
                  <a:txBody>
                    <a:bodyPr lIns="152400" tIns="114300" rIns="114300" bIns="95250"/>
                    <a:lstStyle/>
                    <a:p>
                      <a:r>
                        <a:rPr sz="1800" b="0">
                          <a:solidFill>
                            <a:srgbClr val="102A43"/>
                          </a:solidFill>
                          <a:latin typeface="Malgun Gothic"/>
                          <a:ea typeface="Malgun Gothic"/>
                          <a:cs typeface="Malgun Gothic"/>
                        </a:rPr>
                        <a:t>특허·앱 등록</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기술 차별성과 등록 대상 확인</a:t>
                      </a:r>
                    </a:p>
                  </a:txBody>
                  <a:tcPr marL="91440" marR="91440" marT="45720" marB="45720" anchor="ctr">
                    <a:solidFill>
                      <a:srgbClr val="FFFFFF"/>
                    </a:solidFill>
                  </a:tcPr>
                </a:tc>
                <a:tc>
                  <a:txBody>
                    <a:bodyPr lIns="152400" tIns="114300" rIns="114300" bIns="95250"/>
                    <a:lstStyle/>
                    <a:p>
                      <a:r>
                        <a:rPr sz="1800" b="0">
                          <a:solidFill>
                            <a:srgbClr val="102A43"/>
                          </a:solidFill>
                          <a:latin typeface="Malgun Gothic"/>
                          <a:ea typeface="Malgun Gothic"/>
                          <a:cs typeface="Malgun Gothic"/>
                        </a:rPr>
                        <a:t>조건 충족 시 검토</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4128074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2026-09-14T17:18:47.8840000Z</dcterms:created>
  <dcterms:modified xsi:type="dcterms:W3CDTF">2026-09-14T17:18:47.8840000Z</dcterms:modified>
</coreProperties>
</file>